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media/image39.jpg" ContentType="image/jpg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49.jpg" ContentType="image/jpg"/>
  <Override PartName="/ppt/media/image50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</p:sldMasterIdLst>
  <p:notesMasterIdLst>
    <p:notesMasterId r:id="rId23"/>
  </p:notesMasterIdLst>
  <p:sldIdLst>
    <p:sldId id="259" r:id="rId3"/>
    <p:sldId id="775" r:id="rId4"/>
    <p:sldId id="335" r:id="rId5"/>
    <p:sldId id="336" r:id="rId6"/>
    <p:sldId id="337" r:id="rId7"/>
    <p:sldId id="779" r:id="rId8"/>
    <p:sldId id="780" r:id="rId9"/>
    <p:sldId id="340" r:id="rId10"/>
    <p:sldId id="341" r:id="rId11"/>
    <p:sldId id="783" r:id="rId12"/>
    <p:sldId id="785" r:id="rId13"/>
    <p:sldId id="10285" r:id="rId14"/>
    <p:sldId id="258" r:id="rId15"/>
    <p:sldId id="10202" r:id="rId16"/>
    <p:sldId id="10219" r:id="rId17"/>
    <p:sldId id="10282" r:id="rId18"/>
    <p:sldId id="266" r:id="rId19"/>
    <p:sldId id="10283" r:id="rId20"/>
    <p:sldId id="268" r:id="rId21"/>
    <p:sldId id="36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3DE268-29E8-4850-A8FA-1FF580D8C821}" type="doc">
      <dgm:prSet loTypeId="urn:microsoft.com/office/officeart/2005/8/layout/targe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9F3A8F-EE86-427F-A2A8-93D4B36B73A8}">
      <dgm:prSet phldrT="[Text]" custT="1"/>
      <dgm:spPr>
        <a:solidFill>
          <a:schemeClr val="accent3">
            <a:lumMod val="60000"/>
            <a:lumOff val="40000"/>
            <a:alpha val="90000"/>
          </a:schemeClr>
        </a:solidFill>
      </dgm:spPr>
      <dgm:t>
        <a:bodyPr/>
        <a:lstStyle/>
        <a:p>
          <a:pPr algn="just"/>
          <a:r>
            <a:rPr lang="id-ID" sz="2500" dirty="0"/>
            <a:t>pada saat potensi manfaat ekonomi masa depan diperoleh pemerintah dan mempunyai nilai atau biaya yang dapat diukur dengan andal</a:t>
          </a:r>
          <a:endParaRPr lang="en-US" sz="2500" dirty="0"/>
        </a:p>
      </dgm:t>
    </dgm:pt>
    <dgm:pt modelId="{6C590355-C0B3-44FD-9810-E7A5656C74EA}" type="parTrans" cxnId="{C43F358F-BA28-4787-BF61-270E7988066F}">
      <dgm:prSet/>
      <dgm:spPr/>
      <dgm:t>
        <a:bodyPr/>
        <a:lstStyle/>
        <a:p>
          <a:endParaRPr lang="en-US"/>
        </a:p>
      </dgm:t>
    </dgm:pt>
    <dgm:pt modelId="{815B79FE-E835-4698-9F65-2849D2DC4891}" type="sibTrans" cxnId="{C43F358F-BA28-4787-BF61-270E7988066F}">
      <dgm:prSet/>
      <dgm:spPr/>
      <dgm:t>
        <a:bodyPr/>
        <a:lstStyle/>
        <a:p>
          <a:endParaRPr lang="en-US"/>
        </a:p>
      </dgm:t>
    </dgm:pt>
    <dgm:pt modelId="{76F29FB4-E700-45D1-8526-438598B60EEA}">
      <dgm:prSet phldrT="[Text]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 algn="just"/>
          <a:r>
            <a:rPr lang="id-ID" sz="2500" dirty="0"/>
            <a:t>pada saat diterima atau hak kepemilikannya dan/ atau kepenguasaannya berpindah</a:t>
          </a:r>
          <a:endParaRPr lang="en-US" sz="2500" dirty="0"/>
        </a:p>
      </dgm:t>
    </dgm:pt>
    <dgm:pt modelId="{237D356D-1DB3-4B55-920A-A375B5D058EE}" type="parTrans" cxnId="{65999C2D-3683-44DE-8264-1255E7C33A49}">
      <dgm:prSet/>
      <dgm:spPr/>
      <dgm:t>
        <a:bodyPr/>
        <a:lstStyle/>
        <a:p>
          <a:endParaRPr lang="en-US"/>
        </a:p>
      </dgm:t>
    </dgm:pt>
    <dgm:pt modelId="{F902ECF7-2DA9-448D-898A-5EDF64C6BE1B}" type="sibTrans" cxnId="{65999C2D-3683-44DE-8264-1255E7C33A49}">
      <dgm:prSet/>
      <dgm:spPr/>
      <dgm:t>
        <a:bodyPr/>
        <a:lstStyle/>
        <a:p>
          <a:endParaRPr lang="en-US"/>
        </a:p>
      </dgm:t>
    </dgm:pt>
    <dgm:pt modelId="{BA23A5CD-460C-4A01-9854-73B49C5BA5FB}" type="pres">
      <dgm:prSet presAssocID="{153DE268-29E8-4850-A8FA-1FF580D8C821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44E75FA9-2ABF-43DC-A1EA-7A6B542EADE3}" type="pres">
      <dgm:prSet presAssocID="{009F3A8F-EE86-427F-A2A8-93D4B36B73A8}" presName="circle1" presStyleLbl="node1" presStyleIdx="0" presStyleCnt="2"/>
      <dgm:spPr/>
    </dgm:pt>
    <dgm:pt modelId="{1E6DBC74-1245-4575-ADDD-0CF8BAE11F8C}" type="pres">
      <dgm:prSet presAssocID="{009F3A8F-EE86-427F-A2A8-93D4B36B73A8}" presName="space" presStyleCnt="0"/>
      <dgm:spPr/>
    </dgm:pt>
    <dgm:pt modelId="{9B3F833A-A938-48A8-BE4F-62FBBEC6B46A}" type="pres">
      <dgm:prSet presAssocID="{009F3A8F-EE86-427F-A2A8-93D4B36B73A8}" presName="rect1" presStyleLbl="alignAcc1" presStyleIdx="0" presStyleCnt="2"/>
      <dgm:spPr/>
    </dgm:pt>
    <dgm:pt modelId="{9A06CD86-F308-44BA-B3B4-9EEE104A7A26}" type="pres">
      <dgm:prSet presAssocID="{76F29FB4-E700-45D1-8526-438598B60EEA}" presName="vertSpace2" presStyleLbl="node1" presStyleIdx="0" presStyleCnt="2"/>
      <dgm:spPr/>
    </dgm:pt>
    <dgm:pt modelId="{40956985-589E-4FB5-AC64-C2069734DAFA}" type="pres">
      <dgm:prSet presAssocID="{76F29FB4-E700-45D1-8526-438598B60EEA}" presName="circle2" presStyleLbl="node1" presStyleIdx="1" presStyleCnt="2"/>
      <dgm:spPr/>
    </dgm:pt>
    <dgm:pt modelId="{9CFD9905-9564-4F34-BAD3-9F4CE2549D80}" type="pres">
      <dgm:prSet presAssocID="{76F29FB4-E700-45D1-8526-438598B60EEA}" presName="rect2" presStyleLbl="alignAcc1" presStyleIdx="1" presStyleCnt="2"/>
      <dgm:spPr/>
    </dgm:pt>
    <dgm:pt modelId="{C27E519C-AC9F-4992-A725-784577E15C07}" type="pres">
      <dgm:prSet presAssocID="{009F3A8F-EE86-427F-A2A8-93D4B36B73A8}" presName="rect1ParTxNoCh" presStyleLbl="alignAcc1" presStyleIdx="1" presStyleCnt="2">
        <dgm:presLayoutVars>
          <dgm:chMax val="1"/>
          <dgm:bulletEnabled val="1"/>
        </dgm:presLayoutVars>
      </dgm:prSet>
      <dgm:spPr/>
    </dgm:pt>
    <dgm:pt modelId="{A334DC7F-7C43-404D-87CC-704E68BE9A48}" type="pres">
      <dgm:prSet presAssocID="{76F29FB4-E700-45D1-8526-438598B60EEA}" presName="rect2ParTxNoCh" presStyleLbl="alignAcc1" presStyleIdx="1" presStyleCnt="2">
        <dgm:presLayoutVars>
          <dgm:chMax val="1"/>
          <dgm:bulletEnabled val="1"/>
        </dgm:presLayoutVars>
      </dgm:prSet>
      <dgm:spPr/>
    </dgm:pt>
  </dgm:ptLst>
  <dgm:cxnLst>
    <dgm:cxn modelId="{65999C2D-3683-44DE-8264-1255E7C33A49}" srcId="{153DE268-29E8-4850-A8FA-1FF580D8C821}" destId="{76F29FB4-E700-45D1-8526-438598B60EEA}" srcOrd="1" destOrd="0" parTransId="{237D356D-1DB3-4B55-920A-A375B5D058EE}" sibTransId="{F902ECF7-2DA9-448D-898A-5EDF64C6BE1B}"/>
    <dgm:cxn modelId="{7BCAFC3E-E943-4554-9A08-A2AF1A66A59B}" type="presOf" srcId="{153DE268-29E8-4850-A8FA-1FF580D8C821}" destId="{BA23A5CD-460C-4A01-9854-73B49C5BA5FB}" srcOrd="0" destOrd="0" presId="urn:microsoft.com/office/officeart/2005/8/layout/target3"/>
    <dgm:cxn modelId="{A1FFC582-DA89-43DF-BAFE-FEBBAD4A6399}" type="presOf" srcId="{009F3A8F-EE86-427F-A2A8-93D4B36B73A8}" destId="{C27E519C-AC9F-4992-A725-784577E15C07}" srcOrd="1" destOrd="0" presId="urn:microsoft.com/office/officeart/2005/8/layout/target3"/>
    <dgm:cxn modelId="{C43F358F-BA28-4787-BF61-270E7988066F}" srcId="{153DE268-29E8-4850-A8FA-1FF580D8C821}" destId="{009F3A8F-EE86-427F-A2A8-93D4B36B73A8}" srcOrd="0" destOrd="0" parTransId="{6C590355-C0B3-44FD-9810-E7A5656C74EA}" sibTransId="{815B79FE-E835-4698-9F65-2849D2DC4891}"/>
    <dgm:cxn modelId="{B8FF2495-C198-40FF-86FE-1B8A7CEAAD08}" type="presOf" srcId="{76F29FB4-E700-45D1-8526-438598B60EEA}" destId="{9CFD9905-9564-4F34-BAD3-9F4CE2549D80}" srcOrd="0" destOrd="0" presId="urn:microsoft.com/office/officeart/2005/8/layout/target3"/>
    <dgm:cxn modelId="{695CBCA3-3876-4B11-864D-191DB51D3FBD}" type="presOf" srcId="{009F3A8F-EE86-427F-A2A8-93D4B36B73A8}" destId="{9B3F833A-A938-48A8-BE4F-62FBBEC6B46A}" srcOrd="0" destOrd="0" presId="urn:microsoft.com/office/officeart/2005/8/layout/target3"/>
    <dgm:cxn modelId="{9FFD7CCF-56AD-4A0D-B6AC-7CD2D38A3118}" type="presOf" srcId="{76F29FB4-E700-45D1-8526-438598B60EEA}" destId="{A334DC7F-7C43-404D-87CC-704E68BE9A48}" srcOrd="1" destOrd="0" presId="urn:microsoft.com/office/officeart/2005/8/layout/target3"/>
    <dgm:cxn modelId="{382DD58D-CA20-4837-A27E-78DBDAB022B3}" type="presParOf" srcId="{BA23A5CD-460C-4A01-9854-73B49C5BA5FB}" destId="{44E75FA9-2ABF-43DC-A1EA-7A6B542EADE3}" srcOrd="0" destOrd="0" presId="urn:microsoft.com/office/officeart/2005/8/layout/target3"/>
    <dgm:cxn modelId="{26EB16F7-515A-4519-8DFB-434C2CAC340A}" type="presParOf" srcId="{BA23A5CD-460C-4A01-9854-73B49C5BA5FB}" destId="{1E6DBC74-1245-4575-ADDD-0CF8BAE11F8C}" srcOrd="1" destOrd="0" presId="urn:microsoft.com/office/officeart/2005/8/layout/target3"/>
    <dgm:cxn modelId="{13D800B4-0EBF-4D59-BAD1-3C652A467877}" type="presParOf" srcId="{BA23A5CD-460C-4A01-9854-73B49C5BA5FB}" destId="{9B3F833A-A938-48A8-BE4F-62FBBEC6B46A}" srcOrd="2" destOrd="0" presId="urn:microsoft.com/office/officeart/2005/8/layout/target3"/>
    <dgm:cxn modelId="{ED6CF309-2228-4413-A2C2-12FA660E15D0}" type="presParOf" srcId="{BA23A5CD-460C-4A01-9854-73B49C5BA5FB}" destId="{9A06CD86-F308-44BA-B3B4-9EEE104A7A26}" srcOrd="3" destOrd="0" presId="urn:microsoft.com/office/officeart/2005/8/layout/target3"/>
    <dgm:cxn modelId="{4FD16C36-788D-48E6-BF75-E2BAC7E3EFB5}" type="presParOf" srcId="{BA23A5CD-460C-4A01-9854-73B49C5BA5FB}" destId="{40956985-589E-4FB5-AC64-C2069734DAFA}" srcOrd="4" destOrd="0" presId="urn:microsoft.com/office/officeart/2005/8/layout/target3"/>
    <dgm:cxn modelId="{7B7E9593-A9D5-494C-9B62-ADF8AF2C41A6}" type="presParOf" srcId="{BA23A5CD-460C-4A01-9854-73B49C5BA5FB}" destId="{9CFD9905-9564-4F34-BAD3-9F4CE2549D80}" srcOrd="5" destOrd="0" presId="urn:microsoft.com/office/officeart/2005/8/layout/target3"/>
    <dgm:cxn modelId="{5B4937DB-7BBD-4F86-89FD-C6FDF773A0BF}" type="presParOf" srcId="{BA23A5CD-460C-4A01-9854-73B49C5BA5FB}" destId="{C27E519C-AC9F-4992-A725-784577E15C07}" srcOrd="6" destOrd="0" presId="urn:microsoft.com/office/officeart/2005/8/layout/target3"/>
    <dgm:cxn modelId="{691A83D1-33FF-41E6-A613-60084C765608}" type="presParOf" srcId="{BA23A5CD-460C-4A01-9854-73B49C5BA5FB}" destId="{A334DC7F-7C43-404D-87CC-704E68BE9A48}" srcOrd="7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E75FA9-2ABF-43DC-A1EA-7A6B542EADE3}">
      <dsp:nvSpPr>
        <dsp:cNvPr id="0" name=""/>
        <dsp:cNvSpPr/>
      </dsp:nvSpPr>
      <dsp:spPr>
        <a:xfrm>
          <a:off x="0" y="0"/>
          <a:ext cx="3200400" cy="320040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F833A-A938-48A8-BE4F-62FBBEC6B46A}">
      <dsp:nvSpPr>
        <dsp:cNvPr id="0" name=""/>
        <dsp:cNvSpPr/>
      </dsp:nvSpPr>
      <dsp:spPr>
        <a:xfrm>
          <a:off x="1600200" y="0"/>
          <a:ext cx="5562599" cy="3200400"/>
        </a:xfrm>
        <a:prstGeom prst="rect">
          <a:avLst/>
        </a:prstGeom>
        <a:solidFill>
          <a:schemeClr val="accent3">
            <a:lumMod val="60000"/>
            <a:lumOff val="40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500" kern="1200" dirty="0"/>
            <a:t>pada saat potensi manfaat ekonomi masa depan diperoleh pemerintah dan mempunyai nilai atau biaya yang dapat diukur dengan andal</a:t>
          </a:r>
          <a:endParaRPr lang="en-US" sz="2500" kern="1200" dirty="0"/>
        </a:p>
      </dsp:txBody>
      <dsp:txXfrm>
        <a:off x="1600200" y="0"/>
        <a:ext cx="5562599" cy="1520190"/>
      </dsp:txXfrm>
    </dsp:sp>
    <dsp:sp modelId="{40956985-589E-4FB5-AC64-C2069734DAFA}">
      <dsp:nvSpPr>
        <dsp:cNvPr id="0" name=""/>
        <dsp:cNvSpPr/>
      </dsp:nvSpPr>
      <dsp:spPr>
        <a:xfrm>
          <a:off x="840105" y="1520190"/>
          <a:ext cx="1520190" cy="152019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D9905-9564-4F34-BAD3-9F4CE2549D80}">
      <dsp:nvSpPr>
        <dsp:cNvPr id="0" name=""/>
        <dsp:cNvSpPr/>
      </dsp:nvSpPr>
      <dsp:spPr>
        <a:xfrm>
          <a:off x="1600200" y="1520190"/>
          <a:ext cx="5562599" cy="1520190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just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500" kern="1200" dirty="0"/>
            <a:t>pada saat diterima atau hak kepemilikannya dan/ atau kepenguasaannya berpindah</a:t>
          </a:r>
          <a:endParaRPr lang="en-US" sz="2500" kern="1200" dirty="0"/>
        </a:p>
      </dsp:txBody>
      <dsp:txXfrm>
        <a:off x="1600200" y="1520190"/>
        <a:ext cx="5562599" cy="15201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74C8F-B161-41DA-9608-3EE6498DE4C0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23115-B662-4F58-A9A6-14B37D7E77E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0652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0223BC-E4D0-462D-A24C-8491EFAF7ECF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7806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7136E1-6C0B-491B-BE4C-D4BB6D112F8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96913"/>
            <a:ext cx="6197600" cy="3486150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1" y="4414839"/>
            <a:ext cx="5029200" cy="4184650"/>
          </a:xfrm>
          <a:noFill/>
          <a:ln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507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id-ID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714E50-358A-4539-B725-13B1F34C3B2A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73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id-ID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978702-57EC-4DFE-9B40-0FB9B9565E39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08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id-ID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8153FF-D4E8-46E4-9C80-F871234AAFC6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45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4.png"/><Relationship Id="rId3" Type="http://schemas.microsoft.com/office/2007/relationships/hdphoto" Target="../media/hdphoto1.wdp"/><Relationship Id="rId7" Type="http://schemas.microsoft.com/office/2007/relationships/hdphoto" Target="../media/hdphoto2.wdp"/><Relationship Id="rId12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9.png"/><Relationship Id="rId5" Type="http://schemas.openxmlformats.org/officeDocument/2006/relationships/image" Target="../media/image27.emf"/><Relationship Id="rId4" Type="http://schemas.openxmlformats.org/officeDocument/2006/relationships/oleObject" Target="../embeddings/oleObject1.bin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1.w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9.jp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3949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14024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47033" y="715533"/>
            <a:ext cx="102980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0598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947033" y="715533"/>
            <a:ext cx="102980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948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7258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0860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7591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1729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 sz="1867" kern="0" smtClean="0">
                <a:solidFill>
                  <a:srgbClr val="000000"/>
                </a:solidFill>
                <a:cs typeface="Arial"/>
                <a:sym typeface="Arial"/>
              </a:rPr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en"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61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B572523-E47E-49B4-F3E5-AC8404B57CCC}"/>
              </a:ext>
            </a:extLst>
          </p:cNvPr>
          <p:cNvSpPr/>
          <p:nvPr userDrawn="1"/>
        </p:nvSpPr>
        <p:spPr>
          <a:xfrm>
            <a:off x="0" y="0"/>
            <a:ext cx="12192000" cy="6464408"/>
          </a:xfrm>
          <a:custGeom>
            <a:avLst/>
            <a:gdLst>
              <a:gd name="connsiteX0" fmla="*/ 6582995 w 12192000"/>
              <a:gd name="connsiteY0" fmla="*/ 289912 h 6464408"/>
              <a:gd name="connsiteX1" fmla="*/ 5096784 w 12192000"/>
              <a:gd name="connsiteY1" fmla="*/ 1776123 h 6464408"/>
              <a:gd name="connsiteX2" fmla="*/ 5096784 w 12192000"/>
              <a:gd name="connsiteY2" fmla="*/ 4715203 h 6464408"/>
              <a:gd name="connsiteX3" fmla="*/ 5096785 w 12192000"/>
              <a:gd name="connsiteY3" fmla="*/ 4715223 h 6464408"/>
              <a:gd name="connsiteX4" fmla="*/ 5096785 w 12192000"/>
              <a:gd name="connsiteY4" fmla="*/ 6201414 h 6464408"/>
              <a:gd name="connsiteX5" fmla="*/ 6582995 w 12192000"/>
              <a:gd name="connsiteY5" fmla="*/ 6201414 h 6464408"/>
              <a:gd name="connsiteX6" fmla="*/ 9406392 w 12192000"/>
              <a:gd name="connsiteY6" fmla="*/ 6201414 h 6464408"/>
              <a:gd name="connsiteX7" fmla="*/ 10456646 w 12192000"/>
              <a:gd name="connsiteY7" fmla="*/ 6201414 h 6464408"/>
              <a:gd name="connsiteX8" fmla="*/ 11942857 w 12192000"/>
              <a:gd name="connsiteY8" fmla="*/ 6201414 h 6464408"/>
              <a:gd name="connsiteX9" fmla="*/ 11942858 w 12192000"/>
              <a:gd name="connsiteY9" fmla="*/ 6201414 h 6464408"/>
              <a:gd name="connsiteX10" fmla="*/ 11942858 w 12192000"/>
              <a:gd name="connsiteY10" fmla="*/ 2170706 h 6464408"/>
              <a:gd name="connsiteX11" fmla="*/ 11942857 w 12192000"/>
              <a:gd name="connsiteY11" fmla="*/ 2170706 h 6464408"/>
              <a:gd name="connsiteX12" fmla="*/ 11942857 w 12192000"/>
              <a:gd name="connsiteY12" fmla="*/ 1776123 h 6464408"/>
              <a:gd name="connsiteX13" fmla="*/ 11942857 w 12192000"/>
              <a:gd name="connsiteY13" fmla="*/ 289912 h 6464408"/>
              <a:gd name="connsiteX14" fmla="*/ 9406392 w 12192000"/>
              <a:gd name="connsiteY14" fmla="*/ 289912 h 6464408"/>
              <a:gd name="connsiteX15" fmla="*/ 0 w 12192000"/>
              <a:gd name="connsiteY15" fmla="*/ 0 h 6464408"/>
              <a:gd name="connsiteX16" fmla="*/ 12192000 w 12192000"/>
              <a:gd name="connsiteY16" fmla="*/ 0 h 6464408"/>
              <a:gd name="connsiteX17" fmla="*/ 12192000 w 12192000"/>
              <a:gd name="connsiteY17" fmla="*/ 6464408 h 6464408"/>
              <a:gd name="connsiteX18" fmla="*/ 0 w 12192000"/>
              <a:gd name="connsiteY18" fmla="*/ 6464408 h 6464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6464408">
                <a:moveTo>
                  <a:pt x="6582995" y="289912"/>
                </a:moveTo>
                <a:cubicBezTo>
                  <a:pt x="5762183" y="289912"/>
                  <a:pt x="5096784" y="955311"/>
                  <a:pt x="5096784" y="1776123"/>
                </a:cubicBezTo>
                <a:lnTo>
                  <a:pt x="5096784" y="4715203"/>
                </a:lnTo>
                <a:lnTo>
                  <a:pt x="5096785" y="4715223"/>
                </a:lnTo>
                <a:lnTo>
                  <a:pt x="5096785" y="6201414"/>
                </a:lnTo>
                <a:lnTo>
                  <a:pt x="6582995" y="6201414"/>
                </a:lnTo>
                <a:lnTo>
                  <a:pt x="9406392" y="6201414"/>
                </a:lnTo>
                <a:lnTo>
                  <a:pt x="10456646" y="6201414"/>
                </a:lnTo>
                <a:lnTo>
                  <a:pt x="11942857" y="6201414"/>
                </a:lnTo>
                <a:lnTo>
                  <a:pt x="11942858" y="6201414"/>
                </a:lnTo>
                <a:lnTo>
                  <a:pt x="11942858" y="2170706"/>
                </a:lnTo>
                <a:lnTo>
                  <a:pt x="11942857" y="2170706"/>
                </a:lnTo>
                <a:lnTo>
                  <a:pt x="11942857" y="1776123"/>
                </a:lnTo>
                <a:lnTo>
                  <a:pt x="11942857" y="289912"/>
                </a:lnTo>
                <a:lnTo>
                  <a:pt x="9406392" y="28991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464408"/>
                </a:lnTo>
                <a:lnTo>
                  <a:pt x="0" y="64644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EF9097-8AC0-3F69-E902-8ECFC9ED2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8195" b="16437"/>
          <a:stretch/>
        </p:blipFill>
        <p:spPr>
          <a:xfrm>
            <a:off x="0" y="-1"/>
            <a:ext cx="5096784" cy="685800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8669DE7-981A-C282-691F-F6B90029F0BE}"/>
              </a:ext>
            </a:extLst>
          </p:cNvPr>
          <p:cNvSpPr/>
          <p:nvPr userDrawn="1"/>
        </p:nvSpPr>
        <p:spPr>
          <a:xfrm>
            <a:off x="0" y="6464410"/>
            <a:ext cx="12192000" cy="393590"/>
          </a:xfrm>
          <a:prstGeom prst="rect">
            <a:avLst/>
          </a:prstGeom>
          <a:solidFill>
            <a:srgbClr val="005F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DAF4C0-015E-7F73-947A-02828171CA75}"/>
              </a:ext>
            </a:extLst>
          </p:cNvPr>
          <p:cNvSpPr txBox="1"/>
          <p:nvPr userDrawn="1"/>
        </p:nvSpPr>
        <p:spPr>
          <a:xfrm>
            <a:off x="187912" y="6530399"/>
            <a:ext cx="38518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© 2022 Direktorat </a:t>
            </a:r>
            <a:r>
              <a:rPr lang="en-US" sz="110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Jenderal</a:t>
            </a:r>
            <a:r>
              <a:rPr lang="en-US" sz="11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Perbendaharaan</a:t>
            </a:r>
            <a:endParaRPr lang="en-ID" sz="110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1" name="Picture 1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AD219FD-5F36-3DAF-1FB6-4C17C863E7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674" y="6494540"/>
            <a:ext cx="1242041" cy="333329"/>
          </a:xfrm>
          <a:prstGeom prst="rect">
            <a:avLst/>
          </a:prstGeom>
        </p:spPr>
      </p:pic>
      <p:pic>
        <p:nvPicPr>
          <p:cNvPr id="12" name="Picture 11" descr="Logo&#10;&#10;Description automatically generated">
            <a:extLst>
              <a:ext uri="{FF2B5EF4-FFF2-40B4-BE49-F238E27FC236}">
                <a16:creationId xmlns:a16="http://schemas.microsoft.com/office/drawing/2014/main" id="{CE7EBB2B-3AFC-8D41-1B29-E5BF08FE45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73" t="17697" r="28141" b="13544"/>
          <a:stretch/>
        </p:blipFill>
        <p:spPr>
          <a:xfrm>
            <a:off x="1252754" y="295747"/>
            <a:ext cx="577327" cy="636833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46237816-CA2F-3819-7B4A-4646A48B90F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22" t="28845" r="19861" b="29167"/>
          <a:stretch/>
        </p:blipFill>
        <p:spPr bwMode="auto">
          <a:xfrm>
            <a:off x="274543" y="344616"/>
            <a:ext cx="846014" cy="58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6D58168-05D1-9694-5954-F57E4FAD4421}"/>
              </a:ext>
            </a:extLst>
          </p:cNvPr>
          <p:cNvCxnSpPr>
            <a:cxnSpLocks/>
          </p:cNvCxnSpPr>
          <p:nvPr userDrawn="1"/>
        </p:nvCxnSpPr>
        <p:spPr>
          <a:xfrm>
            <a:off x="290484" y="5367867"/>
            <a:ext cx="4531283" cy="0"/>
          </a:xfrm>
          <a:prstGeom prst="line">
            <a:avLst/>
          </a:prstGeom>
          <a:ln w="19050">
            <a:solidFill>
              <a:srgbClr val="005F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64A3465-6D2B-48C7-9F73-3153FEC93100}"/>
              </a:ext>
            </a:extLst>
          </p:cNvPr>
          <p:cNvSpPr/>
          <p:nvPr userDrawn="1"/>
        </p:nvSpPr>
        <p:spPr>
          <a:xfrm>
            <a:off x="0" y="6201212"/>
            <a:ext cx="5096783" cy="265500"/>
          </a:xfrm>
          <a:custGeom>
            <a:avLst/>
            <a:gdLst>
              <a:gd name="connsiteX0" fmla="*/ 263837 w 5096783"/>
              <a:gd name="connsiteY0" fmla="*/ 0 h 265500"/>
              <a:gd name="connsiteX1" fmla="*/ 263837 w 5096783"/>
              <a:gd name="connsiteY1" fmla="*/ 202 h 265500"/>
              <a:gd name="connsiteX2" fmla="*/ 5096783 w 5096783"/>
              <a:gd name="connsiteY2" fmla="*/ 202 h 265500"/>
              <a:gd name="connsiteX3" fmla="*/ 5096783 w 5096783"/>
              <a:gd name="connsiteY3" fmla="*/ 263198 h 265500"/>
              <a:gd name="connsiteX4" fmla="*/ 263837 w 5096783"/>
              <a:gd name="connsiteY4" fmla="*/ 263198 h 265500"/>
              <a:gd name="connsiteX5" fmla="*/ 263837 w 5096783"/>
              <a:gd name="connsiteY5" fmla="*/ 263837 h 265500"/>
              <a:gd name="connsiteX6" fmla="*/ 5 w 5096783"/>
              <a:gd name="connsiteY6" fmla="*/ 265500 h 265500"/>
              <a:gd name="connsiteX7" fmla="*/ 76689 w 5096783"/>
              <a:gd name="connsiteY7" fmla="*/ 77865 h 265500"/>
              <a:gd name="connsiteX8" fmla="*/ 211918 w 5096783"/>
              <a:gd name="connsiteY8" fmla="*/ 5158 h 265500"/>
              <a:gd name="connsiteX9" fmla="*/ 260350 w 5096783"/>
              <a:gd name="connsiteY9" fmla="*/ 347 h 265500"/>
              <a:gd name="connsiteX10" fmla="*/ 260350 w 5096783"/>
              <a:gd name="connsiteY10" fmla="*/ 202 h 265500"/>
              <a:gd name="connsiteX11" fmla="*/ 261804 w 5096783"/>
              <a:gd name="connsiteY11" fmla="*/ 202 h 2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96783" h="265500">
                <a:moveTo>
                  <a:pt x="263837" y="0"/>
                </a:moveTo>
                <a:lnTo>
                  <a:pt x="263837" y="202"/>
                </a:lnTo>
                <a:lnTo>
                  <a:pt x="5096783" y="202"/>
                </a:lnTo>
                <a:lnTo>
                  <a:pt x="5096783" y="263198"/>
                </a:lnTo>
                <a:lnTo>
                  <a:pt x="263837" y="263198"/>
                </a:lnTo>
                <a:lnTo>
                  <a:pt x="263837" y="263837"/>
                </a:lnTo>
                <a:lnTo>
                  <a:pt x="5" y="265500"/>
                </a:lnTo>
                <a:cubicBezTo>
                  <a:pt x="-438" y="195239"/>
                  <a:pt x="27163" y="127704"/>
                  <a:pt x="76689" y="77865"/>
                </a:cubicBezTo>
                <a:cubicBezTo>
                  <a:pt x="113834" y="40486"/>
                  <a:pt x="161010" y="15377"/>
                  <a:pt x="211918" y="5158"/>
                </a:cubicBezTo>
                <a:lnTo>
                  <a:pt x="260350" y="347"/>
                </a:lnTo>
                <a:lnTo>
                  <a:pt x="260350" y="202"/>
                </a:lnTo>
                <a:lnTo>
                  <a:pt x="261804" y="202"/>
                </a:lnTo>
                <a:close/>
              </a:path>
            </a:pathLst>
          </a:custGeom>
          <a:solidFill>
            <a:srgbClr val="FCB8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3105105-44CB-5C16-25BD-5F53EBA241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5114" y="3518483"/>
            <a:ext cx="4782402" cy="4000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Tema/Sub Judul/Periode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04DB9C55-19F5-519A-89D1-522DD31DAA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5114" y="2155602"/>
            <a:ext cx="4782402" cy="1331037"/>
          </a:xfrm>
        </p:spPr>
        <p:txBody>
          <a:bodyPr anchor="b">
            <a:noAutofit/>
          </a:bodyPr>
          <a:lstStyle>
            <a:lvl1pPr marL="0" indent="0">
              <a:buNone/>
              <a:defRPr sz="4400" b="1">
                <a:solidFill>
                  <a:srgbClr val="0E63B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TOPIK RAPAT/ PEMBAHASAN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8696A84E-387F-3A24-EC27-859CD19084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411" y="5491267"/>
            <a:ext cx="4627355" cy="278051"/>
          </a:xfrm>
        </p:spPr>
        <p:txBody>
          <a:bodyPr tIns="0" bIns="0">
            <a:noAutofit/>
          </a:bodyPr>
          <a:lstStyle>
            <a:lvl1pPr marL="0" indent="0">
              <a:spcBef>
                <a:spcPts val="0"/>
              </a:spcBef>
              <a:buNone/>
              <a:defRPr sz="1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Nama Unit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CAEF880-ED38-7BDB-0AE8-0460D6097A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4409" y="5775342"/>
            <a:ext cx="4627357" cy="359879"/>
          </a:xfrm>
        </p:spPr>
        <p:txBody>
          <a:bodyPr tIns="0" bIns="0">
            <a:normAutofit/>
          </a:bodyPr>
          <a:lstStyle>
            <a:lvl1pPr marL="0" indent="0">
              <a:buNone/>
              <a:defRPr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Tanggal</a:t>
            </a:r>
            <a:endParaRPr lang="en-ID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72C37B8E-B722-11C4-C90E-99E330E748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94"/>
          <a:stretch/>
        </p:blipFill>
        <p:spPr>
          <a:xfrm>
            <a:off x="1973708" y="453808"/>
            <a:ext cx="745457" cy="34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952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onten Papar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A0F6A47-EF2C-B55C-DEBE-B45E0D7394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5794" y="189090"/>
            <a:ext cx="10139082" cy="615244"/>
          </a:xfrm>
        </p:spPr>
        <p:txBody>
          <a:bodyPr anchor="b">
            <a:normAutofit/>
          </a:bodyPr>
          <a:lstStyle>
            <a:lvl1pPr marL="0" indent="0" algn="ctr">
              <a:buNone/>
              <a:defRPr sz="2800" b="1">
                <a:solidFill>
                  <a:srgbClr val="005FA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your content</a:t>
            </a:r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FADF80-2DE3-D370-C5FF-A9697CBD324E}"/>
              </a:ext>
            </a:extLst>
          </p:cNvPr>
          <p:cNvSpPr/>
          <p:nvPr userDrawn="1"/>
        </p:nvSpPr>
        <p:spPr>
          <a:xfrm>
            <a:off x="11712133" y="6464410"/>
            <a:ext cx="393590" cy="393590"/>
          </a:xfrm>
          <a:prstGeom prst="rect">
            <a:avLst/>
          </a:prstGeom>
          <a:solidFill>
            <a:srgbClr val="FCB8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3B60809-1D41-B9C9-1B3E-35B8EB46C591}"/>
              </a:ext>
            </a:extLst>
          </p:cNvPr>
          <p:cNvSpPr/>
          <p:nvPr userDrawn="1"/>
        </p:nvSpPr>
        <p:spPr>
          <a:xfrm>
            <a:off x="8638118" y="6464410"/>
            <a:ext cx="2966740" cy="394682"/>
          </a:xfrm>
          <a:custGeom>
            <a:avLst/>
            <a:gdLst>
              <a:gd name="connsiteX0" fmla="*/ 387140 w 2966740"/>
              <a:gd name="connsiteY0" fmla="*/ 0 h 394682"/>
              <a:gd name="connsiteX1" fmla="*/ 394679 w 2966740"/>
              <a:gd name="connsiteY1" fmla="*/ 0 h 394682"/>
              <a:gd name="connsiteX2" fmla="*/ 2966740 w 2966740"/>
              <a:gd name="connsiteY2" fmla="*/ 0 h 394682"/>
              <a:gd name="connsiteX3" fmla="*/ 2966740 w 2966740"/>
              <a:gd name="connsiteY3" fmla="*/ 393590 h 394682"/>
              <a:gd name="connsiteX4" fmla="*/ 394679 w 2966740"/>
              <a:gd name="connsiteY4" fmla="*/ 393590 h 394682"/>
              <a:gd name="connsiteX5" fmla="*/ 394679 w 2966740"/>
              <a:gd name="connsiteY5" fmla="*/ 394682 h 394682"/>
              <a:gd name="connsiteX6" fmla="*/ 0 w 2966740"/>
              <a:gd name="connsiteY6" fmla="*/ 393026 h 394682"/>
              <a:gd name="connsiteX7" fmla="*/ 315360 w 2966740"/>
              <a:gd name="connsiteY7" fmla="*/ 7974 h 394682"/>
              <a:gd name="connsiteX8" fmla="*/ 387140 w 2966740"/>
              <a:gd name="connsiteY8" fmla="*/ 758 h 394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66740" h="394682">
                <a:moveTo>
                  <a:pt x="387140" y="0"/>
                </a:moveTo>
                <a:lnTo>
                  <a:pt x="394679" y="0"/>
                </a:lnTo>
                <a:lnTo>
                  <a:pt x="2966740" y="0"/>
                </a:lnTo>
                <a:lnTo>
                  <a:pt x="2966740" y="393590"/>
                </a:lnTo>
                <a:lnTo>
                  <a:pt x="394679" y="393590"/>
                </a:lnTo>
                <a:lnTo>
                  <a:pt x="394679" y="394682"/>
                </a:lnTo>
                <a:lnTo>
                  <a:pt x="0" y="393026"/>
                </a:lnTo>
                <a:cubicBezTo>
                  <a:pt x="798" y="202863"/>
                  <a:pt x="135982" y="44575"/>
                  <a:pt x="315360" y="7974"/>
                </a:cubicBezTo>
                <a:lnTo>
                  <a:pt x="387140" y="758"/>
                </a:lnTo>
                <a:close/>
              </a:path>
            </a:pathLst>
          </a:custGeom>
          <a:solidFill>
            <a:srgbClr val="005F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CCD50-4A8D-1FC9-4A34-E5A627473267}"/>
              </a:ext>
            </a:extLst>
          </p:cNvPr>
          <p:cNvSpPr txBox="1"/>
          <p:nvPr userDrawn="1"/>
        </p:nvSpPr>
        <p:spPr>
          <a:xfrm>
            <a:off x="8873067" y="6530399"/>
            <a:ext cx="26881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Direktorat Jenderal Perbendaharaan</a:t>
            </a:r>
            <a:endParaRPr lang="en-ID" sz="110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C7A30DD-712C-87B6-64FD-F3672D0E701B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58" t="17679" r="27858" b="20804"/>
          <a:stretch/>
        </p:blipFill>
        <p:spPr>
          <a:xfrm>
            <a:off x="11290941" y="189090"/>
            <a:ext cx="712800" cy="6707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795A4B-E506-CBDE-0DFA-4FEC3E44408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93" t="29636" r="33831" b="39963"/>
          <a:stretch/>
        </p:blipFill>
        <p:spPr bwMode="auto">
          <a:xfrm>
            <a:off x="188259" y="189091"/>
            <a:ext cx="712135" cy="670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D3C1FCD-174F-10E2-7865-DB9DB980B13F}"/>
              </a:ext>
            </a:extLst>
          </p:cNvPr>
          <p:cNvGrpSpPr/>
          <p:nvPr userDrawn="1"/>
        </p:nvGrpSpPr>
        <p:grpSpPr>
          <a:xfrm flipH="1">
            <a:off x="1025794" y="834659"/>
            <a:ext cx="10139082" cy="45719"/>
            <a:chOff x="1026126" y="1510749"/>
            <a:chExt cx="10139082" cy="45719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BC364529-4B18-2174-4FFA-7174CC514C16}"/>
                </a:ext>
              </a:extLst>
            </p:cNvPr>
            <p:cNvSpPr/>
            <p:nvPr/>
          </p:nvSpPr>
          <p:spPr>
            <a:xfrm>
              <a:off x="1026126" y="1510749"/>
              <a:ext cx="1526243" cy="45719"/>
            </a:xfrm>
            <a:prstGeom prst="roundRect">
              <a:avLst>
                <a:gd name="adj" fmla="val 50000"/>
              </a:avLst>
            </a:prstGeom>
            <a:solidFill>
              <a:srgbClr val="FCB8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F33B5F3-64A7-8B98-4316-60C5C7414527}"/>
                </a:ext>
              </a:extLst>
            </p:cNvPr>
            <p:cNvSpPr/>
            <p:nvPr/>
          </p:nvSpPr>
          <p:spPr>
            <a:xfrm>
              <a:off x="2608028" y="1510749"/>
              <a:ext cx="8557180" cy="45719"/>
            </a:xfrm>
            <a:prstGeom prst="roundRect">
              <a:avLst>
                <a:gd name="adj" fmla="val 50000"/>
              </a:avLst>
            </a:prstGeom>
            <a:solidFill>
              <a:srgbClr val="005F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8655AA31-A74D-DB43-5FE8-A4C94022A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9386" y="6478641"/>
            <a:ext cx="379083" cy="365125"/>
          </a:xfrm>
        </p:spPr>
        <p:txBody>
          <a:bodyPr lIns="0" tIns="0" rIns="0" bIns="0"/>
          <a:lstStyle>
            <a:lvl1pPr algn="ctr">
              <a:defRPr sz="1300" b="1">
                <a:solidFill>
                  <a:schemeClr val="tx1"/>
                </a:solidFill>
              </a:defRPr>
            </a:lvl1pPr>
          </a:lstStyle>
          <a:p>
            <a:fld id="{FE6A19FF-BD22-4ACD-9EF8-7D69A11F3519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1072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Ringkasan Ekseku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A830BC8-80ED-4049-A08B-311FA4D31C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 t="15599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8E15DC4-CC7E-4E3F-ABD9-F228B449CE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74243" y="216776"/>
            <a:ext cx="9891165" cy="488390"/>
          </a:xfrm>
        </p:spPr>
        <p:txBody>
          <a:bodyPr lIns="0" tIns="0" rIns="0" bIns="0" anchorCtr="1"/>
          <a:lstStyle>
            <a:lvl1pPr algn="ctr">
              <a:defRPr sz="2800" b="1">
                <a:solidFill>
                  <a:srgbClr val="094E9B"/>
                </a:solidFill>
                <a:latin typeface="Tahoma" pitchFamily="34"/>
                <a:ea typeface="Tahoma" pitchFamily="34"/>
                <a:cs typeface="Tahoma" pitchFamily="34"/>
              </a:defRPr>
            </a:lvl1pPr>
          </a:lstStyle>
          <a:p>
            <a:pPr lvl="0"/>
            <a:r>
              <a:rPr lang="en-US"/>
              <a:t>RINGKASAN EKSEKUTIF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B818F322-0BC6-4A14-B474-D67798CB90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1665028" y="6522826"/>
            <a:ext cx="519507" cy="229002"/>
          </a:xfrm>
        </p:spPr>
        <p:txBody>
          <a:bodyPr lIns="0" rIns="0" anchorCtr="1"/>
          <a:lstStyle>
            <a:lvl1pPr algn="ctr">
              <a:defRPr lang="en-US" sz="1400" b="1">
                <a:solidFill>
                  <a:srgbClr val="102D7F"/>
                </a:solidFill>
                <a:latin typeface="Tahoma" pitchFamily="34"/>
                <a:ea typeface="Tahoma" pitchFamily="34"/>
                <a:cs typeface="Tahoma" pitchFamily="34"/>
              </a:defRPr>
            </a:lvl1pPr>
          </a:lstStyle>
          <a:p>
            <a:pPr lvl="0"/>
            <a:fld id="{75E7B360-F0A4-4516-B5F0-C2AD9B05D5D9}" type="slidenum"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C9E9C6F-607E-4A80-953B-C54D1352A1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22" t="28845" r="19861" b="29167"/>
          <a:stretch>
            <a:fillRect/>
          </a:stretch>
        </p:blipFill>
        <p:spPr>
          <a:xfrm>
            <a:off x="113906" y="131417"/>
            <a:ext cx="1006873" cy="69976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5AB91E12-8FC0-425F-866F-7A21074B9E1D}"/>
              </a:ext>
            </a:extLst>
          </p:cNvPr>
          <p:cNvSpPr/>
          <p:nvPr/>
        </p:nvSpPr>
        <p:spPr>
          <a:xfrm>
            <a:off x="1274243" y="738634"/>
            <a:ext cx="9891165" cy="45720"/>
          </a:xfrm>
          <a:prstGeom prst="rect">
            <a:avLst/>
          </a:prstGeom>
          <a:gradFill>
            <a:gsLst>
              <a:gs pos="0">
                <a:srgbClr val="094E9B"/>
              </a:gs>
              <a:gs pos="100000">
                <a:srgbClr val="0065C9"/>
              </a:gs>
            </a:gsLst>
            <a:lin ang="162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7" name="Picture 18" descr="Logo&#10;&#10;Description automatically generated">
            <a:extLst>
              <a:ext uri="{FF2B5EF4-FFF2-40B4-BE49-F238E27FC236}">
                <a16:creationId xmlns:a16="http://schemas.microsoft.com/office/drawing/2014/main" id="{C25F5519-B078-48CF-9F7B-C975D56EA6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777" t="16416" r="27935" b="12472"/>
          <a:stretch>
            <a:fillRect/>
          </a:stretch>
        </p:blipFill>
        <p:spPr>
          <a:xfrm>
            <a:off x="11330559" y="131417"/>
            <a:ext cx="627598" cy="699762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8" name="Group 8">
            <a:extLst>
              <a:ext uri="{FF2B5EF4-FFF2-40B4-BE49-F238E27FC236}">
                <a16:creationId xmlns:a16="http://schemas.microsoft.com/office/drawing/2014/main" id="{E9E925F3-EA17-4A4C-A005-5B63D3C385EC}"/>
              </a:ext>
            </a:extLst>
          </p:cNvPr>
          <p:cNvGrpSpPr/>
          <p:nvPr/>
        </p:nvGrpSpPr>
        <p:grpSpPr>
          <a:xfrm>
            <a:off x="263356" y="6610490"/>
            <a:ext cx="11377787" cy="51398"/>
            <a:chOff x="263356" y="6610490"/>
            <a:chExt cx="11377787" cy="51398"/>
          </a:xfrm>
        </p:grpSpPr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B3F00FB8-521E-4B9A-AC4F-CFF619E09057}"/>
                </a:ext>
              </a:extLst>
            </p:cNvPr>
            <p:cNvSpPr/>
            <p:nvPr/>
          </p:nvSpPr>
          <p:spPr>
            <a:xfrm>
              <a:off x="6167435" y="6610490"/>
              <a:ext cx="3961007" cy="51398"/>
            </a:xfrm>
            <a:prstGeom prst="rect">
              <a:avLst/>
            </a:prstGeom>
            <a:solidFill>
              <a:srgbClr val="235FA7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186F08AD-03CF-4862-84EC-69955EE165F2}"/>
                </a:ext>
              </a:extLst>
            </p:cNvPr>
            <p:cNvSpPr/>
            <p:nvPr/>
          </p:nvSpPr>
          <p:spPr>
            <a:xfrm>
              <a:off x="10128452" y="6610490"/>
              <a:ext cx="1512691" cy="51398"/>
            </a:xfrm>
            <a:prstGeom prst="rect">
              <a:avLst/>
            </a:prstGeom>
            <a:solidFill>
              <a:srgbClr val="F3BB44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DD80F6D2-D4D4-40FD-8973-FB0F42814529}"/>
                </a:ext>
              </a:extLst>
            </p:cNvPr>
            <p:cNvSpPr/>
            <p:nvPr/>
          </p:nvSpPr>
          <p:spPr>
            <a:xfrm>
              <a:off x="263356" y="6610490"/>
              <a:ext cx="5904088" cy="51398"/>
            </a:xfrm>
            <a:prstGeom prst="rect">
              <a:avLst/>
            </a:prstGeom>
            <a:solidFill>
              <a:srgbClr val="337DB9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593911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iagram, engineering drawing&#10;&#10;Description automatically generated">
            <a:extLst>
              <a:ext uri="{FF2B5EF4-FFF2-40B4-BE49-F238E27FC236}">
                <a16:creationId xmlns:a16="http://schemas.microsoft.com/office/drawing/2014/main" id="{95F8CD88-139E-4B4C-AE94-5D50249A5A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1" b="781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B2E6945-2F09-44D6-8F68-72EB2095E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795" y="258906"/>
            <a:ext cx="10222830" cy="595673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004870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/>
              <a:t>Judul Materi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73472-9CFD-49B6-9DDF-10A5CCB211A1}"/>
              </a:ext>
            </a:extLst>
          </p:cNvPr>
          <p:cNvSpPr/>
          <p:nvPr userDrawn="1"/>
        </p:nvSpPr>
        <p:spPr>
          <a:xfrm>
            <a:off x="248084" y="6679875"/>
            <a:ext cx="9686492" cy="79200"/>
          </a:xfrm>
          <a:prstGeom prst="rect">
            <a:avLst/>
          </a:prstGeom>
          <a:gradFill flip="none" rotWithShape="1">
            <a:gsLst>
              <a:gs pos="42000">
                <a:srgbClr val="307BB5"/>
              </a:gs>
              <a:gs pos="46000">
                <a:srgbClr val="0857A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B1FCED-91EF-43DD-A1E9-54CC1E52B6FC}"/>
              </a:ext>
            </a:extLst>
          </p:cNvPr>
          <p:cNvSpPr/>
          <p:nvPr userDrawn="1"/>
        </p:nvSpPr>
        <p:spPr>
          <a:xfrm>
            <a:off x="9934576" y="6679875"/>
            <a:ext cx="1495425" cy="79200"/>
          </a:xfrm>
          <a:prstGeom prst="rect">
            <a:avLst/>
          </a:prstGeom>
          <a:solidFill>
            <a:srgbClr val="F8B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72D14EC9-9EF3-4D48-BA85-83E80239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7447" y="6580875"/>
            <a:ext cx="519509" cy="229000"/>
          </a:xfrm>
          <a:prstGeom prst="rect">
            <a:avLst/>
          </a:prstGeom>
        </p:spPr>
        <p:txBody>
          <a:bodyPr anchor="ctr"/>
          <a:lstStyle>
            <a:lvl1pPr algn="r"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C67A9826-C85A-43BB-9A4D-2C608D6018A0}" type="slidenum">
              <a:rPr lang="en-US" sz="1600" b="1" i="1" smtClean="0">
                <a:solidFill>
                  <a:srgbClr val="005B8E"/>
                </a:solidFill>
              </a:rPr>
              <a:pPr/>
              <a:t>‹#›</a:t>
            </a:fld>
            <a:endParaRPr lang="en-US" sz="1600" b="1" i="1">
              <a:solidFill>
                <a:srgbClr val="005B8E"/>
              </a:solidFill>
            </a:endParaRPr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5956EC8E-9E52-4A49-AFA8-5DCCD5E401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5" r="69755"/>
          <a:stretch/>
        </p:blipFill>
        <p:spPr>
          <a:xfrm>
            <a:off x="150656" y="117052"/>
            <a:ext cx="723139" cy="70879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C0A446-44D2-4F90-B822-825647016354}"/>
              </a:ext>
            </a:extLst>
          </p:cNvPr>
          <p:cNvCxnSpPr/>
          <p:nvPr userDrawn="1"/>
        </p:nvCxnSpPr>
        <p:spPr>
          <a:xfrm>
            <a:off x="873795" y="825847"/>
            <a:ext cx="10222830" cy="0"/>
          </a:xfrm>
          <a:prstGeom prst="line">
            <a:avLst/>
          </a:prstGeom>
          <a:ln w="28575">
            <a:gradFill flip="none" rotWithShape="1">
              <a:gsLst>
                <a:gs pos="700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11708687-48F4-4DF5-87BB-B5E25220E7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7" t="16416" r="27935" b="12472"/>
          <a:stretch/>
        </p:blipFill>
        <p:spPr>
          <a:xfrm>
            <a:off x="11321803" y="136101"/>
            <a:ext cx="610249" cy="68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2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si - Kemenkeu DJP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7C2FD95-268C-4953-AF93-7597DD947E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4241" y="216781"/>
            <a:ext cx="9891168" cy="488394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2800" b="1">
                <a:solidFill>
                  <a:srgbClr val="094E9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Judul Materi 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3141D4B-ADFF-4F8A-BD29-E3DC553A6F9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22" t="28845" r="19861" b="29167"/>
          <a:stretch/>
        </p:blipFill>
        <p:spPr bwMode="auto">
          <a:xfrm>
            <a:off x="113906" y="131418"/>
            <a:ext cx="1006877" cy="699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55601E9-AEEA-4085-B98A-C1ACF984C066}"/>
              </a:ext>
            </a:extLst>
          </p:cNvPr>
          <p:cNvSpPr/>
          <p:nvPr userDrawn="1"/>
        </p:nvSpPr>
        <p:spPr>
          <a:xfrm>
            <a:off x="1274241" y="738635"/>
            <a:ext cx="9891168" cy="4571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4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4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9B9C231F-F852-4CBC-AC96-40344BEC4D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7" t="16416" r="27935" b="12472"/>
          <a:stretch/>
        </p:blipFill>
        <p:spPr>
          <a:xfrm>
            <a:off x="11330560" y="131418"/>
            <a:ext cx="627598" cy="699761"/>
          </a:xfrm>
          <a:prstGeom prst="rect">
            <a:avLst/>
          </a:prstGeom>
        </p:spPr>
      </p:pic>
      <p:sp>
        <p:nvSpPr>
          <p:cNvPr id="18" name="Slide Number Placeholder 7">
            <a:extLst>
              <a:ext uri="{FF2B5EF4-FFF2-40B4-BE49-F238E27FC236}">
                <a16:creationId xmlns:a16="http://schemas.microsoft.com/office/drawing/2014/main" id="{D6152ED9-EF60-4AC5-B468-863D79B2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5027" y="6522830"/>
            <a:ext cx="519509" cy="229000"/>
          </a:xfrm>
          <a:prstGeom prst="rect">
            <a:avLst/>
          </a:prstGeom>
        </p:spPr>
        <p:txBody>
          <a:bodyPr lIns="0" rIns="0" anchor="ctr"/>
          <a:lstStyle>
            <a:lvl1pPr algn="ctr">
              <a:defRPr sz="1400" i="0">
                <a:solidFill>
                  <a:srgbClr val="102D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C67A9826-C85A-43BB-9A4D-2C608D6018A0}" type="slidenum">
              <a:rPr lang="en-US" b="1" smtClean="0"/>
              <a:pPr/>
              <a:t>‹#›</a:t>
            </a:fld>
            <a:endParaRPr lang="en-US" b="1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40FD0C-C4D5-4C5D-8D19-950FF2826D4E}"/>
              </a:ext>
            </a:extLst>
          </p:cNvPr>
          <p:cNvGrpSpPr/>
          <p:nvPr userDrawn="1"/>
        </p:nvGrpSpPr>
        <p:grpSpPr>
          <a:xfrm>
            <a:off x="263353" y="6610486"/>
            <a:ext cx="11377785" cy="51403"/>
            <a:chOff x="77148" y="5617762"/>
            <a:chExt cx="11377785" cy="5140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C0396D8-04DC-4C27-A6AE-D99C5E8EE132}"/>
                </a:ext>
              </a:extLst>
            </p:cNvPr>
            <p:cNvSpPr/>
            <p:nvPr/>
          </p:nvSpPr>
          <p:spPr>
            <a:xfrm>
              <a:off x="5981234" y="5617762"/>
              <a:ext cx="3961010" cy="51402"/>
            </a:xfrm>
            <a:prstGeom prst="rect">
              <a:avLst/>
            </a:prstGeom>
            <a:solidFill>
              <a:srgbClr val="235F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E5BF66-ED9C-4973-86FF-49CFE4C43B46}"/>
                </a:ext>
              </a:extLst>
            </p:cNvPr>
            <p:cNvSpPr/>
            <p:nvPr/>
          </p:nvSpPr>
          <p:spPr>
            <a:xfrm>
              <a:off x="9942245" y="5617762"/>
              <a:ext cx="1512688" cy="51402"/>
            </a:xfrm>
            <a:prstGeom prst="rect">
              <a:avLst/>
            </a:prstGeom>
            <a:solidFill>
              <a:srgbClr val="F3B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5BC0202-5DB6-47CB-BBF9-582D4358C5AA}"/>
                </a:ext>
              </a:extLst>
            </p:cNvPr>
            <p:cNvSpPr/>
            <p:nvPr/>
          </p:nvSpPr>
          <p:spPr>
            <a:xfrm>
              <a:off x="77148" y="5617763"/>
              <a:ext cx="5904086" cy="51402"/>
            </a:xfrm>
            <a:prstGeom prst="rect">
              <a:avLst/>
            </a:prstGeom>
            <a:solidFill>
              <a:srgbClr val="337D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463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2F28D283-467B-41EB-B6A2-0B2C8057B525}" type="datetimeFigureOut">
              <a:rPr lang="en-ID" smtClean="0"/>
              <a:t>28/03/2023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57AEA9-D409-45DC-A6D3-78D385BD32EE}" type="slidenum">
              <a:rPr lang="en-ID" smtClean="0"/>
              <a:t>‹#›</a:t>
            </a:fld>
            <a:endParaRPr lang="en-ID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7173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210300"/>
            <a:ext cx="12192000" cy="647700"/>
          </a:xfrm>
          <a:custGeom>
            <a:avLst/>
            <a:gdLst/>
            <a:ahLst/>
            <a:cxnLst/>
            <a:rect l="l" t="t" r="r" b="b"/>
            <a:pathLst>
              <a:path w="12192000" h="647700">
                <a:moveTo>
                  <a:pt x="12191999" y="0"/>
                </a:moveTo>
                <a:lnTo>
                  <a:pt x="0" y="0"/>
                </a:lnTo>
                <a:lnTo>
                  <a:pt x="0" y="647698"/>
                </a:lnTo>
                <a:lnTo>
                  <a:pt x="12191999" y="647698"/>
                </a:lnTo>
                <a:lnTo>
                  <a:pt x="1219199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4D4D4D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614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450572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rima Kasi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5C51FC8-7B25-9815-E0D5-453DE0B177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437"/>
          <a:stretch/>
        </p:blipFill>
        <p:spPr>
          <a:xfrm>
            <a:off x="0" y="0"/>
            <a:ext cx="12192000" cy="67920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080BA42-932E-DCE8-7680-2CCC733CBA6C}"/>
              </a:ext>
            </a:extLst>
          </p:cNvPr>
          <p:cNvSpPr/>
          <p:nvPr userDrawn="1"/>
        </p:nvSpPr>
        <p:spPr>
          <a:xfrm>
            <a:off x="0" y="6464410"/>
            <a:ext cx="12192000" cy="393590"/>
          </a:xfrm>
          <a:prstGeom prst="rect">
            <a:avLst/>
          </a:prstGeom>
          <a:solidFill>
            <a:srgbClr val="005F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A52BC-F74D-81AC-DAC6-E40F519906F6}"/>
              </a:ext>
            </a:extLst>
          </p:cNvPr>
          <p:cNvSpPr txBox="1"/>
          <p:nvPr userDrawn="1"/>
        </p:nvSpPr>
        <p:spPr>
          <a:xfrm>
            <a:off x="187912" y="6530399"/>
            <a:ext cx="38518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© 2022 Direktorat </a:t>
            </a:r>
            <a:r>
              <a:rPr lang="en-US" sz="110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Jenderal</a:t>
            </a:r>
            <a:r>
              <a:rPr lang="en-US" sz="11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Perbendaharaan</a:t>
            </a:r>
            <a:endParaRPr lang="en-ID" sz="110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D5016C5-435A-1628-C8FE-D678A44ED83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674" y="6494540"/>
            <a:ext cx="1242041" cy="3333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6E31DC-98D1-FE5C-9F70-874E40CEC693}"/>
              </a:ext>
            </a:extLst>
          </p:cNvPr>
          <p:cNvSpPr txBox="1"/>
          <p:nvPr userDrawn="1"/>
        </p:nvSpPr>
        <p:spPr>
          <a:xfrm>
            <a:off x="3739950" y="2598003"/>
            <a:ext cx="4712100" cy="83099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4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Terima Kasih</a:t>
            </a:r>
            <a:endParaRPr lang="en-ID" sz="4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2240EA-0CE0-1052-6E4F-76743BAEA0DE}"/>
              </a:ext>
            </a:extLst>
          </p:cNvPr>
          <p:cNvGrpSpPr/>
          <p:nvPr userDrawn="1"/>
        </p:nvGrpSpPr>
        <p:grpSpPr>
          <a:xfrm>
            <a:off x="2113319" y="5516390"/>
            <a:ext cx="7965362" cy="307777"/>
            <a:chOff x="2241067" y="5556837"/>
            <a:chExt cx="7965362" cy="30777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B6C3EBD-7BAA-FFE4-8C9D-03947D3D1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7081" y="5579684"/>
              <a:ext cx="240100" cy="2401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E2F7A39-2BD7-F4F6-7394-38329CBFD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961" b="89844" l="977" r="98633">
                          <a14:foregroundMark x1="8203" y1="45508" x2="8203" y2="45508"/>
                          <a14:foregroundMark x1="6641" y1="49414" x2="6641" y2="49414"/>
                          <a14:foregroundMark x1="94727" y1="56641" x2="94727" y2="56641"/>
                          <a14:foregroundMark x1="98633" y1="56641" x2="98633" y2="56641"/>
                          <a14:foregroundMark x1="1758" y1="33594" x2="977" y2="33594"/>
                          <a14:backgroundMark x1="50195" y1="53320" x2="50195" y2="5332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7729" y="5584447"/>
              <a:ext cx="240100" cy="2401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5F67E1D-4A0A-BD22-3009-2A7E02827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01112" y="5579684"/>
              <a:ext cx="240101" cy="24010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DD450BA-1503-BECB-9E23-8B04166C6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1067" y="5584447"/>
              <a:ext cx="262968" cy="24010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FED5FE-0F50-90FD-20DA-D27DAF6CD20B}"/>
                </a:ext>
              </a:extLst>
            </p:cNvPr>
            <p:cNvSpPr txBox="1"/>
            <p:nvPr/>
          </p:nvSpPr>
          <p:spPr>
            <a:xfrm>
              <a:off x="2451721" y="5594942"/>
              <a:ext cx="125066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www.</a:t>
              </a:r>
              <a:r>
                <a:rPr lang="en-US" sz="7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djpb</a:t>
              </a:r>
              <a:r>
                <a:rPr lang="en-US" sz="7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.kemenkeu.go.id</a:t>
              </a:r>
              <a:endParaRPr lang="id-ID" sz="7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079636-3977-6702-AF43-722CDE293F48}"/>
                </a:ext>
              </a:extLst>
            </p:cNvPr>
            <p:cNvSpPr txBox="1"/>
            <p:nvPr/>
          </p:nvSpPr>
          <p:spPr>
            <a:xfrm>
              <a:off x="4087224" y="5599706"/>
              <a:ext cx="118494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@</a:t>
              </a:r>
              <a:r>
                <a:rPr lang="en-US" sz="7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ditjen</a:t>
              </a:r>
              <a:r>
                <a:rPr lang="en-US" sz="700" b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perbendaharaan</a:t>
              </a:r>
              <a:endParaRPr lang="id-ID" sz="7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38FF92F-1C73-5362-9DD0-4CB852B03E90}"/>
                </a:ext>
              </a:extLst>
            </p:cNvPr>
            <p:cNvSpPr txBox="1"/>
            <p:nvPr/>
          </p:nvSpPr>
          <p:spPr>
            <a:xfrm>
              <a:off x="5661702" y="5604468"/>
              <a:ext cx="95571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DJPb</a:t>
              </a:r>
              <a:r>
                <a:rPr lang="en-US" sz="7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.KemenkeuRI</a:t>
              </a:r>
              <a:endParaRPr lang="id-ID" sz="7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0FBCBD5-52B8-AEC3-1B31-93702E6A30A7}"/>
                </a:ext>
              </a:extLst>
            </p:cNvPr>
            <p:cNvSpPr txBox="1"/>
            <p:nvPr/>
          </p:nvSpPr>
          <p:spPr>
            <a:xfrm>
              <a:off x="7007016" y="5556837"/>
              <a:ext cx="172996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Direktorat</a:t>
              </a:r>
              <a:r>
                <a:rPr lang="en-US" sz="7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b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Jenderal</a:t>
              </a:r>
              <a:r>
                <a:rPr lang="en-US" sz="7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b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Perbendaharaan</a:t>
              </a:r>
              <a:endParaRPr lang="en-US" sz="7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7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 </a:t>
              </a:r>
              <a:r>
                <a:rPr lang="en-US" sz="7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DJPb</a:t>
              </a:r>
              <a:r>
                <a:rPr lang="en-US" sz="7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7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Kemenkeu</a:t>
              </a:r>
              <a:r>
                <a:rPr lang="en-US" sz="7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RI</a:t>
              </a:r>
              <a:endParaRPr lang="id-ID" sz="7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0F300A5-423F-CF16-27ED-95CB930A1C28}"/>
                </a:ext>
              </a:extLst>
            </p:cNvPr>
            <p:cNvSpPr txBox="1"/>
            <p:nvPr/>
          </p:nvSpPr>
          <p:spPr>
            <a:xfrm>
              <a:off x="9144920" y="5594942"/>
              <a:ext cx="106150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@</a:t>
              </a:r>
              <a:r>
                <a:rPr lang="en-US" sz="700" b="1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DJPb</a:t>
              </a:r>
              <a:r>
                <a:rPr lang="en-US" sz="70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Kemenkeu_RI</a:t>
              </a:r>
              <a:endParaRPr lang="id-ID" sz="7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7" name="Picture 16" descr="Icon&#10;&#10;Description automatically generated">
              <a:extLst>
                <a:ext uri="{FF2B5EF4-FFF2-40B4-BE49-F238E27FC236}">
                  <a16:creationId xmlns:a16="http://schemas.microsoft.com/office/drawing/2014/main" id="{EB665A4C-B979-27F6-9846-2048D5EA7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1757" y="5577954"/>
              <a:ext cx="258485" cy="258485"/>
            </a:xfrm>
            <a:prstGeom prst="rect">
              <a:avLst/>
            </a:prstGeom>
          </p:spPr>
        </p:pic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94E5DC3-CE59-6E9B-21E4-DD41A711ABDC}"/>
              </a:ext>
            </a:extLst>
          </p:cNvPr>
          <p:cNvSpPr/>
          <p:nvPr userDrawn="1"/>
        </p:nvSpPr>
        <p:spPr>
          <a:xfrm>
            <a:off x="0" y="6201212"/>
            <a:ext cx="5096783" cy="265500"/>
          </a:xfrm>
          <a:custGeom>
            <a:avLst/>
            <a:gdLst>
              <a:gd name="connsiteX0" fmla="*/ 263837 w 5096783"/>
              <a:gd name="connsiteY0" fmla="*/ 0 h 265500"/>
              <a:gd name="connsiteX1" fmla="*/ 263837 w 5096783"/>
              <a:gd name="connsiteY1" fmla="*/ 202 h 265500"/>
              <a:gd name="connsiteX2" fmla="*/ 5096783 w 5096783"/>
              <a:gd name="connsiteY2" fmla="*/ 202 h 265500"/>
              <a:gd name="connsiteX3" fmla="*/ 5096783 w 5096783"/>
              <a:gd name="connsiteY3" fmla="*/ 263198 h 265500"/>
              <a:gd name="connsiteX4" fmla="*/ 263837 w 5096783"/>
              <a:gd name="connsiteY4" fmla="*/ 263198 h 265500"/>
              <a:gd name="connsiteX5" fmla="*/ 263837 w 5096783"/>
              <a:gd name="connsiteY5" fmla="*/ 263837 h 265500"/>
              <a:gd name="connsiteX6" fmla="*/ 5 w 5096783"/>
              <a:gd name="connsiteY6" fmla="*/ 265500 h 265500"/>
              <a:gd name="connsiteX7" fmla="*/ 76689 w 5096783"/>
              <a:gd name="connsiteY7" fmla="*/ 77865 h 265500"/>
              <a:gd name="connsiteX8" fmla="*/ 211918 w 5096783"/>
              <a:gd name="connsiteY8" fmla="*/ 5158 h 265500"/>
              <a:gd name="connsiteX9" fmla="*/ 260350 w 5096783"/>
              <a:gd name="connsiteY9" fmla="*/ 347 h 265500"/>
              <a:gd name="connsiteX10" fmla="*/ 260350 w 5096783"/>
              <a:gd name="connsiteY10" fmla="*/ 202 h 265500"/>
              <a:gd name="connsiteX11" fmla="*/ 261804 w 5096783"/>
              <a:gd name="connsiteY11" fmla="*/ 202 h 2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96783" h="265500">
                <a:moveTo>
                  <a:pt x="263837" y="0"/>
                </a:moveTo>
                <a:lnTo>
                  <a:pt x="263837" y="202"/>
                </a:lnTo>
                <a:lnTo>
                  <a:pt x="5096783" y="202"/>
                </a:lnTo>
                <a:lnTo>
                  <a:pt x="5096783" y="263198"/>
                </a:lnTo>
                <a:lnTo>
                  <a:pt x="263837" y="263198"/>
                </a:lnTo>
                <a:lnTo>
                  <a:pt x="263837" y="263837"/>
                </a:lnTo>
                <a:lnTo>
                  <a:pt x="5" y="265500"/>
                </a:lnTo>
                <a:cubicBezTo>
                  <a:pt x="-438" y="195239"/>
                  <a:pt x="27163" y="127704"/>
                  <a:pt x="76689" y="77865"/>
                </a:cubicBezTo>
                <a:cubicBezTo>
                  <a:pt x="113834" y="40486"/>
                  <a:pt x="161010" y="15377"/>
                  <a:pt x="211918" y="5158"/>
                </a:cubicBezTo>
                <a:lnTo>
                  <a:pt x="260350" y="347"/>
                </a:lnTo>
                <a:lnTo>
                  <a:pt x="260350" y="202"/>
                </a:lnTo>
                <a:lnTo>
                  <a:pt x="261804" y="202"/>
                </a:lnTo>
                <a:close/>
              </a:path>
            </a:pathLst>
          </a:custGeom>
          <a:solidFill>
            <a:srgbClr val="FCB8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B5C4306-2955-F1B7-4524-9CC35FAA9FE2}"/>
              </a:ext>
            </a:extLst>
          </p:cNvPr>
          <p:cNvSpPr/>
          <p:nvPr userDrawn="1"/>
        </p:nvSpPr>
        <p:spPr>
          <a:xfrm flipV="1">
            <a:off x="7095217" y="0"/>
            <a:ext cx="5096783" cy="265500"/>
          </a:xfrm>
          <a:custGeom>
            <a:avLst/>
            <a:gdLst>
              <a:gd name="connsiteX0" fmla="*/ 263837 w 5096783"/>
              <a:gd name="connsiteY0" fmla="*/ 0 h 265500"/>
              <a:gd name="connsiteX1" fmla="*/ 263837 w 5096783"/>
              <a:gd name="connsiteY1" fmla="*/ 202 h 265500"/>
              <a:gd name="connsiteX2" fmla="*/ 5096783 w 5096783"/>
              <a:gd name="connsiteY2" fmla="*/ 202 h 265500"/>
              <a:gd name="connsiteX3" fmla="*/ 5096783 w 5096783"/>
              <a:gd name="connsiteY3" fmla="*/ 263198 h 265500"/>
              <a:gd name="connsiteX4" fmla="*/ 263837 w 5096783"/>
              <a:gd name="connsiteY4" fmla="*/ 263198 h 265500"/>
              <a:gd name="connsiteX5" fmla="*/ 263837 w 5096783"/>
              <a:gd name="connsiteY5" fmla="*/ 263837 h 265500"/>
              <a:gd name="connsiteX6" fmla="*/ 5 w 5096783"/>
              <a:gd name="connsiteY6" fmla="*/ 265500 h 265500"/>
              <a:gd name="connsiteX7" fmla="*/ 76689 w 5096783"/>
              <a:gd name="connsiteY7" fmla="*/ 77865 h 265500"/>
              <a:gd name="connsiteX8" fmla="*/ 211918 w 5096783"/>
              <a:gd name="connsiteY8" fmla="*/ 5158 h 265500"/>
              <a:gd name="connsiteX9" fmla="*/ 260350 w 5096783"/>
              <a:gd name="connsiteY9" fmla="*/ 347 h 265500"/>
              <a:gd name="connsiteX10" fmla="*/ 260350 w 5096783"/>
              <a:gd name="connsiteY10" fmla="*/ 202 h 265500"/>
              <a:gd name="connsiteX11" fmla="*/ 261804 w 5096783"/>
              <a:gd name="connsiteY11" fmla="*/ 202 h 2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96783" h="265500">
                <a:moveTo>
                  <a:pt x="263837" y="0"/>
                </a:moveTo>
                <a:lnTo>
                  <a:pt x="263837" y="202"/>
                </a:lnTo>
                <a:lnTo>
                  <a:pt x="5096783" y="202"/>
                </a:lnTo>
                <a:lnTo>
                  <a:pt x="5096783" y="263198"/>
                </a:lnTo>
                <a:lnTo>
                  <a:pt x="263837" y="263198"/>
                </a:lnTo>
                <a:lnTo>
                  <a:pt x="263837" y="263837"/>
                </a:lnTo>
                <a:lnTo>
                  <a:pt x="5" y="265500"/>
                </a:lnTo>
                <a:cubicBezTo>
                  <a:pt x="-438" y="195239"/>
                  <a:pt x="27163" y="127704"/>
                  <a:pt x="76689" y="77865"/>
                </a:cubicBezTo>
                <a:cubicBezTo>
                  <a:pt x="113834" y="40486"/>
                  <a:pt x="161010" y="15377"/>
                  <a:pt x="211918" y="5158"/>
                </a:cubicBezTo>
                <a:lnTo>
                  <a:pt x="260350" y="347"/>
                </a:lnTo>
                <a:lnTo>
                  <a:pt x="260350" y="202"/>
                </a:lnTo>
                <a:lnTo>
                  <a:pt x="261804" y="202"/>
                </a:lnTo>
                <a:close/>
              </a:path>
            </a:pathLst>
          </a:custGeom>
          <a:solidFill>
            <a:srgbClr val="FCB8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pic>
        <p:nvPicPr>
          <p:cNvPr id="20" name="Picture 19" descr="Logo&#10;&#10;Description automatically generated">
            <a:extLst>
              <a:ext uri="{FF2B5EF4-FFF2-40B4-BE49-F238E27FC236}">
                <a16:creationId xmlns:a16="http://schemas.microsoft.com/office/drawing/2014/main" id="{04F6AEB3-37D2-9536-A189-C7B056A62D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73" t="17697" r="28141" b="13544"/>
          <a:stretch/>
        </p:blipFill>
        <p:spPr>
          <a:xfrm>
            <a:off x="1285586" y="344616"/>
            <a:ext cx="533024" cy="587964"/>
          </a:xfrm>
          <a:prstGeom prst="rect">
            <a:avLst/>
          </a:prstGeom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FAFAC063-FCD2-F682-5C7E-105B7F9D9A8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22" t="28845" r="19861" b="29167"/>
          <a:stretch/>
        </p:blipFill>
        <p:spPr bwMode="auto">
          <a:xfrm>
            <a:off x="274543" y="344616"/>
            <a:ext cx="846014" cy="58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Logo&#10;&#10;Description automatically generated">
            <a:extLst>
              <a:ext uri="{FF2B5EF4-FFF2-40B4-BE49-F238E27FC236}">
                <a16:creationId xmlns:a16="http://schemas.microsoft.com/office/drawing/2014/main" id="{2ACC9130-ABD6-A97F-7497-D5F4F2823C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47"/>
          <a:stretch/>
        </p:blipFill>
        <p:spPr>
          <a:xfrm>
            <a:off x="1983639" y="455990"/>
            <a:ext cx="785295" cy="36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248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1" descr="stuf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1"/>
            <a:ext cx="886884" cy="688975"/>
          </a:xfrm>
          <a:prstGeom prst="rect">
            <a:avLst/>
          </a:prstGeom>
          <a:noFill/>
          <a:ln w="9525" algn="in">
            <a:noFill/>
            <a:miter lim="800000"/>
            <a:headEnd/>
            <a:tailEnd/>
          </a:ln>
        </p:spPr>
      </p:pic>
      <p:sp>
        <p:nvSpPr>
          <p:cNvPr id="4" name="WordArt 6"/>
          <p:cNvSpPr>
            <a:spLocks noChangeArrowheads="1" noChangeShapeType="1" noTextEdit="1"/>
          </p:cNvSpPr>
          <p:nvPr/>
        </p:nvSpPr>
        <p:spPr bwMode="auto">
          <a:xfrm>
            <a:off x="93134" y="84138"/>
            <a:ext cx="675217" cy="520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 algn="ctr">
                  <a:solidFill>
                    <a:srgbClr val="99CC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85BFFF"/>
                    </a:gs>
                    <a:gs pos="100000">
                      <a:srgbClr val="003B76">
                        <a:alpha val="93999"/>
                      </a:srgbClr>
                    </a:gs>
                  </a:gsLst>
                  <a:lin ang="5400000" scaled="1"/>
                </a:gradFill>
                <a:effectLst>
                  <a:prstShdw prst="shdw17" dist="17961" dir="2700000">
                    <a:srgbClr val="5C7A99"/>
                  </a:prstShdw>
                </a:effectLst>
                <a:latin typeface="Tahoma"/>
                <a:cs typeface="Tahoma"/>
              </a:rPr>
              <a:t>KSAP</a:t>
            </a:r>
          </a:p>
        </p:txBody>
      </p:sp>
    </p:spTree>
    <p:extLst>
      <p:ext uri="{BB962C8B-B14F-4D97-AF65-F5344CB8AC3E}">
        <p14:creationId xmlns:p14="http://schemas.microsoft.com/office/powerpoint/2010/main" val="541848070"/>
      </p:ext>
    </p:extLst>
  </p:cSld>
  <p:clrMapOvr>
    <a:masterClrMapping/>
  </p:clrMapOvr>
  <p:transition>
    <p:diamond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a Rap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342B675-9C5F-4B14-BCF8-36904E66ABF7}"/>
              </a:ext>
            </a:extLst>
          </p:cNvPr>
          <p:cNvSpPr/>
          <p:nvPr userDrawn="1"/>
        </p:nvSpPr>
        <p:spPr>
          <a:xfrm flipH="1">
            <a:off x="9834116" y="6244149"/>
            <a:ext cx="2357884" cy="496248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60000">
                <a:schemeClr val="bg1">
                  <a:alpha val="70000"/>
                </a:schemeClr>
              </a:gs>
              <a:gs pos="100000">
                <a:srgbClr val="FFFFFF">
                  <a:alpha val="0"/>
                </a:srgbClr>
              </a:gs>
              <a:gs pos="80000">
                <a:schemeClr val="bg1">
                  <a:alpha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B8D07A-7F82-48F2-8E8C-0DDC9CD896EE}"/>
              </a:ext>
            </a:extLst>
          </p:cNvPr>
          <p:cNvSpPr/>
          <p:nvPr userDrawn="1"/>
        </p:nvSpPr>
        <p:spPr>
          <a:xfrm flipH="1">
            <a:off x="10405929" y="157358"/>
            <a:ext cx="1786071" cy="868469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60000">
                <a:schemeClr val="bg1">
                  <a:alpha val="70000"/>
                </a:schemeClr>
              </a:gs>
              <a:gs pos="100000">
                <a:srgbClr val="FFFFFF">
                  <a:alpha val="0"/>
                </a:srgbClr>
              </a:gs>
              <a:gs pos="80000">
                <a:schemeClr val="bg1">
                  <a:alpha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F41A57-E563-4C8B-802B-A8D9370B31AB}"/>
              </a:ext>
            </a:extLst>
          </p:cNvPr>
          <p:cNvSpPr/>
          <p:nvPr userDrawn="1"/>
        </p:nvSpPr>
        <p:spPr>
          <a:xfrm>
            <a:off x="0" y="157358"/>
            <a:ext cx="1786071" cy="868469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60000">
                <a:schemeClr val="bg1">
                  <a:alpha val="70000"/>
                </a:schemeClr>
              </a:gs>
              <a:gs pos="100000">
                <a:srgbClr val="FFFFFF">
                  <a:alpha val="0"/>
                </a:srgbClr>
              </a:gs>
              <a:gs pos="80000">
                <a:schemeClr val="bg1">
                  <a:alpha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E1F0E67-FBC8-4232-A0BF-83CCD66B22EF}"/>
              </a:ext>
            </a:extLst>
          </p:cNvPr>
          <p:cNvSpPr/>
          <p:nvPr userDrawn="1"/>
        </p:nvSpPr>
        <p:spPr>
          <a:xfrm>
            <a:off x="0" y="1677341"/>
            <a:ext cx="7146018" cy="3834458"/>
          </a:xfrm>
          <a:custGeom>
            <a:avLst/>
            <a:gdLst>
              <a:gd name="connsiteX0" fmla="*/ 0 w 7146018"/>
              <a:gd name="connsiteY0" fmla="*/ 0 h 3834458"/>
              <a:gd name="connsiteX1" fmla="*/ 3960002 w 7146018"/>
              <a:gd name="connsiteY1" fmla="*/ 3393 h 3834458"/>
              <a:gd name="connsiteX2" fmla="*/ 4643671 w 7146018"/>
              <a:gd name="connsiteY2" fmla="*/ 312182 h 3834458"/>
              <a:gd name="connsiteX3" fmla="*/ 7090269 w 7146018"/>
              <a:gd name="connsiteY3" fmla="*/ 3496480 h 3834458"/>
              <a:gd name="connsiteX4" fmla="*/ 6849479 w 7146018"/>
              <a:gd name="connsiteY4" fmla="*/ 3834458 h 3834458"/>
              <a:gd name="connsiteX5" fmla="*/ 0 w 7146018"/>
              <a:gd name="connsiteY5" fmla="*/ 3827925 h 3834458"/>
              <a:gd name="connsiteX6" fmla="*/ 0 w 7146018"/>
              <a:gd name="connsiteY6" fmla="*/ 0 h 3834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46018" h="3834458">
                <a:moveTo>
                  <a:pt x="0" y="0"/>
                </a:moveTo>
                <a:lnTo>
                  <a:pt x="3960002" y="3393"/>
                </a:lnTo>
                <a:cubicBezTo>
                  <a:pt x="4417216" y="-14275"/>
                  <a:pt x="4559109" y="212326"/>
                  <a:pt x="4643671" y="312182"/>
                </a:cubicBezTo>
                <a:cubicBezTo>
                  <a:pt x="4728235" y="412039"/>
                  <a:pt x="7003399" y="3372404"/>
                  <a:pt x="7090269" y="3496480"/>
                </a:cubicBezTo>
                <a:cubicBezTo>
                  <a:pt x="7177140" y="3620555"/>
                  <a:pt x="7204931" y="3824856"/>
                  <a:pt x="6849479" y="3834458"/>
                </a:cubicBezTo>
                <a:lnTo>
                  <a:pt x="0" y="3827925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77E2725-6B0A-4820-BCEB-9F6E7618CFF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2931" y="6283905"/>
            <a:ext cx="1552831" cy="416737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39503C1-AE1C-4644-A894-8212466D2269}"/>
              </a:ext>
            </a:extLst>
          </p:cNvPr>
          <p:cNvSpPr/>
          <p:nvPr userDrawn="1"/>
        </p:nvSpPr>
        <p:spPr>
          <a:xfrm rot="5400000" flipH="1">
            <a:off x="2204171" y="-692869"/>
            <a:ext cx="3835398" cy="8243738"/>
          </a:xfrm>
          <a:custGeom>
            <a:avLst/>
            <a:gdLst>
              <a:gd name="connsiteX0" fmla="*/ 1892912 w 1892912"/>
              <a:gd name="connsiteY0" fmla="*/ 140121 h 4347525"/>
              <a:gd name="connsiteX1" fmla="*/ 1726107 w 1892912"/>
              <a:gd name="connsiteY1" fmla="*/ 12642 h 4347525"/>
              <a:gd name="connsiteX2" fmla="*/ 154538 w 1892912"/>
              <a:gd name="connsiteY2" fmla="*/ 1307919 h 4347525"/>
              <a:gd name="connsiteX3" fmla="*/ 2139 w 1892912"/>
              <a:gd name="connsiteY3" fmla="*/ 1669867 h 4347525"/>
              <a:gd name="connsiteX4" fmla="*/ 0 w 1892912"/>
              <a:gd name="connsiteY4" fmla="*/ 4347525 h 4347525"/>
              <a:gd name="connsiteX5" fmla="*/ 1889171 w 1892912"/>
              <a:gd name="connsiteY5" fmla="*/ 4347525 h 4347525"/>
              <a:gd name="connsiteX6" fmla="*/ 1892912 w 1892912"/>
              <a:gd name="connsiteY6" fmla="*/ 140121 h 4347525"/>
              <a:gd name="connsiteX0" fmla="*/ 1892912 w 1892912"/>
              <a:gd name="connsiteY0" fmla="*/ 156993 h 4364397"/>
              <a:gd name="connsiteX1" fmla="*/ 1726107 w 1892912"/>
              <a:gd name="connsiteY1" fmla="*/ 29514 h 4364397"/>
              <a:gd name="connsiteX2" fmla="*/ 154538 w 1892912"/>
              <a:gd name="connsiteY2" fmla="*/ 1324791 h 4364397"/>
              <a:gd name="connsiteX3" fmla="*/ 2139 w 1892912"/>
              <a:gd name="connsiteY3" fmla="*/ 1686739 h 4364397"/>
              <a:gd name="connsiteX4" fmla="*/ 0 w 1892912"/>
              <a:gd name="connsiteY4" fmla="*/ 4364397 h 4364397"/>
              <a:gd name="connsiteX5" fmla="*/ 1889171 w 1892912"/>
              <a:gd name="connsiteY5" fmla="*/ 4364397 h 4364397"/>
              <a:gd name="connsiteX6" fmla="*/ 1892912 w 1892912"/>
              <a:gd name="connsiteY6" fmla="*/ 156993 h 436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2912" h="4364397">
                <a:moveTo>
                  <a:pt x="1892912" y="156993"/>
                </a:moveTo>
                <a:cubicBezTo>
                  <a:pt x="1888173" y="-31190"/>
                  <a:pt x="1787343" y="-16477"/>
                  <a:pt x="1726107" y="29514"/>
                </a:cubicBezTo>
                <a:cubicBezTo>
                  <a:pt x="1664871" y="75505"/>
                  <a:pt x="203821" y="1280021"/>
                  <a:pt x="154538" y="1324791"/>
                </a:cubicBezTo>
                <a:cubicBezTo>
                  <a:pt x="105255" y="1369560"/>
                  <a:pt x="-6581" y="1444681"/>
                  <a:pt x="2139" y="1686739"/>
                </a:cubicBezTo>
                <a:lnTo>
                  <a:pt x="0" y="4364397"/>
                </a:lnTo>
                <a:lnTo>
                  <a:pt x="1889171" y="4364397"/>
                </a:lnTo>
                <a:lnTo>
                  <a:pt x="1892912" y="156993"/>
                </a:lnTo>
                <a:close/>
              </a:path>
            </a:pathLst>
          </a:custGeom>
          <a:gradFill flip="none" rotWithShape="1">
            <a:gsLst>
              <a:gs pos="38000">
                <a:srgbClr val="0065C9"/>
              </a:gs>
              <a:gs pos="100000">
                <a:srgbClr val="12376F"/>
              </a:gs>
              <a:gs pos="0">
                <a:srgbClr val="0065C9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7C40B-5699-488D-B044-EFEC50A312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9998" y="1511299"/>
            <a:ext cx="6413500" cy="2764139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Sakkal Majalla" panose="02000000000000000000" pitchFamily="2" charset="-78"/>
              </a:defRPr>
            </a:lvl1pPr>
          </a:lstStyle>
          <a:p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Tema</a:t>
            </a:r>
            <a:r>
              <a:rPr lang="en-US" dirty="0"/>
              <a:t> </a:t>
            </a:r>
            <a:r>
              <a:rPr lang="en-US" dirty="0" err="1"/>
              <a:t>Rapat</a:t>
            </a:r>
            <a:endParaRPr lang="id-ID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79B94C7-57E2-4AF5-8B1D-FDB7D8F840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9998" y="4356249"/>
            <a:ext cx="5961102" cy="91440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FFC0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subtema</a:t>
            </a:r>
            <a:r>
              <a:rPr lang="en-US" dirty="0"/>
              <a:t> </a:t>
            </a:r>
            <a:r>
              <a:rPr lang="en-US" dirty="0" err="1"/>
              <a:t>rapat</a:t>
            </a:r>
            <a:endParaRPr lang="id-ID" dirty="0"/>
          </a:p>
        </p:txBody>
      </p:sp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C5F6FFA0-DE16-4819-A6F5-AB692193F479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469444796"/>
              </p:ext>
            </p:extLst>
          </p:nvPr>
        </p:nvGraphicFramePr>
        <p:xfrm>
          <a:off x="126238" y="193242"/>
          <a:ext cx="1119304" cy="773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CorelDRAW" r:id="rId4" imgW="1864256" imgH="1286810" progId="CorelDraw.Graphic.21">
                  <p:embed/>
                </p:oleObj>
              </mc:Choice>
              <mc:Fallback>
                <p:oleObj name="CorelDRAW" r:id="rId4" imgW="1864256" imgH="1286810" progId="CorelDraw.Graphic.21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C5F6FFA0-DE16-4819-A6F5-AB692193F4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6238" y="193242"/>
                        <a:ext cx="1119304" cy="7732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95559029-5022-4ABD-B694-526A67D7FE5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897" y="198265"/>
            <a:ext cx="823865" cy="77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2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ngkasan Eksekuti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E8C6406-0112-42BF-86E8-A00FFDC3950F}"/>
              </a:ext>
            </a:extLst>
          </p:cNvPr>
          <p:cNvSpPr/>
          <p:nvPr userDrawn="1"/>
        </p:nvSpPr>
        <p:spPr>
          <a:xfrm rot="16200000" flipH="1" flipV="1">
            <a:off x="5507355" y="-5042702"/>
            <a:ext cx="798869" cy="11813582"/>
          </a:xfrm>
          <a:custGeom>
            <a:avLst/>
            <a:gdLst>
              <a:gd name="connsiteX0" fmla="*/ 798869 w 798869"/>
              <a:gd name="connsiteY0" fmla="*/ 12052921 h 12052921"/>
              <a:gd name="connsiteX1" fmla="*/ 798869 w 798869"/>
              <a:gd name="connsiteY1" fmla="*/ 1692909 h 12052921"/>
              <a:gd name="connsiteX2" fmla="*/ 797312 w 798869"/>
              <a:gd name="connsiteY2" fmla="*/ 1692909 h 12052921"/>
              <a:gd name="connsiteX3" fmla="*/ 798868 w 798869"/>
              <a:gd name="connsiteY3" fmla="*/ 61766 h 12052921"/>
              <a:gd name="connsiteX4" fmla="*/ 728471 w 798869"/>
              <a:gd name="connsiteY4" fmla="*/ 11612 h 12052921"/>
              <a:gd name="connsiteX5" fmla="*/ 65220 w 798869"/>
              <a:gd name="connsiteY5" fmla="*/ 521209 h 12052921"/>
              <a:gd name="connsiteX6" fmla="*/ 903 w 798869"/>
              <a:gd name="connsiteY6" fmla="*/ 663610 h 12052921"/>
              <a:gd name="connsiteX7" fmla="*/ 21 w 798869"/>
              <a:gd name="connsiteY7" fmla="*/ 1692909 h 12052921"/>
              <a:gd name="connsiteX8" fmla="*/ 1 w 798869"/>
              <a:gd name="connsiteY8" fmla="*/ 1692909 h 12052921"/>
              <a:gd name="connsiteX9" fmla="*/ 1 w 798869"/>
              <a:gd name="connsiteY9" fmla="*/ 1716491 h 12052921"/>
              <a:gd name="connsiteX10" fmla="*/ 0 w 798869"/>
              <a:gd name="connsiteY10" fmla="*/ 1717074 h 12052921"/>
              <a:gd name="connsiteX11" fmla="*/ 1 w 798869"/>
              <a:gd name="connsiteY11" fmla="*/ 1717074 h 12052921"/>
              <a:gd name="connsiteX12" fmla="*/ 1 w 798869"/>
              <a:gd name="connsiteY12" fmla="*/ 12052921 h 1205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8869" h="12052921">
                <a:moveTo>
                  <a:pt x="798869" y="12052921"/>
                </a:moveTo>
                <a:lnTo>
                  <a:pt x="798869" y="1692909"/>
                </a:lnTo>
                <a:lnTo>
                  <a:pt x="797312" y="1692909"/>
                </a:lnTo>
                <a:lnTo>
                  <a:pt x="798868" y="61766"/>
                </a:lnTo>
                <a:cubicBezTo>
                  <a:pt x="796868" y="-12271"/>
                  <a:pt x="754315" y="-6483"/>
                  <a:pt x="728471" y="11612"/>
                </a:cubicBezTo>
                <a:cubicBezTo>
                  <a:pt x="702628" y="29706"/>
                  <a:pt x="86019" y="503596"/>
                  <a:pt x="65220" y="521209"/>
                </a:cubicBezTo>
                <a:cubicBezTo>
                  <a:pt x="44421" y="538823"/>
                  <a:pt x="-2777" y="568378"/>
                  <a:pt x="903" y="663610"/>
                </a:cubicBezTo>
                <a:lnTo>
                  <a:pt x="21" y="1692909"/>
                </a:lnTo>
                <a:lnTo>
                  <a:pt x="1" y="1692909"/>
                </a:lnTo>
                <a:lnTo>
                  <a:pt x="1" y="1716491"/>
                </a:lnTo>
                <a:lnTo>
                  <a:pt x="0" y="1717074"/>
                </a:lnTo>
                <a:lnTo>
                  <a:pt x="1" y="1717074"/>
                </a:lnTo>
                <a:lnTo>
                  <a:pt x="1" y="12052921"/>
                </a:lnTo>
                <a:close/>
              </a:path>
            </a:pathLst>
          </a:custGeom>
          <a:solidFill>
            <a:srgbClr val="FFCF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BE4C1FDA-9551-43BB-865C-ADCF0126B938}"/>
              </a:ext>
            </a:extLst>
          </p:cNvPr>
          <p:cNvSpPr/>
          <p:nvPr userDrawn="1"/>
        </p:nvSpPr>
        <p:spPr>
          <a:xfrm rot="5400000" flipH="1">
            <a:off x="5627026" y="-5261900"/>
            <a:ext cx="798869" cy="12052921"/>
          </a:xfrm>
          <a:custGeom>
            <a:avLst/>
            <a:gdLst>
              <a:gd name="connsiteX0" fmla="*/ 798869 w 798869"/>
              <a:gd name="connsiteY0" fmla="*/ 12052921 h 12052921"/>
              <a:gd name="connsiteX1" fmla="*/ 798869 w 798869"/>
              <a:gd name="connsiteY1" fmla="*/ 1692909 h 12052921"/>
              <a:gd name="connsiteX2" fmla="*/ 797312 w 798869"/>
              <a:gd name="connsiteY2" fmla="*/ 1692909 h 12052921"/>
              <a:gd name="connsiteX3" fmla="*/ 798868 w 798869"/>
              <a:gd name="connsiteY3" fmla="*/ 61766 h 12052921"/>
              <a:gd name="connsiteX4" fmla="*/ 728471 w 798869"/>
              <a:gd name="connsiteY4" fmla="*/ 11612 h 12052921"/>
              <a:gd name="connsiteX5" fmla="*/ 65220 w 798869"/>
              <a:gd name="connsiteY5" fmla="*/ 521209 h 12052921"/>
              <a:gd name="connsiteX6" fmla="*/ 903 w 798869"/>
              <a:gd name="connsiteY6" fmla="*/ 663610 h 12052921"/>
              <a:gd name="connsiteX7" fmla="*/ 21 w 798869"/>
              <a:gd name="connsiteY7" fmla="*/ 1692909 h 12052921"/>
              <a:gd name="connsiteX8" fmla="*/ 1 w 798869"/>
              <a:gd name="connsiteY8" fmla="*/ 1692909 h 12052921"/>
              <a:gd name="connsiteX9" fmla="*/ 1 w 798869"/>
              <a:gd name="connsiteY9" fmla="*/ 1716491 h 12052921"/>
              <a:gd name="connsiteX10" fmla="*/ 0 w 798869"/>
              <a:gd name="connsiteY10" fmla="*/ 1717074 h 12052921"/>
              <a:gd name="connsiteX11" fmla="*/ 1 w 798869"/>
              <a:gd name="connsiteY11" fmla="*/ 1717074 h 12052921"/>
              <a:gd name="connsiteX12" fmla="*/ 1 w 798869"/>
              <a:gd name="connsiteY12" fmla="*/ 12052921 h 12052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98869" h="12052921">
                <a:moveTo>
                  <a:pt x="798869" y="12052921"/>
                </a:moveTo>
                <a:lnTo>
                  <a:pt x="798869" y="1692909"/>
                </a:lnTo>
                <a:lnTo>
                  <a:pt x="797312" y="1692909"/>
                </a:lnTo>
                <a:lnTo>
                  <a:pt x="798868" y="61766"/>
                </a:lnTo>
                <a:cubicBezTo>
                  <a:pt x="796868" y="-12271"/>
                  <a:pt x="754315" y="-6483"/>
                  <a:pt x="728471" y="11612"/>
                </a:cubicBezTo>
                <a:cubicBezTo>
                  <a:pt x="702628" y="29706"/>
                  <a:pt x="86019" y="503596"/>
                  <a:pt x="65220" y="521209"/>
                </a:cubicBezTo>
                <a:cubicBezTo>
                  <a:pt x="44421" y="538823"/>
                  <a:pt x="-2777" y="568378"/>
                  <a:pt x="903" y="663610"/>
                </a:cubicBezTo>
                <a:lnTo>
                  <a:pt x="21" y="1692909"/>
                </a:lnTo>
                <a:lnTo>
                  <a:pt x="1" y="1692909"/>
                </a:lnTo>
                <a:lnTo>
                  <a:pt x="1" y="1716491"/>
                </a:lnTo>
                <a:lnTo>
                  <a:pt x="0" y="1717074"/>
                </a:lnTo>
                <a:lnTo>
                  <a:pt x="1" y="1717074"/>
                </a:lnTo>
                <a:lnTo>
                  <a:pt x="1" y="12052921"/>
                </a:lnTo>
                <a:close/>
              </a:path>
            </a:pathLst>
          </a:custGeom>
          <a:gradFill flip="none" rotWithShape="1">
            <a:gsLst>
              <a:gs pos="100000">
                <a:srgbClr val="12376F"/>
              </a:gs>
              <a:gs pos="0">
                <a:srgbClr val="0065C9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CA989C6-6024-45EA-932B-2EFCEFE3DDFF}"/>
              </a:ext>
            </a:extLst>
          </p:cNvPr>
          <p:cNvSpPr/>
          <p:nvPr userDrawn="1"/>
        </p:nvSpPr>
        <p:spPr>
          <a:xfrm rot="5400000" flipH="1">
            <a:off x="10357658" y="-1468799"/>
            <a:ext cx="4710" cy="2907137"/>
          </a:xfrm>
          <a:custGeom>
            <a:avLst/>
            <a:gdLst>
              <a:gd name="connsiteX0" fmla="*/ 4710 w 4710"/>
              <a:gd name="connsiteY0" fmla="*/ 42075 h 2907137"/>
              <a:gd name="connsiteX1" fmla="*/ 993 w 4710"/>
              <a:gd name="connsiteY1" fmla="*/ 269 h 2907137"/>
              <a:gd name="connsiteX2" fmla="*/ 920 w 4710"/>
              <a:gd name="connsiteY2" fmla="*/ 0 h 2907137"/>
              <a:gd name="connsiteX3" fmla="*/ 619 w 4710"/>
              <a:gd name="connsiteY3" fmla="*/ 387549 h 2907137"/>
              <a:gd name="connsiteX4" fmla="*/ 2008 w 4710"/>
              <a:gd name="connsiteY4" fmla="*/ 403275 h 2907137"/>
              <a:gd name="connsiteX5" fmla="*/ 0 w 4710"/>
              <a:gd name="connsiteY5" fmla="*/ 2907137 h 2907137"/>
              <a:gd name="connsiteX6" fmla="*/ 2398 w 4710"/>
              <a:gd name="connsiteY6" fmla="*/ 2907137 h 2907137"/>
              <a:gd name="connsiteX7" fmla="*/ 4710 w 4710"/>
              <a:gd name="connsiteY7" fmla="*/ 42075 h 290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10" h="2907137">
                <a:moveTo>
                  <a:pt x="4710" y="42075"/>
                </a:moveTo>
                <a:cubicBezTo>
                  <a:pt x="4344" y="26057"/>
                  <a:pt x="3051" y="12198"/>
                  <a:pt x="993" y="269"/>
                </a:cubicBezTo>
                <a:lnTo>
                  <a:pt x="920" y="0"/>
                </a:lnTo>
                <a:lnTo>
                  <a:pt x="619" y="387549"/>
                </a:lnTo>
                <a:lnTo>
                  <a:pt x="2008" y="403275"/>
                </a:lnTo>
                <a:lnTo>
                  <a:pt x="0" y="2907137"/>
                </a:lnTo>
                <a:lnTo>
                  <a:pt x="2398" y="2907137"/>
                </a:lnTo>
                <a:lnTo>
                  <a:pt x="4710" y="420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35" name="Right Triangle 4">
            <a:extLst>
              <a:ext uri="{FF2B5EF4-FFF2-40B4-BE49-F238E27FC236}">
                <a16:creationId xmlns:a16="http://schemas.microsoft.com/office/drawing/2014/main" id="{8D7A4B4D-08B6-4C44-9FC2-73C21E5FB550}"/>
              </a:ext>
            </a:extLst>
          </p:cNvPr>
          <p:cNvSpPr/>
          <p:nvPr userDrawn="1"/>
        </p:nvSpPr>
        <p:spPr>
          <a:xfrm flipH="1">
            <a:off x="8507764" y="5911700"/>
            <a:ext cx="3684230" cy="946299"/>
          </a:xfrm>
          <a:custGeom>
            <a:avLst/>
            <a:gdLst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4636689 w 4636689"/>
              <a:gd name="connsiteY2" fmla="*/ 2605556 h 2605556"/>
              <a:gd name="connsiteX3" fmla="*/ 0 w 4636689"/>
              <a:gd name="connsiteY3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5482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25646 h 2625646"/>
              <a:gd name="connsiteX1" fmla="*/ 0 w 4636689"/>
              <a:gd name="connsiteY1" fmla="*/ 20090 h 2625646"/>
              <a:gd name="connsiteX2" fmla="*/ 1766489 w 4636689"/>
              <a:gd name="connsiteY2" fmla="*/ 1466772 h 2625646"/>
              <a:gd name="connsiteX3" fmla="*/ 4636689 w 4636689"/>
              <a:gd name="connsiteY3" fmla="*/ 2625646 h 2625646"/>
              <a:gd name="connsiteX4" fmla="*/ 0 w 4636689"/>
              <a:gd name="connsiteY4" fmla="*/ 2625646 h 262564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31589 w 4636689"/>
              <a:gd name="connsiteY2" fmla="*/ 15609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6689" h="2605556">
                <a:moveTo>
                  <a:pt x="0" y="2605556"/>
                </a:moveTo>
                <a:lnTo>
                  <a:pt x="0" y="0"/>
                </a:lnTo>
                <a:cubicBezTo>
                  <a:pt x="332515" y="352954"/>
                  <a:pt x="1012956" y="1086929"/>
                  <a:pt x="1969689" y="1573682"/>
                </a:cubicBezTo>
                <a:cubicBezTo>
                  <a:pt x="2926422" y="2060435"/>
                  <a:pt x="3646412" y="2362876"/>
                  <a:pt x="4636689" y="2605556"/>
                </a:cubicBezTo>
                <a:lnTo>
                  <a:pt x="0" y="26055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" name="Right Triangle 4">
            <a:extLst>
              <a:ext uri="{FF2B5EF4-FFF2-40B4-BE49-F238E27FC236}">
                <a16:creationId xmlns:a16="http://schemas.microsoft.com/office/drawing/2014/main" id="{E3329A39-8519-4A36-8753-D97804EDA78D}"/>
              </a:ext>
            </a:extLst>
          </p:cNvPr>
          <p:cNvSpPr/>
          <p:nvPr userDrawn="1"/>
        </p:nvSpPr>
        <p:spPr>
          <a:xfrm flipH="1">
            <a:off x="8507767" y="6155654"/>
            <a:ext cx="3684230" cy="702345"/>
          </a:xfrm>
          <a:custGeom>
            <a:avLst/>
            <a:gdLst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4636689 w 4636689"/>
              <a:gd name="connsiteY2" fmla="*/ 2605556 h 2605556"/>
              <a:gd name="connsiteX3" fmla="*/ 0 w 4636689"/>
              <a:gd name="connsiteY3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5482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25646 h 2625646"/>
              <a:gd name="connsiteX1" fmla="*/ 0 w 4636689"/>
              <a:gd name="connsiteY1" fmla="*/ 20090 h 2625646"/>
              <a:gd name="connsiteX2" fmla="*/ 1766489 w 4636689"/>
              <a:gd name="connsiteY2" fmla="*/ 1466772 h 2625646"/>
              <a:gd name="connsiteX3" fmla="*/ 4636689 w 4636689"/>
              <a:gd name="connsiteY3" fmla="*/ 2625646 h 2625646"/>
              <a:gd name="connsiteX4" fmla="*/ 0 w 4636689"/>
              <a:gd name="connsiteY4" fmla="*/ 2625646 h 262564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31589 w 4636689"/>
              <a:gd name="connsiteY2" fmla="*/ 15609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6689" h="2605556">
                <a:moveTo>
                  <a:pt x="0" y="2605556"/>
                </a:moveTo>
                <a:lnTo>
                  <a:pt x="0" y="0"/>
                </a:lnTo>
                <a:cubicBezTo>
                  <a:pt x="332515" y="352954"/>
                  <a:pt x="1012956" y="1086929"/>
                  <a:pt x="1969689" y="1573682"/>
                </a:cubicBezTo>
                <a:cubicBezTo>
                  <a:pt x="2926422" y="2060435"/>
                  <a:pt x="3646412" y="2362876"/>
                  <a:pt x="4636689" y="2605556"/>
                </a:cubicBezTo>
                <a:lnTo>
                  <a:pt x="0" y="26055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" name="Right Triangle 4">
            <a:extLst>
              <a:ext uri="{FF2B5EF4-FFF2-40B4-BE49-F238E27FC236}">
                <a16:creationId xmlns:a16="http://schemas.microsoft.com/office/drawing/2014/main" id="{DAB4B218-085E-409E-87F6-2D5DEA574321}"/>
              </a:ext>
            </a:extLst>
          </p:cNvPr>
          <p:cNvSpPr/>
          <p:nvPr userDrawn="1"/>
        </p:nvSpPr>
        <p:spPr>
          <a:xfrm flipH="1">
            <a:off x="8507768" y="6350000"/>
            <a:ext cx="3684230" cy="507999"/>
          </a:xfrm>
          <a:custGeom>
            <a:avLst/>
            <a:gdLst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4636689 w 4636689"/>
              <a:gd name="connsiteY2" fmla="*/ 2605556 h 2605556"/>
              <a:gd name="connsiteX3" fmla="*/ 0 w 4636689"/>
              <a:gd name="connsiteY3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5482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25646 h 2625646"/>
              <a:gd name="connsiteX1" fmla="*/ 0 w 4636689"/>
              <a:gd name="connsiteY1" fmla="*/ 20090 h 2625646"/>
              <a:gd name="connsiteX2" fmla="*/ 1766489 w 4636689"/>
              <a:gd name="connsiteY2" fmla="*/ 1466772 h 2625646"/>
              <a:gd name="connsiteX3" fmla="*/ 4636689 w 4636689"/>
              <a:gd name="connsiteY3" fmla="*/ 2625646 h 2625646"/>
              <a:gd name="connsiteX4" fmla="*/ 0 w 4636689"/>
              <a:gd name="connsiteY4" fmla="*/ 2625646 h 262564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31589 w 4636689"/>
              <a:gd name="connsiteY2" fmla="*/ 15609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6689" h="2605556">
                <a:moveTo>
                  <a:pt x="0" y="2605556"/>
                </a:moveTo>
                <a:lnTo>
                  <a:pt x="0" y="0"/>
                </a:lnTo>
                <a:cubicBezTo>
                  <a:pt x="332515" y="352954"/>
                  <a:pt x="1012956" y="1086929"/>
                  <a:pt x="1969689" y="1573682"/>
                </a:cubicBezTo>
                <a:cubicBezTo>
                  <a:pt x="2926422" y="2060435"/>
                  <a:pt x="3646412" y="2362876"/>
                  <a:pt x="4636689" y="2605556"/>
                </a:cubicBezTo>
                <a:lnTo>
                  <a:pt x="0" y="2605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167E22-DF36-4E89-828D-FB4ADDA7EA9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02295"/>
            <a:ext cx="10515600" cy="457466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poin-poin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/</a:t>
            </a:r>
            <a:r>
              <a:rPr lang="en-US" dirty="0" err="1"/>
              <a:t>signifikan</a:t>
            </a:r>
            <a:r>
              <a:rPr lang="en-US" dirty="0"/>
              <a:t>/</a:t>
            </a:r>
            <a:r>
              <a:rPr lang="en-US" dirty="0" err="1"/>
              <a:t>strategis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98342B-095D-4749-AF10-72C4FADDAAD9}"/>
              </a:ext>
            </a:extLst>
          </p:cNvPr>
          <p:cNvSpPr txBox="1"/>
          <p:nvPr userDrawn="1"/>
        </p:nvSpPr>
        <p:spPr>
          <a:xfrm>
            <a:off x="838200" y="472172"/>
            <a:ext cx="43749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Ringkasan</a:t>
            </a:r>
            <a:r>
              <a:rPr lang="en-US" sz="3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Eksekutif</a:t>
            </a:r>
            <a:endParaRPr lang="id-ID" sz="3200" b="1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2060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 Rap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06EC3AF-5CAD-4B2D-9AA4-2D238FB33302}"/>
              </a:ext>
            </a:extLst>
          </p:cNvPr>
          <p:cNvSpPr/>
          <p:nvPr userDrawn="1"/>
        </p:nvSpPr>
        <p:spPr>
          <a:xfrm flipH="1" flipV="1">
            <a:off x="6874512" y="0"/>
            <a:ext cx="4290562" cy="1441286"/>
          </a:xfrm>
          <a:custGeom>
            <a:avLst/>
            <a:gdLst>
              <a:gd name="connsiteX0" fmla="*/ 4290562 w 4290562"/>
              <a:gd name="connsiteY0" fmla="*/ 1441286 h 1441286"/>
              <a:gd name="connsiteX1" fmla="*/ 0 w 4290562"/>
              <a:gd name="connsiteY1" fmla="*/ 1441286 h 1441286"/>
              <a:gd name="connsiteX2" fmla="*/ 304724 w 4290562"/>
              <a:gd name="connsiteY2" fmla="*/ 1221991 h 1441286"/>
              <a:gd name="connsiteX3" fmla="*/ 1891389 w 4290562"/>
              <a:gd name="connsiteY3" fmla="*/ 87151 h 1441286"/>
              <a:gd name="connsiteX4" fmla="*/ 2029466 w 4290562"/>
              <a:gd name="connsiteY4" fmla="*/ 25990 h 1441286"/>
              <a:gd name="connsiteX5" fmla="*/ 2045825 w 4290562"/>
              <a:gd name="connsiteY5" fmla="*/ 16010 h 1441286"/>
              <a:gd name="connsiteX6" fmla="*/ 2056273 w 4290562"/>
              <a:gd name="connsiteY6" fmla="*/ 14116 h 1441286"/>
              <a:gd name="connsiteX7" fmla="*/ 2064469 w 4290562"/>
              <a:gd name="connsiteY7" fmla="*/ 10488 h 1441286"/>
              <a:gd name="connsiteX8" fmla="*/ 2096386 w 4290562"/>
              <a:gd name="connsiteY8" fmla="*/ 6848 h 1441286"/>
              <a:gd name="connsiteX9" fmla="*/ 2134168 w 4290562"/>
              <a:gd name="connsiteY9" fmla="*/ 0 h 1441286"/>
              <a:gd name="connsiteX10" fmla="*/ 2145302 w 4290562"/>
              <a:gd name="connsiteY10" fmla="*/ 1269 h 1441286"/>
              <a:gd name="connsiteX11" fmla="*/ 2156388 w 4290562"/>
              <a:gd name="connsiteY11" fmla="*/ 7 h 1441286"/>
              <a:gd name="connsiteX12" fmla="*/ 2194007 w 4290562"/>
              <a:gd name="connsiteY12" fmla="*/ 6825 h 1441286"/>
              <a:gd name="connsiteX13" fmla="*/ 2226088 w 4290562"/>
              <a:gd name="connsiteY13" fmla="*/ 10481 h 1441286"/>
              <a:gd name="connsiteX14" fmla="*/ 2234329 w 4290562"/>
              <a:gd name="connsiteY14" fmla="*/ 14130 h 1441286"/>
              <a:gd name="connsiteX15" fmla="*/ 2244734 w 4290562"/>
              <a:gd name="connsiteY15" fmla="*/ 16014 h 1441286"/>
              <a:gd name="connsiteX16" fmla="*/ 2261023 w 4290562"/>
              <a:gd name="connsiteY16" fmla="*/ 25956 h 1441286"/>
              <a:gd name="connsiteX17" fmla="*/ 2399167 w 4290562"/>
              <a:gd name="connsiteY17" fmla="*/ 87147 h 1441286"/>
              <a:gd name="connsiteX18" fmla="*/ 3985833 w 4290562"/>
              <a:gd name="connsiteY18" fmla="*/ 1221988 h 1441286"/>
              <a:gd name="connsiteX19" fmla="*/ 4290562 w 4290562"/>
              <a:gd name="connsiteY19" fmla="*/ 1441286 h 1441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90562" h="1441286">
                <a:moveTo>
                  <a:pt x="4290562" y="1441286"/>
                </a:moveTo>
                <a:lnTo>
                  <a:pt x="0" y="1441286"/>
                </a:lnTo>
                <a:lnTo>
                  <a:pt x="304724" y="1221991"/>
                </a:lnTo>
                <a:cubicBezTo>
                  <a:pt x="1146747" y="616289"/>
                  <a:pt x="1817850" y="135455"/>
                  <a:pt x="1891389" y="87151"/>
                </a:cubicBezTo>
                <a:lnTo>
                  <a:pt x="2029466" y="25990"/>
                </a:lnTo>
                <a:lnTo>
                  <a:pt x="2045825" y="16010"/>
                </a:lnTo>
                <a:lnTo>
                  <a:pt x="2056273" y="14116"/>
                </a:lnTo>
                <a:lnTo>
                  <a:pt x="2064469" y="10488"/>
                </a:lnTo>
                <a:lnTo>
                  <a:pt x="2096386" y="6848"/>
                </a:lnTo>
                <a:lnTo>
                  <a:pt x="2134168" y="0"/>
                </a:lnTo>
                <a:lnTo>
                  <a:pt x="2145302" y="1269"/>
                </a:lnTo>
                <a:lnTo>
                  <a:pt x="2156388" y="7"/>
                </a:lnTo>
                <a:lnTo>
                  <a:pt x="2194007" y="6825"/>
                </a:lnTo>
                <a:lnTo>
                  <a:pt x="2226088" y="10481"/>
                </a:lnTo>
                <a:lnTo>
                  <a:pt x="2234329" y="14130"/>
                </a:lnTo>
                <a:lnTo>
                  <a:pt x="2244734" y="16014"/>
                </a:lnTo>
                <a:lnTo>
                  <a:pt x="2261023" y="25956"/>
                </a:lnTo>
                <a:lnTo>
                  <a:pt x="2399167" y="87147"/>
                </a:lnTo>
                <a:cubicBezTo>
                  <a:pt x="2472707" y="135451"/>
                  <a:pt x="3143811" y="616286"/>
                  <a:pt x="3985833" y="1221988"/>
                </a:cubicBezTo>
                <a:lnTo>
                  <a:pt x="4290562" y="144128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u="sng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4DFBC66-7F2E-4245-AABF-D04EC0594AC6}"/>
              </a:ext>
            </a:extLst>
          </p:cNvPr>
          <p:cNvSpPr/>
          <p:nvPr userDrawn="1"/>
        </p:nvSpPr>
        <p:spPr>
          <a:xfrm rot="5400000" flipH="1" flipV="1">
            <a:off x="10387548" y="53135"/>
            <a:ext cx="2214436" cy="1394467"/>
          </a:xfrm>
          <a:custGeom>
            <a:avLst/>
            <a:gdLst>
              <a:gd name="connsiteX0" fmla="*/ 2214436 w 2214436"/>
              <a:gd name="connsiteY0" fmla="*/ 1394467 h 1394467"/>
              <a:gd name="connsiteX1" fmla="*/ 0 w 2214436"/>
              <a:gd name="connsiteY1" fmla="*/ 1394467 h 1394467"/>
              <a:gd name="connsiteX2" fmla="*/ 35031 w 2214436"/>
              <a:gd name="connsiteY2" fmla="*/ 1347651 h 1394467"/>
              <a:gd name="connsiteX3" fmla="*/ 995906 w 2214436"/>
              <a:gd name="connsiteY3" fmla="*/ 70861 h 1394467"/>
              <a:gd name="connsiteX4" fmla="*/ 1056442 w 2214436"/>
              <a:gd name="connsiteY4" fmla="*/ 21133 h 1394467"/>
              <a:gd name="connsiteX5" fmla="*/ 1063614 w 2214436"/>
              <a:gd name="connsiteY5" fmla="*/ 13019 h 1394467"/>
              <a:gd name="connsiteX6" fmla="*/ 1068195 w 2214436"/>
              <a:gd name="connsiteY6" fmla="*/ 11479 h 1394467"/>
              <a:gd name="connsiteX7" fmla="*/ 1071789 w 2214436"/>
              <a:gd name="connsiteY7" fmla="*/ 8529 h 1394467"/>
              <a:gd name="connsiteX8" fmla="*/ 1085782 w 2214436"/>
              <a:gd name="connsiteY8" fmla="*/ 5569 h 1394467"/>
              <a:gd name="connsiteX9" fmla="*/ 1102347 w 2214436"/>
              <a:gd name="connsiteY9" fmla="*/ 0 h 1394467"/>
              <a:gd name="connsiteX10" fmla="*/ 1107227 w 2214436"/>
              <a:gd name="connsiteY10" fmla="*/ 1033 h 1394467"/>
              <a:gd name="connsiteX11" fmla="*/ 1112088 w 2214436"/>
              <a:gd name="connsiteY11" fmla="*/ 7 h 1394467"/>
              <a:gd name="connsiteX12" fmla="*/ 1128581 w 2214436"/>
              <a:gd name="connsiteY12" fmla="*/ 5551 h 1394467"/>
              <a:gd name="connsiteX13" fmla="*/ 1142646 w 2214436"/>
              <a:gd name="connsiteY13" fmla="*/ 8523 h 1394467"/>
              <a:gd name="connsiteX14" fmla="*/ 1146259 w 2214436"/>
              <a:gd name="connsiteY14" fmla="*/ 11490 h 1394467"/>
              <a:gd name="connsiteX15" fmla="*/ 1150821 w 2214436"/>
              <a:gd name="connsiteY15" fmla="*/ 13022 h 1394467"/>
              <a:gd name="connsiteX16" fmla="*/ 1157962 w 2214436"/>
              <a:gd name="connsiteY16" fmla="*/ 21106 h 1394467"/>
              <a:gd name="connsiteX17" fmla="*/ 1218528 w 2214436"/>
              <a:gd name="connsiteY17" fmla="*/ 70858 h 1394467"/>
              <a:gd name="connsiteX18" fmla="*/ 2179402 w 2214436"/>
              <a:gd name="connsiteY18" fmla="*/ 1347649 h 1394467"/>
              <a:gd name="connsiteX19" fmla="*/ 2214436 w 2214436"/>
              <a:gd name="connsiteY19" fmla="*/ 1394467 h 1394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214436" h="1394467">
                <a:moveTo>
                  <a:pt x="2214436" y="1394467"/>
                </a:moveTo>
                <a:lnTo>
                  <a:pt x="0" y="1394467"/>
                </a:lnTo>
                <a:lnTo>
                  <a:pt x="35031" y="1347651"/>
                </a:lnTo>
                <a:cubicBezTo>
                  <a:pt x="519690" y="700253"/>
                  <a:pt x="956224" y="119198"/>
                  <a:pt x="995906" y="70861"/>
                </a:cubicBezTo>
                <a:lnTo>
                  <a:pt x="1056442" y="21133"/>
                </a:lnTo>
                <a:lnTo>
                  <a:pt x="1063614" y="13019"/>
                </a:lnTo>
                <a:lnTo>
                  <a:pt x="1068195" y="11479"/>
                </a:lnTo>
                <a:lnTo>
                  <a:pt x="1071789" y="8529"/>
                </a:lnTo>
                <a:lnTo>
                  <a:pt x="1085782" y="5569"/>
                </a:lnTo>
                <a:lnTo>
                  <a:pt x="1102347" y="0"/>
                </a:lnTo>
                <a:lnTo>
                  <a:pt x="1107227" y="1033"/>
                </a:lnTo>
                <a:lnTo>
                  <a:pt x="1112088" y="7"/>
                </a:lnTo>
                <a:lnTo>
                  <a:pt x="1128581" y="5551"/>
                </a:lnTo>
                <a:lnTo>
                  <a:pt x="1142646" y="8523"/>
                </a:lnTo>
                <a:lnTo>
                  <a:pt x="1146259" y="11490"/>
                </a:lnTo>
                <a:lnTo>
                  <a:pt x="1150821" y="13022"/>
                </a:lnTo>
                <a:lnTo>
                  <a:pt x="1157962" y="21106"/>
                </a:lnTo>
                <a:lnTo>
                  <a:pt x="1218528" y="70858"/>
                </a:lnTo>
                <a:cubicBezTo>
                  <a:pt x="1258209" y="119195"/>
                  <a:pt x="1694744" y="700250"/>
                  <a:pt x="2179402" y="1347649"/>
                </a:cubicBezTo>
                <a:lnTo>
                  <a:pt x="2214436" y="1394467"/>
                </a:lnTo>
                <a:close/>
              </a:path>
            </a:pathLst>
          </a:custGeom>
          <a:solidFill>
            <a:srgbClr val="FFCF01"/>
          </a:solidFill>
          <a:ln w="7620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u="sng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F894E4-CFE5-43D2-8592-9B84E62E18D4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>
            <a:lvl1pPr marL="457200" indent="-457200">
              <a:buFontTx/>
              <a:buBlip>
                <a:blip r:embed="rId2"/>
              </a:buBlip>
              <a:defRPr sz="24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outline</a:t>
            </a: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70331B1-FFFB-4301-A605-3A9757EB7299}"/>
              </a:ext>
            </a:extLst>
          </p:cNvPr>
          <p:cNvSpPr/>
          <p:nvPr userDrawn="1"/>
        </p:nvSpPr>
        <p:spPr>
          <a:xfrm rot="5400000" flipH="1" flipV="1">
            <a:off x="9978267" y="-122649"/>
            <a:ext cx="2705076" cy="1722389"/>
          </a:xfrm>
          <a:custGeom>
            <a:avLst/>
            <a:gdLst>
              <a:gd name="connsiteX0" fmla="*/ 2705076 w 2705076"/>
              <a:gd name="connsiteY0" fmla="*/ 1722389 h 1722389"/>
              <a:gd name="connsiteX1" fmla="*/ 0 w 2705076"/>
              <a:gd name="connsiteY1" fmla="*/ 1722389 h 1722389"/>
              <a:gd name="connsiteX2" fmla="*/ 70711 w 2705076"/>
              <a:gd name="connsiteY2" fmla="*/ 1627810 h 1722389"/>
              <a:gd name="connsiteX3" fmla="*/ 1241226 w 2705076"/>
              <a:gd name="connsiteY3" fmla="*/ 70861 h 1722389"/>
              <a:gd name="connsiteX4" fmla="*/ 1301762 w 2705076"/>
              <a:gd name="connsiteY4" fmla="*/ 21133 h 1722389"/>
              <a:gd name="connsiteX5" fmla="*/ 1308934 w 2705076"/>
              <a:gd name="connsiteY5" fmla="*/ 13019 h 1722389"/>
              <a:gd name="connsiteX6" fmla="*/ 1313515 w 2705076"/>
              <a:gd name="connsiteY6" fmla="*/ 11479 h 1722389"/>
              <a:gd name="connsiteX7" fmla="*/ 1317109 w 2705076"/>
              <a:gd name="connsiteY7" fmla="*/ 8529 h 1722389"/>
              <a:gd name="connsiteX8" fmla="*/ 1331102 w 2705076"/>
              <a:gd name="connsiteY8" fmla="*/ 5569 h 1722389"/>
              <a:gd name="connsiteX9" fmla="*/ 1347667 w 2705076"/>
              <a:gd name="connsiteY9" fmla="*/ 0 h 1722389"/>
              <a:gd name="connsiteX10" fmla="*/ 1352547 w 2705076"/>
              <a:gd name="connsiteY10" fmla="*/ 1033 h 1722389"/>
              <a:gd name="connsiteX11" fmla="*/ 1357408 w 2705076"/>
              <a:gd name="connsiteY11" fmla="*/ 7 h 1722389"/>
              <a:gd name="connsiteX12" fmla="*/ 1373901 w 2705076"/>
              <a:gd name="connsiteY12" fmla="*/ 5551 h 1722389"/>
              <a:gd name="connsiteX13" fmla="*/ 1387966 w 2705076"/>
              <a:gd name="connsiteY13" fmla="*/ 8523 h 1722389"/>
              <a:gd name="connsiteX14" fmla="*/ 1391579 w 2705076"/>
              <a:gd name="connsiteY14" fmla="*/ 11490 h 1722389"/>
              <a:gd name="connsiteX15" fmla="*/ 1396141 w 2705076"/>
              <a:gd name="connsiteY15" fmla="*/ 13022 h 1722389"/>
              <a:gd name="connsiteX16" fmla="*/ 1403282 w 2705076"/>
              <a:gd name="connsiteY16" fmla="*/ 21106 h 1722389"/>
              <a:gd name="connsiteX17" fmla="*/ 1463848 w 2705076"/>
              <a:gd name="connsiteY17" fmla="*/ 70858 h 1722389"/>
              <a:gd name="connsiteX18" fmla="*/ 2634364 w 2705076"/>
              <a:gd name="connsiteY18" fmla="*/ 1627808 h 1722389"/>
              <a:gd name="connsiteX19" fmla="*/ 2705076 w 2705076"/>
              <a:gd name="connsiteY19" fmla="*/ 1722389 h 17223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705076" h="1722389">
                <a:moveTo>
                  <a:pt x="2705076" y="1722389"/>
                </a:moveTo>
                <a:lnTo>
                  <a:pt x="0" y="1722389"/>
                </a:lnTo>
                <a:lnTo>
                  <a:pt x="70711" y="1627810"/>
                </a:lnTo>
                <a:cubicBezTo>
                  <a:pt x="632187" y="877140"/>
                  <a:pt x="1195876" y="126103"/>
                  <a:pt x="1241226" y="70861"/>
                </a:cubicBezTo>
                <a:lnTo>
                  <a:pt x="1301762" y="21133"/>
                </a:lnTo>
                <a:lnTo>
                  <a:pt x="1308934" y="13019"/>
                </a:lnTo>
                <a:lnTo>
                  <a:pt x="1313515" y="11479"/>
                </a:lnTo>
                <a:lnTo>
                  <a:pt x="1317109" y="8529"/>
                </a:lnTo>
                <a:lnTo>
                  <a:pt x="1331102" y="5569"/>
                </a:lnTo>
                <a:lnTo>
                  <a:pt x="1347667" y="0"/>
                </a:lnTo>
                <a:lnTo>
                  <a:pt x="1352547" y="1033"/>
                </a:lnTo>
                <a:lnTo>
                  <a:pt x="1357408" y="7"/>
                </a:lnTo>
                <a:lnTo>
                  <a:pt x="1373901" y="5551"/>
                </a:lnTo>
                <a:lnTo>
                  <a:pt x="1387966" y="8523"/>
                </a:lnTo>
                <a:lnTo>
                  <a:pt x="1391579" y="11490"/>
                </a:lnTo>
                <a:lnTo>
                  <a:pt x="1396141" y="13022"/>
                </a:lnTo>
                <a:lnTo>
                  <a:pt x="1403282" y="21106"/>
                </a:lnTo>
                <a:lnTo>
                  <a:pt x="1463848" y="70858"/>
                </a:lnTo>
                <a:cubicBezTo>
                  <a:pt x="1509198" y="126101"/>
                  <a:pt x="2072887" y="877137"/>
                  <a:pt x="2634364" y="1627808"/>
                </a:cubicBezTo>
                <a:lnTo>
                  <a:pt x="2705076" y="1722389"/>
                </a:lnTo>
                <a:close/>
              </a:path>
            </a:pathLst>
          </a:custGeom>
          <a:noFill/>
          <a:ln w="762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DEA0CD-2955-4BA1-A0B6-DD6C3D1C7731}"/>
              </a:ext>
            </a:extLst>
          </p:cNvPr>
          <p:cNvSpPr txBox="1"/>
          <p:nvPr userDrawn="1"/>
        </p:nvSpPr>
        <p:spPr>
          <a:xfrm>
            <a:off x="838200" y="472172"/>
            <a:ext cx="4610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gradFill flip="none" rotWithShape="1">
                  <a:gsLst>
                    <a:gs pos="0">
                      <a:srgbClr val="0065C9">
                        <a:shade val="30000"/>
                        <a:satMod val="115000"/>
                      </a:srgbClr>
                    </a:gs>
                    <a:gs pos="50000">
                      <a:srgbClr val="0065C9">
                        <a:shade val="67500"/>
                        <a:satMod val="115000"/>
                      </a:srgbClr>
                    </a:gs>
                    <a:gs pos="100000">
                      <a:srgbClr val="0065C9">
                        <a:shade val="100000"/>
                        <a:satMod val="115000"/>
                      </a:srgbClr>
                    </a:gs>
                  </a:gsLst>
                  <a:lin ang="2700000" scaled="1"/>
                  <a:tileRect/>
                </a:gra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Outline</a:t>
            </a:r>
            <a:endParaRPr lang="id-ID" sz="3200" b="1" dirty="0">
              <a:gradFill flip="none" rotWithShape="1">
                <a:gsLst>
                  <a:gs pos="0">
                    <a:srgbClr val="0065C9">
                      <a:shade val="30000"/>
                      <a:satMod val="115000"/>
                    </a:srgbClr>
                  </a:gs>
                  <a:gs pos="50000">
                    <a:srgbClr val="0065C9">
                      <a:shade val="67500"/>
                      <a:satMod val="115000"/>
                    </a:srgbClr>
                  </a:gs>
                  <a:gs pos="100000">
                    <a:srgbClr val="0065C9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9355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A2F07BC3-2298-4847-B738-42EFEC78F834}"/>
              </a:ext>
            </a:extLst>
          </p:cNvPr>
          <p:cNvSpPr/>
          <p:nvPr userDrawn="1"/>
        </p:nvSpPr>
        <p:spPr>
          <a:xfrm rot="16200000" flipH="1" flipV="1">
            <a:off x="-8270121" y="3426573"/>
            <a:ext cx="7061194" cy="4849"/>
          </a:xfrm>
          <a:custGeom>
            <a:avLst/>
            <a:gdLst>
              <a:gd name="connsiteX0" fmla="*/ 0 w 7061194"/>
              <a:gd name="connsiteY0" fmla="*/ 4849 h 4849"/>
              <a:gd name="connsiteX1" fmla="*/ 5 w 7061194"/>
              <a:gd name="connsiteY1" fmla="*/ 0 h 4849"/>
              <a:gd name="connsiteX2" fmla="*/ 7061189 w 7061194"/>
              <a:gd name="connsiteY2" fmla="*/ 0 h 4849"/>
              <a:gd name="connsiteX3" fmla="*/ 7061194 w 7061194"/>
              <a:gd name="connsiteY3" fmla="*/ 4849 h 4849"/>
              <a:gd name="connsiteX4" fmla="*/ 3358278 w 7061194"/>
              <a:gd name="connsiteY4" fmla="*/ 4849 h 4849"/>
              <a:gd name="connsiteX5" fmla="*/ 0 w 7061194"/>
              <a:gd name="connsiteY5" fmla="*/ 4849 h 4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1194" h="4849">
                <a:moveTo>
                  <a:pt x="0" y="4849"/>
                </a:moveTo>
                <a:lnTo>
                  <a:pt x="5" y="0"/>
                </a:lnTo>
                <a:lnTo>
                  <a:pt x="7061189" y="0"/>
                </a:lnTo>
                <a:lnTo>
                  <a:pt x="7061194" y="4849"/>
                </a:lnTo>
                <a:lnTo>
                  <a:pt x="3358278" y="4849"/>
                </a:lnTo>
                <a:lnTo>
                  <a:pt x="0" y="4849"/>
                </a:lnTo>
                <a:close/>
              </a:path>
            </a:pathLst>
          </a:custGeom>
          <a:gradFill flip="none" rotWithShape="1">
            <a:gsLst>
              <a:gs pos="38000">
                <a:srgbClr val="0065C9"/>
              </a:gs>
              <a:gs pos="100000">
                <a:srgbClr val="12376F"/>
              </a:gs>
              <a:gs pos="0">
                <a:srgbClr val="0065C9"/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B91306D-3196-4345-BAF1-4168B36E0294}"/>
              </a:ext>
            </a:extLst>
          </p:cNvPr>
          <p:cNvSpPr/>
          <p:nvPr userDrawn="1"/>
        </p:nvSpPr>
        <p:spPr>
          <a:xfrm rot="16200000" flipH="1" flipV="1">
            <a:off x="-1865943" y="2425335"/>
            <a:ext cx="5729518" cy="2007333"/>
          </a:xfrm>
          <a:custGeom>
            <a:avLst/>
            <a:gdLst>
              <a:gd name="connsiteX0" fmla="*/ 0 w 5729518"/>
              <a:gd name="connsiteY0" fmla="*/ 2007333 h 2007333"/>
              <a:gd name="connsiteX1" fmla="*/ 7804 w 5729518"/>
              <a:gd name="connsiteY1" fmla="*/ 2001665 h 2007333"/>
              <a:gd name="connsiteX2" fmla="*/ 2720529 w 5729518"/>
              <a:gd name="connsiteY2" fmla="*/ 49508 h 2007333"/>
              <a:gd name="connsiteX3" fmla="*/ 2798967 w 5729518"/>
              <a:gd name="connsiteY3" fmla="*/ 14764 h 2007333"/>
              <a:gd name="connsiteX4" fmla="*/ 2808260 w 5729518"/>
              <a:gd name="connsiteY4" fmla="*/ 9095 h 2007333"/>
              <a:gd name="connsiteX5" fmla="*/ 2814195 w 5729518"/>
              <a:gd name="connsiteY5" fmla="*/ 8019 h 2007333"/>
              <a:gd name="connsiteX6" fmla="*/ 2818851 w 5729518"/>
              <a:gd name="connsiteY6" fmla="*/ 5958 h 2007333"/>
              <a:gd name="connsiteX7" fmla="*/ 2836982 w 5729518"/>
              <a:gd name="connsiteY7" fmla="*/ 3890 h 2007333"/>
              <a:gd name="connsiteX8" fmla="*/ 2858445 w 5729518"/>
              <a:gd name="connsiteY8" fmla="*/ 0 h 2007333"/>
              <a:gd name="connsiteX9" fmla="*/ 2864770 w 5729518"/>
              <a:gd name="connsiteY9" fmla="*/ 721 h 2007333"/>
              <a:gd name="connsiteX10" fmla="*/ 2871068 w 5729518"/>
              <a:gd name="connsiteY10" fmla="*/ 4 h 2007333"/>
              <a:gd name="connsiteX11" fmla="*/ 2892438 w 5729518"/>
              <a:gd name="connsiteY11" fmla="*/ 3877 h 2007333"/>
              <a:gd name="connsiteX12" fmla="*/ 2910662 w 5729518"/>
              <a:gd name="connsiteY12" fmla="*/ 5954 h 2007333"/>
              <a:gd name="connsiteX13" fmla="*/ 2915344 w 5729518"/>
              <a:gd name="connsiteY13" fmla="*/ 8027 h 2007333"/>
              <a:gd name="connsiteX14" fmla="*/ 2921255 w 5729518"/>
              <a:gd name="connsiteY14" fmla="*/ 9097 h 2007333"/>
              <a:gd name="connsiteX15" fmla="*/ 2930508 w 5729518"/>
              <a:gd name="connsiteY15" fmla="*/ 14745 h 2007333"/>
              <a:gd name="connsiteX16" fmla="*/ 3008984 w 5729518"/>
              <a:gd name="connsiteY16" fmla="*/ 49506 h 2007333"/>
              <a:gd name="connsiteX17" fmla="*/ 5721711 w 5729518"/>
              <a:gd name="connsiteY17" fmla="*/ 2001663 h 2007333"/>
              <a:gd name="connsiteX18" fmla="*/ 5729518 w 5729518"/>
              <a:gd name="connsiteY18" fmla="*/ 2007333 h 2007333"/>
              <a:gd name="connsiteX19" fmla="*/ 0 w 5729518"/>
              <a:gd name="connsiteY19" fmla="*/ 2007333 h 200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729518" h="2007333">
                <a:moveTo>
                  <a:pt x="0" y="2007333"/>
                </a:moveTo>
                <a:lnTo>
                  <a:pt x="7804" y="2001665"/>
                </a:lnTo>
                <a:cubicBezTo>
                  <a:pt x="756050" y="1458654"/>
                  <a:pt x="2625042" y="112228"/>
                  <a:pt x="2720529" y="49508"/>
                </a:cubicBezTo>
                <a:lnTo>
                  <a:pt x="2798967" y="14764"/>
                </a:lnTo>
                <a:lnTo>
                  <a:pt x="2808260" y="9095"/>
                </a:lnTo>
                <a:lnTo>
                  <a:pt x="2814195" y="8019"/>
                </a:lnTo>
                <a:lnTo>
                  <a:pt x="2818851" y="5958"/>
                </a:lnTo>
                <a:lnTo>
                  <a:pt x="2836982" y="3890"/>
                </a:lnTo>
                <a:lnTo>
                  <a:pt x="2858445" y="0"/>
                </a:lnTo>
                <a:lnTo>
                  <a:pt x="2864770" y="721"/>
                </a:lnTo>
                <a:lnTo>
                  <a:pt x="2871068" y="4"/>
                </a:lnTo>
                <a:lnTo>
                  <a:pt x="2892438" y="3877"/>
                </a:lnTo>
                <a:lnTo>
                  <a:pt x="2910662" y="5954"/>
                </a:lnTo>
                <a:lnTo>
                  <a:pt x="2915344" y="8027"/>
                </a:lnTo>
                <a:lnTo>
                  <a:pt x="2921255" y="9097"/>
                </a:lnTo>
                <a:lnTo>
                  <a:pt x="2930508" y="14745"/>
                </a:lnTo>
                <a:lnTo>
                  <a:pt x="3008984" y="49506"/>
                </a:lnTo>
                <a:cubicBezTo>
                  <a:pt x="3104472" y="112226"/>
                  <a:pt x="4973464" y="1458652"/>
                  <a:pt x="5721711" y="2001663"/>
                </a:cubicBezTo>
                <a:lnTo>
                  <a:pt x="5729518" y="2007333"/>
                </a:lnTo>
                <a:lnTo>
                  <a:pt x="0" y="2007333"/>
                </a:lnTo>
                <a:close/>
              </a:path>
            </a:pathLst>
          </a:custGeom>
          <a:gradFill flip="none" rotWithShape="1">
            <a:gsLst>
              <a:gs pos="38000">
                <a:srgbClr val="0065C9"/>
              </a:gs>
              <a:gs pos="100000">
                <a:srgbClr val="12376F"/>
              </a:gs>
              <a:gs pos="0">
                <a:srgbClr val="0065C9"/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D0175CF-7977-4EC4-9056-949877968CF8}"/>
              </a:ext>
            </a:extLst>
          </p:cNvPr>
          <p:cNvSpPr/>
          <p:nvPr userDrawn="1"/>
        </p:nvSpPr>
        <p:spPr>
          <a:xfrm rot="16200000" flipH="1" flipV="1">
            <a:off x="-2233072" y="2115445"/>
            <a:ext cx="6925945" cy="2627101"/>
          </a:xfrm>
          <a:custGeom>
            <a:avLst/>
            <a:gdLst>
              <a:gd name="connsiteX0" fmla="*/ 0 w 6925945"/>
              <a:gd name="connsiteY0" fmla="*/ 2627101 h 2627101"/>
              <a:gd name="connsiteX1" fmla="*/ 9638 w 6925945"/>
              <a:gd name="connsiteY1" fmla="*/ 2575348 h 2627101"/>
              <a:gd name="connsiteX2" fmla="*/ 278795 w 6925945"/>
              <a:gd name="connsiteY2" fmla="*/ 2223589 h 2627101"/>
              <a:gd name="connsiteX3" fmla="*/ 3317656 w 6925945"/>
              <a:gd name="connsiteY3" fmla="*/ 49508 h 2627101"/>
              <a:gd name="connsiteX4" fmla="*/ 3396685 w 6925945"/>
              <a:gd name="connsiteY4" fmla="*/ 14764 h 2627101"/>
              <a:gd name="connsiteX5" fmla="*/ 3406048 w 6925945"/>
              <a:gd name="connsiteY5" fmla="*/ 9095 h 2627101"/>
              <a:gd name="connsiteX6" fmla="*/ 3412029 w 6925945"/>
              <a:gd name="connsiteY6" fmla="*/ 8019 h 2627101"/>
              <a:gd name="connsiteX7" fmla="*/ 3416720 w 6925945"/>
              <a:gd name="connsiteY7" fmla="*/ 5958 h 2627101"/>
              <a:gd name="connsiteX8" fmla="*/ 3434988 w 6925945"/>
              <a:gd name="connsiteY8" fmla="*/ 3890 h 2627101"/>
              <a:gd name="connsiteX9" fmla="*/ 3456613 w 6925945"/>
              <a:gd name="connsiteY9" fmla="*/ 0 h 2627101"/>
              <a:gd name="connsiteX10" fmla="*/ 3462985 w 6925945"/>
              <a:gd name="connsiteY10" fmla="*/ 721 h 2627101"/>
              <a:gd name="connsiteX11" fmla="*/ 3469331 w 6925945"/>
              <a:gd name="connsiteY11" fmla="*/ 4 h 2627101"/>
              <a:gd name="connsiteX12" fmla="*/ 3490862 w 6925945"/>
              <a:gd name="connsiteY12" fmla="*/ 3877 h 2627101"/>
              <a:gd name="connsiteX13" fmla="*/ 3509224 w 6925945"/>
              <a:gd name="connsiteY13" fmla="*/ 5954 h 2627101"/>
              <a:gd name="connsiteX14" fmla="*/ 3513940 w 6925945"/>
              <a:gd name="connsiteY14" fmla="*/ 8027 h 2627101"/>
              <a:gd name="connsiteX15" fmla="*/ 3519896 w 6925945"/>
              <a:gd name="connsiteY15" fmla="*/ 9097 h 2627101"/>
              <a:gd name="connsiteX16" fmla="*/ 3529218 w 6925945"/>
              <a:gd name="connsiteY16" fmla="*/ 14745 h 2627101"/>
              <a:gd name="connsiteX17" fmla="*/ 3608287 w 6925945"/>
              <a:gd name="connsiteY17" fmla="*/ 49506 h 2627101"/>
              <a:gd name="connsiteX18" fmla="*/ 6647151 w 6925945"/>
              <a:gd name="connsiteY18" fmla="*/ 2223588 h 2627101"/>
              <a:gd name="connsiteX19" fmla="*/ 6916307 w 6925945"/>
              <a:gd name="connsiteY19" fmla="*/ 2575346 h 2627101"/>
              <a:gd name="connsiteX20" fmla="*/ 6925945 w 6925945"/>
              <a:gd name="connsiteY20" fmla="*/ 2627101 h 2627101"/>
              <a:gd name="connsiteX21" fmla="*/ 0 w 6925945"/>
              <a:gd name="connsiteY21" fmla="*/ 2627101 h 2627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925945" h="2627101">
                <a:moveTo>
                  <a:pt x="0" y="2627101"/>
                </a:moveTo>
                <a:lnTo>
                  <a:pt x="9638" y="2575348"/>
                </a:lnTo>
                <a:cubicBezTo>
                  <a:pt x="67813" y="2364961"/>
                  <a:pt x="207322" y="2279948"/>
                  <a:pt x="278795" y="2223589"/>
                </a:cubicBezTo>
                <a:cubicBezTo>
                  <a:pt x="374090" y="2148445"/>
                  <a:pt x="3199247" y="126702"/>
                  <a:pt x="3317656" y="49508"/>
                </a:cubicBezTo>
                <a:lnTo>
                  <a:pt x="3396685" y="14764"/>
                </a:lnTo>
                <a:lnTo>
                  <a:pt x="3406048" y="9095"/>
                </a:lnTo>
                <a:lnTo>
                  <a:pt x="3412029" y="8019"/>
                </a:lnTo>
                <a:lnTo>
                  <a:pt x="3416720" y="5958"/>
                </a:lnTo>
                <a:lnTo>
                  <a:pt x="3434988" y="3890"/>
                </a:lnTo>
                <a:lnTo>
                  <a:pt x="3456613" y="0"/>
                </a:lnTo>
                <a:lnTo>
                  <a:pt x="3462985" y="721"/>
                </a:lnTo>
                <a:lnTo>
                  <a:pt x="3469331" y="4"/>
                </a:lnTo>
                <a:lnTo>
                  <a:pt x="3490862" y="3877"/>
                </a:lnTo>
                <a:lnTo>
                  <a:pt x="3509224" y="5954"/>
                </a:lnTo>
                <a:lnTo>
                  <a:pt x="3513940" y="8027"/>
                </a:lnTo>
                <a:lnTo>
                  <a:pt x="3519896" y="9097"/>
                </a:lnTo>
                <a:lnTo>
                  <a:pt x="3529218" y="14745"/>
                </a:lnTo>
                <a:lnTo>
                  <a:pt x="3608287" y="49506"/>
                </a:lnTo>
                <a:cubicBezTo>
                  <a:pt x="3726696" y="126700"/>
                  <a:pt x="6551855" y="2148444"/>
                  <a:pt x="6647151" y="2223588"/>
                </a:cubicBezTo>
                <a:cubicBezTo>
                  <a:pt x="6718623" y="2279947"/>
                  <a:pt x="6858133" y="2364960"/>
                  <a:pt x="6916307" y="2575346"/>
                </a:cubicBezTo>
                <a:lnTo>
                  <a:pt x="6925945" y="2627101"/>
                </a:lnTo>
                <a:lnTo>
                  <a:pt x="0" y="2627101"/>
                </a:lnTo>
                <a:close/>
              </a:path>
            </a:pathLst>
          </a:custGeom>
          <a:noFill/>
          <a:ln w="762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graphicFrame>
        <p:nvGraphicFramePr>
          <p:cNvPr id="68" name="Object 67">
            <a:extLst>
              <a:ext uri="{FF2B5EF4-FFF2-40B4-BE49-F238E27FC236}">
                <a16:creationId xmlns:a16="http://schemas.microsoft.com/office/drawing/2014/main" id="{9101A2CD-836D-4B3D-92AA-28EB2FF68F94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596329282"/>
              </p:ext>
            </p:extLst>
          </p:nvPr>
        </p:nvGraphicFramePr>
        <p:xfrm>
          <a:off x="118382" y="2764632"/>
          <a:ext cx="1184680" cy="1328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CorelDRAW" r:id="rId3" imgW="15282000" imgH="17103600" progId="CorelDraw.Graphic.21">
                  <p:embed/>
                </p:oleObj>
              </mc:Choice>
              <mc:Fallback>
                <p:oleObj name="CorelDRAW" r:id="rId3" imgW="15282000" imgH="17103600" progId="CorelDraw.Graphic.21">
                  <p:embed/>
                  <p:pic>
                    <p:nvPicPr>
                      <p:cNvPr id="68" name="Object 67">
                        <a:extLst>
                          <a:ext uri="{FF2B5EF4-FFF2-40B4-BE49-F238E27FC236}">
                            <a16:creationId xmlns:a16="http://schemas.microsoft.com/office/drawing/2014/main" id="{9101A2CD-836D-4B3D-92AA-28EB2FF68F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382" y="2764632"/>
                        <a:ext cx="1184680" cy="13287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A6981CB0-B13E-4126-8916-85F89BF9C9E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701906" y="2237509"/>
            <a:ext cx="8651894" cy="2382982"/>
          </a:xfrm>
        </p:spPr>
        <p:txBody>
          <a:bodyPr anchor="ctr">
            <a:normAutofit/>
          </a:bodyPr>
          <a:lstStyle>
            <a:lvl1pPr>
              <a:defRPr sz="3600" b="1">
                <a:solidFill>
                  <a:srgbClr val="0065C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Subjudul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6115339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 dan isi Halam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CA989C6-6024-45EA-932B-2EFCEFE3DDFF}"/>
              </a:ext>
            </a:extLst>
          </p:cNvPr>
          <p:cNvSpPr/>
          <p:nvPr userDrawn="1"/>
        </p:nvSpPr>
        <p:spPr>
          <a:xfrm rot="5400000" flipH="1">
            <a:off x="10357658" y="-1468799"/>
            <a:ext cx="4710" cy="2907137"/>
          </a:xfrm>
          <a:custGeom>
            <a:avLst/>
            <a:gdLst>
              <a:gd name="connsiteX0" fmla="*/ 4710 w 4710"/>
              <a:gd name="connsiteY0" fmla="*/ 42075 h 2907137"/>
              <a:gd name="connsiteX1" fmla="*/ 993 w 4710"/>
              <a:gd name="connsiteY1" fmla="*/ 269 h 2907137"/>
              <a:gd name="connsiteX2" fmla="*/ 920 w 4710"/>
              <a:gd name="connsiteY2" fmla="*/ 0 h 2907137"/>
              <a:gd name="connsiteX3" fmla="*/ 619 w 4710"/>
              <a:gd name="connsiteY3" fmla="*/ 387549 h 2907137"/>
              <a:gd name="connsiteX4" fmla="*/ 2008 w 4710"/>
              <a:gd name="connsiteY4" fmla="*/ 403275 h 2907137"/>
              <a:gd name="connsiteX5" fmla="*/ 0 w 4710"/>
              <a:gd name="connsiteY5" fmla="*/ 2907137 h 2907137"/>
              <a:gd name="connsiteX6" fmla="*/ 2398 w 4710"/>
              <a:gd name="connsiteY6" fmla="*/ 2907137 h 2907137"/>
              <a:gd name="connsiteX7" fmla="*/ 4710 w 4710"/>
              <a:gd name="connsiteY7" fmla="*/ 42075 h 2907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10" h="2907137">
                <a:moveTo>
                  <a:pt x="4710" y="42075"/>
                </a:moveTo>
                <a:cubicBezTo>
                  <a:pt x="4344" y="26057"/>
                  <a:pt x="3051" y="12198"/>
                  <a:pt x="993" y="269"/>
                </a:cubicBezTo>
                <a:lnTo>
                  <a:pt x="920" y="0"/>
                </a:lnTo>
                <a:lnTo>
                  <a:pt x="619" y="387549"/>
                </a:lnTo>
                <a:lnTo>
                  <a:pt x="2008" y="403275"/>
                </a:lnTo>
                <a:lnTo>
                  <a:pt x="0" y="2907137"/>
                </a:lnTo>
                <a:lnTo>
                  <a:pt x="2398" y="2907137"/>
                </a:lnTo>
                <a:lnTo>
                  <a:pt x="4710" y="420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28" name="Right Triangle 4">
            <a:extLst>
              <a:ext uri="{FF2B5EF4-FFF2-40B4-BE49-F238E27FC236}">
                <a16:creationId xmlns:a16="http://schemas.microsoft.com/office/drawing/2014/main" id="{730BF63C-6716-4912-AE62-52D0F6B2F808}"/>
              </a:ext>
            </a:extLst>
          </p:cNvPr>
          <p:cNvSpPr/>
          <p:nvPr userDrawn="1"/>
        </p:nvSpPr>
        <p:spPr>
          <a:xfrm flipV="1">
            <a:off x="-3006" y="-4889"/>
            <a:ext cx="4365456" cy="970232"/>
          </a:xfrm>
          <a:custGeom>
            <a:avLst/>
            <a:gdLst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4636689 w 4636689"/>
              <a:gd name="connsiteY2" fmla="*/ 2605556 h 2605556"/>
              <a:gd name="connsiteX3" fmla="*/ 0 w 4636689"/>
              <a:gd name="connsiteY3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5482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25646 h 2625646"/>
              <a:gd name="connsiteX1" fmla="*/ 0 w 4636689"/>
              <a:gd name="connsiteY1" fmla="*/ 20090 h 2625646"/>
              <a:gd name="connsiteX2" fmla="*/ 1766489 w 4636689"/>
              <a:gd name="connsiteY2" fmla="*/ 1466772 h 2625646"/>
              <a:gd name="connsiteX3" fmla="*/ 4636689 w 4636689"/>
              <a:gd name="connsiteY3" fmla="*/ 2625646 h 2625646"/>
              <a:gd name="connsiteX4" fmla="*/ 0 w 4636689"/>
              <a:gd name="connsiteY4" fmla="*/ 2625646 h 262564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31589 w 4636689"/>
              <a:gd name="connsiteY2" fmla="*/ 15609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6689" h="2605556">
                <a:moveTo>
                  <a:pt x="0" y="2605556"/>
                </a:moveTo>
                <a:lnTo>
                  <a:pt x="0" y="0"/>
                </a:lnTo>
                <a:cubicBezTo>
                  <a:pt x="332515" y="352954"/>
                  <a:pt x="1012956" y="1086929"/>
                  <a:pt x="1969689" y="1573682"/>
                </a:cubicBezTo>
                <a:cubicBezTo>
                  <a:pt x="2926422" y="2060435"/>
                  <a:pt x="3646412" y="2362876"/>
                  <a:pt x="4636689" y="2605556"/>
                </a:cubicBezTo>
                <a:lnTo>
                  <a:pt x="0" y="2605556"/>
                </a:lnTo>
                <a:close/>
              </a:path>
            </a:pathLst>
          </a:custGeom>
          <a:solidFill>
            <a:srgbClr val="FFCF0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" name="Right Triangle 4">
            <a:extLst>
              <a:ext uri="{FF2B5EF4-FFF2-40B4-BE49-F238E27FC236}">
                <a16:creationId xmlns:a16="http://schemas.microsoft.com/office/drawing/2014/main" id="{2D230290-208F-4D3E-8BF4-5D87735E99D4}"/>
              </a:ext>
            </a:extLst>
          </p:cNvPr>
          <p:cNvSpPr/>
          <p:nvPr userDrawn="1"/>
        </p:nvSpPr>
        <p:spPr>
          <a:xfrm flipV="1">
            <a:off x="-3005" y="-17587"/>
            <a:ext cx="2390605" cy="963882"/>
          </a:xfrm>
          <a:custGeom>
            <a:avLst/>
            <a:gdLst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4636689 w 4636689"/>
              <a:gd name="connsiteY2" fmla="*/ 2605556 h 2605556"/>
              <a:gd name="connsiteX3" fmla="*/ 0 w 4636689"/>
              <a:gd name="connsiteY3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5482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25646 h 2625646"/>
              <a:gd name="connsiteX1" fmla="*/ 0 w 4636689"/>
              <a:gd name="connsiteY1" fmla="*/ 20090 h 2625646"/>
              <a:gd name="connsiteX2" fmla="*/ 1766489 w 4636689"/>
              <a:gd name="connsiteY2" fmla="*/ 1466772 h 2625646"/>
              <a:gd name="connsiteX3" fmla="*/ 4636689 w 4636689"/>
              <a:gd name="connsiteY3" fmla="*/ 2625646 h 2625646"/>
              <a:gd name="connsiteX4" fmla="*/ 0 w 4636689"/>
              <a:gd name="connsiteY4" fmla="*/ 2625646 h 262564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31589 w 4636689"/>
              <a:gd name="connsiteY2" fmla="*/ 15609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6689" h="2605556">
                <a:moveTo>
                  <a:pt x="0" y="2605556"/>
                </a:moveTo>
                <a:lnTo>
                  <a:pt x="0" y="0"/>
                </a:lnTo>
                <a:cubicBezTo>
                  <a:pt x="332515" y="352954"/>
                  <a:pt x="1012956" y="1086929"/>
                  <a:pt x="1969689" y="1573682"/>
                </a:cubicBezTo>
                <a:cubicBezTo>
                  <a:pt x="2926422" y="2060435"/>
                  <a:pt x="3646412" y="2362876"/>
                  <a:pt x="4636689" y="2605556"/>
                </a:cubicBezTo>
                <a:lnTo>
                  <a:pt x="0" y="2605556"/>
                </a:lnTo>
                <a:close/>
              </a:path>
            </a:pathLst>
          </a:custGeom>
          <a:gradFill flip="none" rotWithShape="1">
            <a:gsLst>
              <a:gs pos="0">
                <a:srgbClr val="0065C9"/>
              </a:gs>
              <a:gs pos="39000">
                <a:srgbClr val="0065C9"/>
              </a:gs>
              <a:gs pos="100000">
                <a:srgbClr val="103B77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CC9AE27B-B642-490F-8E3D-54769EF9944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38200" y="365126"/>
            <a:ext cx="10515600" cy="771699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0065C9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Halaman</a:t>
            </a:r>
            <a:endParaRPr lang="id-ID" dirty="0"/>
          </a:p>
        </p:txBody>
      </p:sp>
      <p:sp>
        <p:nvSpPr>
          <p:cNvPr id="35" name="Right Triangle 4">
            <a:extLst>
              <a:ext uri="{FF2B5EF4-FFF2-40B4-BE49-F238E27FC236}">
                <a16:creationId xmlns:a16="http://schemas.microsoft.com/office/drawing/2014/main" id="{8D7A4B4D-08B6-4C44-9FC2-73C21E5FB550}"/>
              </a:ext>
            </a:extLst>
          </p:cNvPr>
          <p:cNvSpPr/>
          <p:nvPr userDrawn="1"/>
        </p:nvSpPr>
        <p:spPr>
          <a:xfrm flipH="1">
            <a:off x="8507764" y="5911700"/>
            <a:ext cx="3684230" cy="946299"/>
          </a:xfrm>
          <a:custGeom>
            <a:avLst/>
            <a:gdLst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4636689 w 4636689"/>
              <a:gd name="connsiteY2" fmla="*/ 2605556 h 2605556"/>
              <a:gd name="connsiteX3" fmla="*/ 0 w 4636689"/>
              <a:gd name="connsiteY3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5482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25646 h 2625646"/>
              <a:gd name="connsiteX1" fmla="*/ 0 w 4636689"/>
              <a:gd name="connsiteY1" fmla="*/ 20090 h 2625646"/>
              <a:gd name="connsiteX2" fmla="*/ 1766489 w 4636689"/>
              <a:gd name="connsiteY2" fmla="*/ 1466772 h 2625646"/>
              <a:gd name="connsiteX3" fmla="*/ 4636689 w 4636689"/>
              <a:gd name="connsiteY3" fmla="*/ 2625646 h 2625646"/>
              <a:gd name="connsiteX4" fmla="*/ 0 w 4636689"/>
              <a:gd name="connsiteY4" fmla="*/ 2625646 h 262564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31589 w 4636689"/>
              <a:gd name="connsiteY2" fmla="*/ 15609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6689" h="2605556">
                <a:moveTo>
                  <a:pt x="0" y="2605556"/>
                </a:moveTo>
                <a:lnTo>
                  <a:pt x="0" y="0"/>
                </a:lnTo>
                <a:cubicBezTo>
                  <a:pt x="332515" y="352954"/>
                  <a:pt x="1012956" y="1086929"/>
                  <a:pt x="1969689" y="1573682"/>
                </a:cubicBezTo>
                <a:cubicBezTo>
                  <a:pt x="2926422" y="2060435"/>
                  <a:pt x="3646412" y="2362876"/>
                  <a:pt x="4636689" y="2605556"/>
                </a:cubicBezTo>
                <a:lnTo>
                  <a:pt x="0" y="260555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4" name="Right Triangle 4">
            <a:extLst>
              <a:ext uri="{FF2B5EF4-FFF2-40B4-BE49-F238E27FC236}">
                <a16:creationId xmlns:a16="http://schemas.microsoft.com/office/drawing/2014/main" id="{E3329A39-8519-4A36-8753-D97804EDA78D}"/>
              </a:ext>
            </a:extLst>
          </p:cNvPr>
          <p:cNvSpPr/>
          <p:nvPr userDrawn="1"/>
        </p:nvSpPr>
        <p:spPr>
          <a:xfrm flipH="1">
            <a:off x="8507767" y="6155654"/>
            <a:ext cx="3684230" cy="702345"/>
          </a:xfrm>
          <a:custGeom>
            <a:avLst/>
            <a:gdLst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4636689 w 4636689"/>
              <a:gd name="connsiteY2" fmla="*/ 2605556 h 2605556"/>
              <a:gd name="connsiteX3" fmla="*/ 0 w 4636689"/>
              <a:gd name="connsiteY3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5482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25646 h 2625646"/>
              <a:gd name="connsiteX1" fmla="*/ 0 w 4636689"/>
              <a:gd name="connsiteY1" fmla="*/ 20090 h 2625646"/>
              <a:gd name="connsiteX2" fmla="*/ 1766489 w 4636689"/>
              <a:gd name="connsiteY2" fmla="*/ 1466772 h 2625646"/>
              <a:gd name="connsiteX3" fmla="*/ 4636689 w 4636689"/>
              <a:gd name="connsiteY3" fmla="*/ 2625646 h 2625646"/>
              <a:gd name="connsiteX4" fmla="*/ 0 w 4636689"/>
              <a:gd name="connsiteY4" fmla="*/ 2625646 h 262564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31589 w 4636689"/>
              <a:gd name="connsiteY2" fmla="*/ 15609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6689" h="2605556">
                <a:moveTo>
                  <a:pt x="0" y="2605556"/>
                </a:moveTo>
                <a:lnTo>
                  <a:pt x="0" y="0"/>
                </a:lnTo>
                <a:cubicBezTo>
                  <a:pt x="332515" y="352954"/>
                  <a:pt x="1012956" y="1086929"/>
                  <a:pt x="1969689" y="1573682"/>
                </a:cubicBezTo>
                <a:cubicBezTo>
                  <a:pt x="2926422" y="2060435"/>
                  <a:pt x="3646412" y="2362876"/>
                  <a:pt x="4636689" y="2605556"/>
                </a:cubicBezTo>
                <a:lnTo>
                  <a:pt x="0" y="26055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3" name="Right Triangle 4">
            <a:extLst>
              <a:ext uri="{FF2B5EF4-FFF2-40B4-BE49-F238E27FC236}">
                <a16:creationId xmlns:a16="http://schemas.microsoft.com/office/drawing/2014/main" id="{DAB4B218-085E-409E-87F6-2D5DEA574321}"/>
              </a:ext>
            </a:extLst>
          </p:cNvPr>
          <p:cNvSpPr/>
          <p:nvPr userDrawn="1"/>
        </p:nvSpPr>
        <p:spPr>
          <a:xfrm flipH="1">
            <a:off x="8507768" y="6350000"/>
            <a:ext cx="3684230" cy="507999"/>
          </a:xfrm>
          <a:custGeom>
            <a:avLst/>
            <a:gdLst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4636689 w 4636689"/>
              <a:gd name="connsiteY2" fmla="*/ 2605556 h 2605556"/>
              <a:gd name="connsiteX3" fmla="*/ 0 w 4636689"/>
              <a:gd name="connsiteY3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5482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25646 h 2625646"/>
              <a:gd name="connsiteX1" fmla="*/ 0 w 4636689"/>
              <a:gd name="connsiteY1" fmla="*/ 20090 h 2625646"/>
              <a:gd name="connsiteX2" fmla="*/ 1766489 w 4636689"/>
              <a:gd name="connsiteY2" fmla="*/ 1466772 h 2625646"/>
              <a:gd name="connsiteX3" fmla="*/ 4636689 w 4636689"/>
              <a:gd name="connsiteY3" fmla="*/ 2625646 h 2625646"/>
              <a:gd name="connsiteX4" fmla="*/ 0 w 4636689"/>
              <a:gd name="connsiteY4" fmla="*/ 2625646 h 262564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766489 w 4636689"/>
              <a:gd name="connsiteY2" fmla="*/ 1446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31589 w 4636689"/>
              <a:gd name="connsiteY2" fmla="*/ 15609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  <a:gd name="connsiteX0" fmla="*/ 0 w 4636689"/>
              <a:gd name="connsiteY0" fmla="*/ 2605556 h 2605556"/>
              <a:gd name="connsiteX1" fmla="*/ 0 w 4636689"/>
              <a:gd name="connsiteY1" fmla="*/ 0 h 2605556"/>
              <a:gd name="connsiteX2" fmla="*/ 1969689 w 4636689"/>
              <a:gd name="connsiteY2" fmla="*/ 1573682 h 2605556"/>
              <a:gd name="connsiteX3" fmla="*/ 4636689 w 4636689"/>
              <a:gd name="connsiteY3" fmla="*/ 2605556 h 2605556"/>
              <a:gd name="connsiteX4" fmla="*/ 0 w 4636689"/>
              <a:gd name="connsiteY4" fmla="*/ 2605556 h 260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6689" h="2605556">
                <a:moveTo>
                  <a:pt x="0" y="2605556"/>
                </a:moveTo>
                <a:lnTo>
                  <a:pt x="0" y="0"/>
                </a:lnTo>
                <a:cubicBezTo>
                  <a:pt x="332515" y="352954"/>
                  <a:pt x="1012956" y="1086929"/>
                  <a:pt x="1969689" y="1573682"/>
                </a:cubicBezTo>
                <a:cubicBezTo>
                  <a:pt x="2926422" y="2060435"/>
                  <a:pt x="3646412" y="2362876"/>
                  <a:pt x="4636689" y="2605556"/>
                </a:cubicBezTo>
                <a:lnTo>
                  <a:pt x="0" y="260555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FE613-F613-4273-BE1C-980D72D75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1176" y="6421436"/>
            <a:ext cx="457200" cy="365125"/>
          </a:xfrm>
        </p:spPr>
        <p:txBody>
          <a:bodyPr anchor="b"/>
          <a:lstStyle>
            <a:lvl1pPr>
              <a:defRPr sz="1600" b="1">
                <a:gradFill>
                  <a:gsLst>
                    <a:gs pos="38000">
                      <a:srgbClr val="0065C9"/>
                    </a:gs>
                    <a:gs pos="100000">
                      <a:srgbClr val="12376F"/>
                    </a:gs>
                    <a:gs pos="0">
                      <a:srgbClr val="0065C9"/>
                    </a:gs>
                  </a:gsLst>
                  <a:lin ang="5400000" scaled="1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D9D9FAAE-9DAC-45BF-BE92-87F691D35204}" type="slidenum">
              <a:rPr lang="id-ID" smtClean="0"/>
              <a:pPr/>
              <a:t>‹#›</a:t>
            </a:fld>
            <a:endParaRPr lang="id-ID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85C5038-839E-44DD-96BE-F562E43398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4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err="1"/>
              <a:t>Klik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menambahkan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halaman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975246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nut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0B9978-EA79-468F-915A-8DDE3978FFA3}"/>
              </a:ext>
            </a:extLst>
          </p:cNvPr>
          <p:cNvSpPr txBox="1"/>
          <p:nvPr userDrawn="1"/>
        </p:nvSpPr>
        <p:spPr>
          <a:xfrm>
            <a:off x="2406768" y="2852784"/>
            <a:ext cx="73784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TERIMA</a:t>
            </a:r>
            <a:r>
              <a:rPr lang="en-US" sz="6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rPr>
              <a:t> KASIH</a:t>
            </a:r>
            <a:endParaRPr lang="id-ID" sz="66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ea typeface="Verdana" panose="020B0604030504040204" pitchFamily="34" charset="0"/>
              <a:cs typeface="Segoe UI" panose="020B0502040204020203" pitchFamily="34" charset="0"/>
            </a:endParaRPr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7AB8AE77-07C9-4B62-A334-9CE125520E79}"/>
              </a:ext>
            </a:extLst>
          </p:cNvPr>
          <p:cNvSpPr/>
          <p:nvPr userDrawn="1"/>
        </p:nvSpPr>
        <p:spPr>
          <a:xfrm rot="16200000" flipH="1" flipV="1">
            <a:off x="-1437118" y="2642553"/>
            <a:ext cx="4402695" cy="1528459"/>
          </a:xfrm>
          <a:custGeom>
            <a:avLst/>
            <a:gdLst>
              <a:gd name="connsiteX0" fmla="*/ 0 w 4402695"/>
              <a:gd name="connsiteY0" fmla="*/ 1528458 h 1528459"/>
              <a:gd name="connsiteX1" fmla="*/ 7508 w 4402695"/>
              <a:gd name="connsiteY1" fmla="*/ 1523029 h 1528459"/>
              <a:gd name="connsiteX2" fmla="*/ 2057224 w 4402695"/>
              <a:gd name="connsiteY2" fmla="*/ 49510 h 1528459"/>
              <a:gd name="connsiteX3" fmla="*/ 2135604 w 4402695"/>
              <a:gd name="connsiteY3" fmla="*/ 14766 h 1528459"/>
              <a:gd name="connsiteX4" fmla="*/ 2144890 w 4402695"/>
              <a:gd name="connsiteY4" fmla="*/ 9097 h 1528459"/>
              <a:gd name="connsiteX5" fmla="*/ 2150822 w 4402695"/>
              <a:gd name="connsiteY5" fmla="*/ 8021 h 1528459"/>
              <a:gd name="connsiteX6" fmla="*/ 2155474 w 4402695"/>
              <a:gd name="connsiteY6" fmla="*/ 5960 h 1528459"/>
              <a:gd name="connsiteX7" fmla="*/ 2173592 w 4402695"/>
              <a:gd name="connsiteY7" fmla="*/ 3892 h 1528459"/>
              <a:gd name="connsiteX8" fmla="*/ 2195040 w 4402695"/>
              <a:gd name="connsiteY8" fmla="*/ 0 h 1528459"/>
              <a:gd name="connsiteX9" fmla="*/ 2201360 w 4402695"/>
              <a:gd name="connsiteY9" fmla="*/ 723 h 1528459"/>
              <a:gd name="connsiteX10" fmla="*/ 2207653 w 4402695"/>
              <a:gd name="connsiteY10" fmla="*/ 6 h 1528459"/>
              <a:gd name="connsiteX11" fmla="*/ 2229008 w 4402695"/>
              <a:gd name="connsiteY11" fmla="*/ 3879 h 1528459"/>
              <a:gd name="connsiteX12" fmla="*/ 2247219 w 4402695"/>
              <a:gd name="connsiteY12" fmla="*/ 5956 h 1528459"/>
              <a:gd name="connsiteX13" fmla="*/ 2251896 w 4402695"/>
              <a:gd name="connsiteY13" fmla="*/ 8029 h 1528459"/>
              <a:gd name="connsiteX14" fmla="*/ 2257803 w 4402695"/>
              <a:gd name="connsiteY14" fmla="*/ 9099 h 1528459"/>
              <a:gd name="connsiteX15" fmla="*/ 2267049 w 4402695"/>
              <a:gd name="connsiteY15" fmla="*/ 14747 h 1528459"/>
              <a:gd name="connsiteX16" fmla="*/ 2345468 w 4402695"/>
              <a:gd name="connsiteY16" fmla="*/ 49508 h 1528459"/>
              <a:gd name="connsiteX17" fmla="*/ 4395186 w 4402695"/>
              <a:gd name="connsiteY17" fmla="*/ 1523029 h 1528459"/>
              <a:gd name="connsiteX18" fmla="*/ 4402695 w 4402695"/>
              <a:gd name="connsiteY18" fmla="*/ 1528459 h 1528459"/>
              <a:gd name="connsiteX19" fmla="*/ 0 w 4402695"/>
              <a:gd name="connsiteY19" fmla="*/ 1528458 h 152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02695" h="1528459">
                <a:moveTo>
                  <a:pt x="0" y="1528458"/>
                </a:moveTo>
                <a:lnTo>
                  <a:pt x="7508" y="1523029"/>
                </a:lnTo>
                <a:cubicBezTo>
                  <a:pt x="861789" y="905592"/>
                  <a:pt x="1983826" y="97756"/>
                  <a:pt x="2057224" y="49510"/>
                </a:cubicBezTo>
                <a:lnTo>
                  <a:pt x="2135604" y="14766"/>
                </a:lnTo>
                <a:lnTo>
                  <a:pt x="2144890" y="9097"/>
                </a:lnTo>
                <a:lnTo>
                  <a:pt x="2150822" y="8021"/>
                </a:lnTo>
                <a:lnTo>
                  <a:pt x="2155474" y="5960"/>
                </a:lnTo>
                <a:lnTo>
                  <a:pt x="2173592" y="3892"/>
                </a:lnTo>
                <a:lnTo>
                  <a:pt x="2195040" y="0"/>
                </a:lnTo>
                <a:lnTo>
                  <a:pt x="2201360" y="723"/>
                </a:lnTo>
                <a:lnTo>
                  <a:pt x="2207653" y="6"/>
                </a:lnTo>
                <a:lnTo>
                  <a:pt x="2229008" y="3879"/>
                </a:lnTo>
                <a:lnTo>
                  <a:pt x="2247219" y="5956"/>
                </a:lnTo>
                <a:lnTo>
                  <a:pt x="2251896" y="8029"/>
                </a:lnTo>
                <a:lnTo>
                  <a:pt x="2257803" y="9099"/>
                </a:lnTo>
                <a:lnTo>
                  <a:pt x="2267049" y="14747"/>
                </a:lnTo>
                <a:lnTo>
                  <a:pt x="2345468" y="49508"/>
                </a:lnTo>
                <a:cubicBezTo>
                  <a:pt x="2418866" y="97754"/>
                  <a:pt x="3540904" y="905590"/>
                  <a:pt x="4395186" y="1523029"/>
                </a:cubicBezTo>
                <a:lnTo>
                  <a:pt x="4402695" y="1528459"/>
                </a:lnTo>
                <a:lnTo>
                  <a:pt x="0" y="1528458"/>
                </a:lnTo>
                <a:close/>
              </a:path>
            </a:pathLst>
          </a:custGeom>
          <a:solidFill>
            <a:srgbClr val="FFC000"/>
          </a:solidFill>
          <a:ln w="762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BF079C8A-5FBA-4FF4-9F99-D6B01E964224}"/>
              </a:ext>
            </a:extLst>
          </p:cNvPr>
          <p:cNvSpPr/>
          <p:nvPr userDrawn="1"/>
        </p:nvSpPr>
        <p:spPr>
          <a:xfrm rot="16200000" flipH="1" flipV="1">
            <a:off x="-1027892" y="2895933"/>
            <a:ext cx="3121919" cy="1066134"/>
          </a:xfrm>
          <a:custGeom>
            <a:avLst/>
            <a:gdLst>
              <a:gd name="connsiteX0" fmla="*/ 0 w 3121919"/>
              <a:gd name="connsiteY0" fmla="*/ 1066134 h 1066134"/>
              <a:gd name="connsiteX1" fmla="*/ 172724 w 3121919"/>
              <a:gd name="connsiteY1" fmla="*/ 941577 h 1066134"/>
              <a:gd name="connsiteX2" fmla="*/ 1416836 w 3121919"/>
              <a:gd name="connsiteY2" fmla="*/ 49509 h 1066134"/>
              <a:gd name="connsiteX3" fmla="*/ 1495216 w 3121919"/>
              <a:gd name="connsiteY3" fmla="*/ 14765 h 1066134"/>
              <a:gd name="connsiteX4" fmla="*/ 1504502 w 3121919"/>
              <a:gd name="connsiteY4" fmla="*/ 9096 h 1066134"/>
              <a:gd name="connsiteX5" fmla="*/ 1510434 w 3121919"/>
              <a:gd name="connsiteY5" fmla="*/ 8020 h 1066134"/>
              <a:gd name="connsiteX6" fmla="*/ 1515086 w 3121919"/>
              <a:gd name="connsiteY6" fmla="*/ 5959 h 1066134"/>
              <a:gd name="connsiteX7" fmla="*/ 1533204 w 3121919"/>
              <a:gd name="connsiteY7" fmla="*/ 3891 h 1066134"/>
              <a:gd name="connsiteX8" fmla="*/ 1554651 w 3121919"/>
              <a:gd name="connsiteY8" fmla="*/ 0 h 1066134"/>
              <a:gd name="connsiteX9" fmla="*/ 1560971 w 3121919"/>
              <a:gd name="connsiteY9" fmla="*/ 722 h 1066134"/>
              <a:gd name="connsiteX10" fmla="*/ 1567265 w 3121919"/>
              <a:gd name="connsiteY10" fmla="*/ 5 h 1066134"/>
              <a:gd name="connsiteX11" fmla="*/ 1588619 w 3121919"/>
              <a:gd name="connsiteY11" fmla="*/ 3878 h 1066134"/>
              <a:gd name="connsiteX12" fmla="*/ 1606830 w 3121919"/>
              <a:gd name="connsiteY12" fmla="*/ 5955 h 1066134"/>
              <a:gd name="connsiteX13" fmla="*/ 1611508 w 3121919"/>
              <a:gd name="connsiteY13" fmla="*/ 8028 h 1066134"/>
              <a:gd name="connsiteX14" fmla="*/ 1617415 w 3121919"/>
              <a:gd name="connsiteY14" fmla="*/ 9098 h 1066134"/>
              <a:gd name="connsiteX15" fmla="*/ 1626660 w 3121919"/>
              <a:gd name="connsiteY15" fmla="*/ 14746 h 1066134"/>
              <a:gd name="connsiteX16" fmla="*/ 1705080 w 3121919"/>
              <a:gd name="connsiteY16" fmla="*/ 49507 h 1066134"/>
              <a:gd name="connsiteX17" fmla="*/ 2949192 w 3121919"/>
              <a:gd name="connsiteY17" fmla="*/ 941575 h 1066134"/>
              <a:gd name="connsiteX18" fmla="*/ 3121919 w 3121919"/>
              <a:gd name="connsiteY18" fmla="*/ 1066134 h 1066134"/>
              <a:gd name="connsiteX19" fmla="*/ 0 w 3121919"/>
              <a:gd name="connsiteY19" fmla="*/ 1066134 h 1066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121919" h="1066134">
                <a:moveTo>
                  <a:pt x="0" y="1066134"/>
                </a:moveTo>
                <a:lnTo>
                  <a:pt x="172724" y="941577"/>
                </a:lnTo>
                <a:cubicBezTo>
                  <a:pt x="800246" y="489253"/>
                  <a:pt x="1365457" y="83281"/>
                  <a:pt x="1416836" y="49509"/>
                </a:cubicBezTo>
                <a:lnTo>
                  <a:pt x="1495216" y="14765"/>
                </a:lnTo>
                <a:lnTo>
                  <a:pt x="1504502" y="9096"/>
                </a:lnTo>
                <a:lnTo>
                  <a:pt x="1510434" y="8020"/>
                </a:lnTo>
                <a:lnTo>
                  <a:pt x="1515086" y="5959"/>
                </a:lnTo>
                <a:lnTo>
                  <a:pt x="1533204" y="3891"/>
                </a:lnTo>
                <a:lnTo>
                  <a:pt x="1554651" y="0"/>
                </a:lnTo>
                <a:lnTo>
                  <a:pt x="1560971" y="722"/>
                </a:lnTo>
                <a:lnTo>
                  <a:pt x="1567265" y="5"/>
                </a:lnTo>
                <a:lnTo>
                  <a:pt x="1588619" y="3878"/>
                </a:lnTo>
                <a:lnTo>
                  <a:pt x="1606830" y="5955"/>
                </a:lnTo>
                <a:lnTo>
                  <a:pt x="1611508" y="8028"/>
                </a:lnTo>
                <a:lnTo>
                  <a:pt x="1617415" y="9098"/>
                </a:lnTo>
                <a:lnTo>
                  <a:pt x="1626660" y="14746"/>
                </a:lnTo>
                <a:lnTo>
                  <a:pt x="1705080" y="49507"/>
                </a:lnTo>
                <a:cubicBezTo>
                  <a:pt x="1756458" y="83279"/>
                  <a:pt x="2321671" y="489251"/>
                  <a:pt x="2949192" y="941575"/>
                </a:cubicBezTo>
                <a:lnTo>
                  <a:pt x="3121919" y="1066134"/>
                </a:lnTo>
                <a:lnTo>
                  <a:pt x="0" y="1066134"/>
                </a:lnTo>
                <a:close/>
              </a:path>
            </a:pathLst>
          </a:custGeom>
          <a:gradFill>
            <a:gsLst>
              <a:gs pos="38000">
                <a:srgbClr val="0065C9"/>
              </a:gs>
              <a:gs pos="100000">
                <a:srgbClr val="12376F"/>
              </a:gs>
              <a:gs pos="0">
                <a:srgbClr val="0065C9"/>
              </a:gs>
            </a:gsLst>
            <a:lin ang="5400000" scaled="1"/>
          </a:gradFill>
          <a:ln w="762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F3954569-4CEF-4CC7-95FB-DAE5B5C54D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081" y="6349704"/>
            <a:ext cx="240100" cy="240100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8D01D000-7A47-4376-8CA5-6161B365E9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729" y="6354467"/>
            <a:ext cx="240100" cy="2401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EB05FE0-C4FA-4977-AB0A-69025997293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139" y="6351274"/>
            <a:ext cx="240101" cy="240101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8E72F38A-4D8D-45E0-9EB3-4742B38B2AB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1112" y="6349704"/>
            <a:ext cx="240101" cy="240101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AB4CFE84-DE11-4C38-AB92-CE37293C21F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067" y="6354467"/>
            <a:ext cx="262968" cy="240101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FBF1227A-6D3A-4E04-92BE-434EBFC6F7F2}"/>
              </a:ext>
            </a:extLst>
          </p:cNvPr>
          <p:cNvSpPr txBox="1"/>
          <p:nvPr userDrawn="1"/>
        </p:nvSpPr>
        <p:spPr>
          <a:xfrm>
            <a:off x="2451721" y="6364962"/>
            <a:ext cx="125066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www.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djpb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.kemenkeu.go.id</a:t>
            </a:r>
            <a:endParaRPr lang="id-ID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2286913-DD72-40C1-8EEB-EB6C876D7835}"/>
              </a:ext>
            </a:extLst>
          </p:cNvPr>
          <p:cNvSpPr txBox="1"/>
          <p:nvPr userDrawn="1"/>
        </p:nvSpPr>
        <p:spPr>
          <a:xfrm>
            <a:off x="4087224" y="6369726"/>
            <a:ext cx="11849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700" dirty="0" err="1">
                <a:latin typeface="Arial" panose="020B0604020202020204" pitchFamily="34" charset="0"/>
                <a:cs typeface="Arial" panose="020B0604020202020204" pitchFamily="34" charset="0"/>
              </a:rPr>
              <a:t>ditjen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perbendaharaan</a:t>
            </a:r>
            <a:endParaRPr lang="id-ID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1DE2CAB-5E2C-4068-9C1C-6A9E9AFF3CF8}"/>
              </a:ext>
            </a:extLst>
          </p:cNvPr>
          <p:cNvSpPr txBox="1"/>
          <p:nvPr userDrawn="1"/>
        </p:nvSpPr>
        <p:spPr>
          <a:xfrm>
            <a:off x="5661702" y="6374488"/>
            <a:ext cx="95571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DJPb</a:t>
            </a:r>
            <a:r>
              <a:rPr lang="en-US" sz="700" dirty="0" err="1">
                <a:latin typeface="Arial" panose="020B0604020202020204" pitchFamily="34" charset="0"/>
                <a:cs typeface="Arial" panose="020B0604020202020204" pitchFamily="34" charset="0"/>
              </a:rPr>
              <a:t>.KemenkeuRI</a:t>
            </a:r>
            <a:endParaRPr lang="id-ID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FE3BAD8-0864-4FE7-B8D3-5022B2276724}"/>
              </a:ext>
            </a:extLst>
          </p:cNvPr>
          <p:cNvSpPr txBox="1"/>
          <p:nvPr userDrawn="1"/>
        </p:nvSpPr>
        <p:spPr>
          <a:xfrm>
            <a:off x="7007016" y="6326857"/>
            <a:ext cx="17299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Direktorat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Jenderal</a:t>
            </a:r>
            <a:r>
              <a:rPr lang="en-US" sz="7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Perbendaharaan</a:t>
            </a:r>
            <a:endParaRPr lang="en-US" sz="7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700" dirty="0" err="1">
                <a:latin typeface="Arial" panose="020B0604020202020204" pitchFamily="34" charset="0"/>
                <a:cs typeface="Arial" panose="020B0604020202020204" pitchFamily="34" charset="0"/>
              </a:rPr>
              <a:t>DJPb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dirty="0" err="1">
                <a:latin typeface="Arial" panose="020B0604020202020204" pitchFamily="34" charset="0"/>
                <a:cs typeface="Arial" panose="020B0604020202020204" pitchFamily="34" charset="0"/>
              </a:rPr>
              <a:t>Kemenkeu</a:t>
            </a:r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 RI</a:t>
            </a:r>
            <a:endParaRPr lang="id-ID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4AE5417-1CD4-4050-BC64-104156468E6D}"/>
              </a:ext>
            </a:extLst>
          </p:cNvPr>
          <p:cNvSpPr txBox="1"/>
          <p:nvPr userDrawn="1"/>
        </p:nvSpPr>
        <p:spPr>
          <a:xfrm>
            <a:off x="9144920" y="6364962"/>
            <a:ext cx="106150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700" b="1" dirty="0" err="1">
                <a:latin typeface="Arial" panose="020B0604020202020204" pitchFamily="34" charset="0"/>
                <a:cs typeface="Arial" panose="020B0604020202020204" pitchFamily="34" charset="0"/>
              </a:rPr>
              <a:t>DJPb</a:t>
            </a:r>
            <a:r>
              <a:rPr lang="en-US" sz="700" dirty="0" err="1">
                <a:latin typeface="Arial" panose="020B0604020202020204" pitchFamily="34" charset="0"/>
                <a:cs typeface="Arial" panose="020B0604020202020204" pitchFamily="34" charset="0"/>
              </a:rPr>
              <a:t>Kemenkeu_RI</a:t>
            </a:r>
            <a:endParaRPr lang="id-ID" sz="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B9529081-253D-4632-8E43-A887C8E667BE}"/>
              </a:ext>
            </a:extLst>
          </p:cNvPr>
          <p:cNvSpPr/>
          <p:nvPr userDrawn="1"/>
        </p:nvSpPr>
        <p:spPr>
          <a:xfrm rot="5400000" flipV="1">
            <a:off x="9226423" y="2664770"/>
            <a:ext cx="4402695" cy="1528459"/>
          </a:xfrm>
          <a:custGeom>
            <a:avLst/>
            <a:gdLst>
              <a:gd name="connsiteX0" fmla="*/ 0 w 4402695"/>
              <a:gd name="connsiteY0" fmla="*/ 1528458 h 1528459"/>
              <a:gd name="connsiteX1" fmla="*/ 7508 w 4402695"/>
              <a:gd name="connsiteY1" fmla="*/ 1523029 h 1528459"/>
              <a:gd name="connsiteX2" fmla="*/ 2057224 w 4402695"/>
              <a:gd name="connsiteY2" fmla="*/ 49510 h 1528459"/>
              <a:gd name="connsiteX3" fmla="*/ 2135604 w 4402695"/>
              <a:gd name="connsiteY3" fmla="*/ 14766 h 1528459"/>
              <a:gd name="connsiteX4" fmla="*/ 2144890 w 4402695"/>
              <a:gd name="connsiteY4" fmla="*/ 9097 h 1528459"/>
              <a:gd name="connsiteX5" fmla="*/ 2150822 w 4402695"/>
              <a:gd name="connsiteY5" fmla="*/ 8021 h 1528459"/>
              <a:gd name="connsiteX6" fmla="*/ 2155474 w 4402695"/>
              <a:gd name="connsiteY6" fmla="*/ 5960 h 1528459"/>
              <a:gd name="connsiteX7" fmla="*/ 2173592 w 4402695"/>
              <a:gd name="connsiteY7" fmla="*/ 3892 h 1528459"/>
              <a:gd name="connsiteX8" fmla="*/ 2195040 w 4402695"/>
              <a:gd name="connsiteY8" fmla="*/ 0 h 1528459"/>
              <a:gd name="connsiteX9" fmla="*/ 2201360 w 4402695"/>
              <a:gd name="connsiteY9" fmla="*/ 723 h 1528459"/>
              <a:gd name="connsiteX10" fmla="*/ 2207653 w 4402695"/>
              <a:gd name="connsiteY10" fmla="*/ 6 h 1528459"/>
              <a:gd name="connsiteX11" fmla="*/ 2229008 w 4402695"/>
              <a:gd name="connsiteY11" fmla="*/ 3879 h 1528459"/>
              <a:gd name="connsiteX12" fmla="*/ 2247219 w 4402695"/>
              <a:gd name="connsiteY12" fmla="*/ 5956 h 1528459"/>
              <a:gd name="connsiteX13" fmla="*/ 2251896 w 4402695"/>
              <a:gd name="connsiteY13" fmla="*/ 8029 h 1528459"/>
              <a:gd name="connsiteX14" fmla="*/ 2257803 w 4402695"/>
              <a:gd name="connsiteY14" fmla="*/ 9099 h 1528459"/>
              <a:gd name="connsiteX15" fmla="*/ 2267049 w 4402695"/>
              <a:gd name="connsiteY15" fmla="*/ 14747 h 1528459"/>
              <a:gd name="connsiteX16" fmla="*/ 2345468 w 4402695"/>
              <a:gd name="connsiteY16" fmla="*/ 49508 h 1528459"/>
              <a:gd name="connsiteX17" fmla="*/ 4395186 w 4402695"/>
              <a:gd name="connsiteY17" fmla="*/ 1523029 h 1528459"/>
              <a:gd name="connsiteX18" fmla="*/ 4402695 w 4402695"/>
              <a:gd name="connsiteY18" fmla="*/ 1528459 h 1528459"/>
              <a:gd name="connsiteX19" fmla="*/ 0 w 4402695"/>
              <a:gd name="connsiteY19" fmla="*/ 1528458 h 152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402695" h="1528459">
                <a:moveTo>
                  <a:pt x="0" y="1528458"/>
                </a:moveTo>
                <a:lnTo>
                  <a:pt x="7508" y="1523029"/>
                </a:lnTo>
                <a:cubicBezTo>
                  <a:pt x="861789" y="905592"/>
                  <a:pt x="1983826" y="97756"/>
                  <a:pt x="2057224" y="49510"/>
                </a:cubicBezTo>
                <a:lnTo>
                  <a:pt x="2135604" y="14766"/>
                </a:lnTo>
                <a:lnTo>
                  <a:pt x="2144890" y="9097"/>
                </a:lnTo>
                <a:lnTo>
                  <a:pt x="2150822" y="8021"/>
                </a:lnTo>
                <a:lnTo>
                  <a:pt x="2155474" y="5960"/>
                </a:lnTo>
                <a:lnTo>
                  <a:pt x="2173592" y="3892"/>
                </a:lnTo>
                <a:lnTo>
                  <a:pt x="2195040" y="0"/>
                </a:lnTo>
                <a:lnTo>
                  <a:pt x="2201360" y="723"/>
                </a:lnTo>
                <a:lnTo>
                  <a:pt x="2207653" y="6"/>
                </a:lnTo>
                <a:lnTo>
                  <a:pt x="2229008" y="3879"/>
                </a:lnTo>
                <a:lnTo>
                  <a:pt x="2247219" y="5956"/>
                </a:lnTo>
                <a:lnTo>
                  <a:pt x="2251896" y="8029"/>
                </a:lnTo>
                <a:lnTo>
                  <a:pt x="2257803" y="9099"/>
                </a:lnTo>
                <a:lnTo>
                  <a:pt x="2267049" y="14747"/>
                </a:lnTo>
                <a:lnTo>
                  <a:pt x="2345468" y="49508"/>
                </a:lnTo>
                <a:cubicBezTo>
                  <a:pt x="2418866" y="97754"/>
                  <a:pt x="3540904" y="905590"/>
                  <a:pt x="4395186" y="1523029"/>
                </a:cubicBezTo>
                <a:lnTo>
                  <a:pt x="4402695" y="1528459"/>
                </a:lnTo>
                <a:lnTo>
                  <a:pt x="0" y="1528458"/>
                </a:lnTo>
                <a:close/>
              </a:path>
            </a:pathLst>
          </a:custGeom>
          <a:solidFill>
            <a:srgbClr val="FFC000"/>
          </a:solidFill>
          <a:ln w="762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20C9F266-61DB-49EF-98A9-C34C2EE8FAA7}"/>
              </a:ext>
            </a:extLst>
          </p:cNvPr>
          <p:cNvSpPr/>
          <p:nvPr userDrawn="1"/>
        </p:nvSpPr>
        <p:spPr>
          <a:xfrm rot="5400000" flipV="1">
            <a:off x="10097973" y="2918150"/>
            <a:ext cx="3121919" cy="1066134"/>
          </a:xfrm>
          <a:custGeom>
            <a:avLst/>
            <a:gdLst>
              <a:gd name="connsiteX0" fmla="*/ 0 w 3121919"/>
              <a:gd name="connsiteY0" fmla="*/ 1066134 h 1066134"/>
              <a:gd name="connsiteX1" fmla="*/ 172724 w 3121919"/>
              <a:gd name="connsiteY1" fmla="*/ 941577 h 1066134"/>
              <a:gd name="connsiteX2" fmla="*/ 1416836 w 3121919"/>
              <a:gd name="connsiteY2" fmla="*/ 49509 h 1066134"/>
              <a:gd name="connsiteX3" fmla="*/ 1495216 w 3121919"/>
              <a:gd name="connsiteY3" fmla="*/ 14765 h 1066134"/>
              <a:gd name="connsiteX4" fmla="*/ 1504502 w 3121919"/>
              <a:gd name="connsiteY4" fmla="*/ 9096 h 1066134"/>
              <a:gd name="connsiteX5" fmla="*/ 1510434 w 3121919"/>
              <a:gd name="connsiteY5" fmla="*/ 8020 h 1066134"/>
              <a:gd name="connsiteX6" fmla="*/ 1515086 w 3121919"/>
              <a:gd name="connsiteY6" fmla="*/ 5959 h 1066134"/>
              <a:gd name="connsiteX7" fmla="*/ 1533204 w 3121919"/>
              <a:gd name="connsiteY7" fmla="*/ 3891 h 1066134"/>
              <a:gd name="connsiteX8" fmla="*/ 1554651 w 3121919"/>
              <a:gd name="connsiteY8" fmla="*/ 0 h 1066134"/>
              <a:gd name="connsiteX9" fmla="*/ 1560971 w 3121919"/>
              <a:gd name="connsiteY9" fmla="*/ 722 h 1066134"/>
              <a:gd name="connsiteX10" fmla="*/ 1567265 w 3121919"/>
              <a:gd name="connsiteY10" fmla="*/ 5 h 1066134"/>
              <a:gd name="connsiteX11" fmla="*/ 1588619 w 3121919"/>
              <a:gd name="connsiteY11" fmla="*/ 3878 h 1066134"/>
              <a:gd name="connsiteX12" fmla="*/ 1606830 w 3121919"/>
              <a:gd name="connsiteY12" fmla="*/ 5955 h 1066134"/>
              <a:gd name="connsiteX13" fmla="*/ 1611508 w 3121919"/>
              <a:gd name="connsiteY13" fmla="*/ 8028 h 1066134"/>
              <a:gd name="connsiteX14" fmla="*/ 1617415 w 3121919"/>
              <a:gd name="connsiteY14" fmla="*/ 9098 h 1066134"/>
              <a:gd name="connsiteX15" fmla="*/ 1626660 w 3121919"/>
              <a:gd name="connsiteY15" fmla="*/ 14746 h 1066134"/>
              <a:gd name="connsiteX16" fmla="*/ 1705080 w 3121919"/>
              <a:gd name="connsiteY16" fmla="*/ 49507 h 1066134"/>
              <a:gd name="connsiteX17" fmla="*/ 2949192 w 3121919"/>
              <a:gd name="connsiteY17" fmla="*/ 941575 h 1066134"/>
              <a:gd name="connsiteX18" fmla="*/ 3121919 w 3121919"/>
              <a:gd name="connsiteY18" fmla="*/ 1066134 h 1066134"/>
              <a:gd name="connsiteX19" fmla="*/ 0 w 3121919"/>
              <a:gd name="connsiteY19" fmla="*/ 1066134 h 1066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121919" h="1066134">
                <a:moveTo>
                  <a:pt x="0" y="1066134"/>
                </a:moveTo>
                <a:lnTo>
                  <a:pt x="172724" y="941577"/>
                </a:lnTo>
                <a:cubicBezTo>
                  <a:pt x="800246" y="489253"/>
                  <a:pt x="1365457" y="83281"/>
                  <a:pt x="1416836" y="49509"/>
                </a:cubicBezTo>
                <a:lnTo>
                  <a:pt x="1495216" y="14765"/>
                </a:lnTo>
                <a:lnTo>
                  <a:pt x="1504502" y="9096"/>
                </a:lnTo>
                <a:lnTo>
                  <a:pt x="1510434" y="8020"/>
                </a:lnTo>
                <a:lnTo>
                  <a:pt x="1515086" y="5959"/>
                </a:lnTo>
                <a:lnTo>
                  <a:pt x="1533204" y="3891"/>
                </a:lnTo>
                <a:lnTo>
                  <a:pt x="1554651" y="0"/>
                </a:lnTo>
                <a:lnTo>
                  <a:pt x="1560971" y="722"/>
                </a:lnTo>
                <a:lnTo>
                  <a:pt x="1567265" y="5"/>
                </a:lnTo>
                <a:lnTo>
                  <a:pt x="1588619" y="3878"/>
                </a:lnTo>
                <a:lnTo>
                  <a:pt x="1606830" y="5955"/>
                </a:lnTo>
                <a:lnTo>
                  <a:pt x="1611508" y="8028"/>
                </a:lnTo>
                <a:lnTo>
                  <a:pt x="1617415" y="9098"/>
                </a:lnTo>
                <a:lnTo>
                  <a:pt x="1626660" y="14746"/>
                </a:lnTo>
                <a:lnTo>
                  <a:pt x="1705080" y="49507"/>
                </a:lnTo>
                <a:cubicBezTo>
                  <a:pt x="1756458" y="83279"/>
                  <a:pt x="2321671" y="489251"/>
                  <a:pt x="2949192" y="941575"/>
                </a:cubicBezTo>
                <a:lnTo>
                  <a:pt x="3121919" y="1066134"/>
                </a:lnTo>
                <a:lnTo>
                  <a:pt x="0" y="1066134"/>
                </a:lnTo>
                <a:close/>
              </a:path>
            </a:pathLst>
          </a:custGeom>
          <a:gradFill>
            <a:gsLst>
              <a:gs pos="38000">
                <a:srgbClr val="0065C9"/>
              </a:gs>
              <a:gs pos="100000">
                <a:srgbClr val="12376F"/>
              </a:gs>
              <a:gs pos="0">
                <a:srgbClr val="0065C9"/>
              </a:gs>
            </a:gsLst>
            <a:lin ang="5400000" scaled="1"/>
          </a:gradFill>
          <a:ln w="762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8864459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94E9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ct val="100000"/>
              </a:lnSpc>
              <a:spcBef>
                <a:spcPts val="29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16611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907"/>
            <a:ext cx="12192000" cy="876300"/>
          </a:xfrm>
          <a:custGeom>
            <a:avLst/>
            <a:gdLst/>
            <a:ahLst/>
            <a:cxnLst/>
            <a:rect l="l" t="t" r="r" b="b"/>
            <a:pathLst>
              <a:path w="12192000" h="876300">
                <a:moveTo>
                  <a:pt x="0" y="0"/>
                </a:moveTo>
                <a:lnTo>
                  <a:pt x="0" y="876300"/>
                </a:lnTo>
                <a:lnTo>
                  <a:pt x="12191999" y="876300"/>
                </a:lnTo>
                <a:lnTo>
                  <a:pt x="12191999" y="0"/>
                </a:lnTo>
                <a:lnTo>
                  <a:pt x="0" y="0"/>
                </a:lnTo>
                <a:close/>
              </a:path>
            </a:pathLst>
          </a:custGeom>
          <a:solidFill>
            <a:srgbClr val="1E4F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2504" y="60960"/>
            <a:ext cx="609600" cy="5410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346692" y="3429000"/>
            <a:ext cx="1901952" cy="27386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76954" y="2891993"/>
            <a:ext cx="5038090" cy="1002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65549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iagram, engineering drawing&#10;&#10;Description automatically generated">
            <a:extLst>
              <a:ext uri="{FF2B5EF4-FFF2-40B4-BE49-F238E27FC236}">
                <a16:creationId xmlns:a16="http://schemas.microsoft.com/office/drawing/2014/main" id="{95F8CD88-139E-4B4C-AE94-5D50249A5A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1" b="7813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B2E6945-2F09-44D6-8F68-72EB2095E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795" y="258906"/>
            <a:ext cx="10222830" cy="595673"/>
          </a:xfrm>
          <a:prstGeom prst="rect">
            <a:avLst/>
          </a:prstGeom>
        </p:spPr>
        <p:txBody>
          <a:bodyPr anchor="t"/>
          <a:lstStyle>
            <a:lvl1pPr>
              <a:defRPr sz="3200" b="1">
                <a:solidFill>
                  <a:srgbClr val="004870"/>
                </a:solidFill>
                <a:latin typeface="+mn-lt"/>
                <a:ea typeface="Roboto" panose="02000000000000000000" pitchFamily="2" charset="0"/>
              </a:defRPr>
            </a:lvl1pPr>
          </a:lstStyle>
          <a:p>
            <a:r>
              <a:rPr lang="en-US"/>
              <a:t>Judul Materi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173472-9CFD-49B6-9DDF-10A5CCB211A1}"/>
              </a:ext>
            </a:extLst>
          </p:cNvPr>
          <p:cNvSpPr/>
          <p:nvPr userDrawn="1"/>
        </p:nvSpPr>
        <p:spPr>
          <a:xfrm>
            <a:off x="248084" y="6679875"/>
            <a:ext cx="9686492" cy="79200"/>
          </a:xfrm>
          <a:prstGeom prst="rect">
            <a:avLst/>
          </a:prstGeom>
          <a:gradFill flip="none" rotWithShape="1">
            <a:gsLst>
              <a:gs pos="42000">
                <a:srgbClr val="307BB5"/>
              </a:gs>
              <a:gs pos="46000">
                <a:srgbClr val="0857A8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B1FCED-91EF-43DD-A1E9-54CC1E52B6FC}"/>
              </a:ext>
            </a:extLst>
          </p:cNvPr>
          <p:cNvSpPr/>
          <p:nvPr userDrawn="1"/>
        </p:nvSpPr>
        <p:spPr>
          <a:xfrm>
            <a:off x="9934576" y="6679875"/>
            <a:ext cx="1495425" cy="79200"/>
          </a:xfrm>
          <a:prstGeom prst="rect">
            <a:avLst/>
          </a:prstGeom>
          <a:solidFill>
            <a:srgbClr val="F8B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72D14EC9-9EF3-4D48-BA85-83E80239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7447" y="6580875"/>
            <a:ext cx="519509" cy="229000"/>
          </a:xfrm>
          <a:prstGeom prst="rect">
            <a:avLst/>
          </a:prstGeom>
        </p:spPr>
        <p:txBody>
          <a:bodyPr anchor="ctr"/>
          <a:lstStyle>
            <a:lvl1pPr algn="r"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C67A9826-C85A-43BB-9A4D-2C608D6018A0}" type="slidenum">
              <a:rPr lang="en-US" sz="1600" b="1" i="1" smtClean="0">
                <a:solidFill>
                  <a:srgbClr val="005B8E"/>
                </a:solidFill>
              </a:rPr>
              <a:pPr/>
              <a:t>‹#›</a:t>
            </a:fld>
            <a:endParaRPr lang="en-US" sz="1600" b="1" i="1">
              <a:solidFill>
                <a:srgbClr val="005B8E"/>
              </a:solidFill>
            </a:endParaRPr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5956EC8E-9E52-4A49-AFA8-5DCCD5E401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5" r="69755"/>
          <a:stretch/>
        </p:blipFill>
        <p:spPr>
          <a:xfrm>
            <a:off x="150656" y="117052"/>
            <a:ext cx="723139" cy="708795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C0A446-44D2-4F90-B822-825647016354}"/>
              </a:ext>
            </a:extLst>
          </p:cNvPr>
          <p:cNvCxnSpPr/>
          <p:nvPr userDrawn="1"/>
        </p:nvCxnSpPr>
        <p:spPr>
          <a:xfrm>
            <a:off x="873795" y="825847"/>
            <a:ext cx="10222830" cy="0"/>
          </a:xfrm>
          <a:prstGeom prst="line">
            <a:avLst/>
          </a:prstGeom>
          <a:ln w="28575">
            <a:gradFill flip="none" rotWithShape="1">
              <a:gsLst>
                <a:gs pos="700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11708687-48F4-4DF5-87BB-B5E25220E7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7" t="16416" r="27935" b="12472"/>
          <a:stretch/>
        </p:blipFill>
        <p:spPr>
          <a:xfrm>
            <a:off x="11321803" y="136101"/>
            <a:ext cx="610249" cy="68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561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>
            <a:spLocks noGrp="1"/>
          </p:cNvSpPr>
          <p:nvPr>
            <p:ph type="title"/>
          </p:nvPr>
        </p:nvSpPr>
        <p:spPr>
          <a:xfrm>
            <a:off x="6413400" y="2634639"/>
            <a:ext cx="51620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1"/>
          <p:cNvSpPr txBox="1">
            <a:spLocks noGrp="1"/>
          </p:cNvSpPr>
          <p:nvPr>
            <p:ph type="subTitle" idx="1"/>
          </p:nvPr>
        </p:nvSpPr>
        <p:spPr>
          <a:xfrm>
            <a:off x="6413400" y="3379952"/>
            <a:ext cx="5162000" cy="8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31"/>
          <p:cNvSpPr/>
          <p:nvPr/>
        </p:nvSpPr>
        <p:spPr>
          <a:xfrm rot="-4546338">
            <a:off x="4389094" y="-1687615"/>
            <a:ext cx="12550767" cy="8640243"/>
          </a:xfrm>
          <a:custGeom>
            <a:avLst/>
            <a:gdLst/>
            <a:ahLst/>
            <a:cxnLst/>
            <a:rect l="l" t="t" r="r" b="b"/>
            <a:pathLst>
              <a:path w="69355" h="44606" extrusionOk="0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22151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6420400" y="2130800"/>
            <a:ext cx="516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subTitle" idx="1"/>
          </p:nvPr>
        </p:nvSpPr>
        <p:spPr>
          <a:xfrm>
            <a:off x="6420400" y="3724400"/>
            <a:ext cx="5162000" cy="12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-5215900" y="-1509733"/>
            <a:ext cx="12550712" cy="8640183"/>
          </a:xfrm>
          <a:custGeom>
            <a:avLst/>
            <a:gdLst/>
            <a:ahLst/>
            <a:cxnLst/>
            <a:rect l="l" t="t" r="r" b="b"/>
            <a:pathLst>
              <a:path w="69355" h="44606" extrusionOk="0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993291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>
            <a:spLocks noGrp="1"/>
          </p:cNvSpPr>
          <p:nvPr>
            <p:ph type="title"/>
          </p:nvPr>
        </p:nvSpPr>
        <p:spPr>
          <a:xfrm>
            <a:off x="6420400" y="2630967"/>
            <a:ext cx="516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8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ubTitle" idx="1"/>
          </p:nvPr>
        </p:nvSpPr>
        <p:spPr>
          <a:xfrm>
            <a:off x="6420400" y="4212299"/>
            <a:ext cx="5162000" cy="120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/>
          <p:nvPr/>
        </p:nvSpPr>
        <p:spPr>
          <a:xfrm>
            <a:off x="5459002" y="381002"/>
            <a:ext cx="11833351" cy="8146393"/>
          </a:xfrm>
          <a:custGeom>
            <a:avLst/>
            <a:gdLst/>
            <a:ahLst/>
            <a:cxnLst/>
            <a:rect l="l" t="t" r="r" b="b"/>
            <a:pathLst>
              <a:path w="69355" h="44606" extrusionOk="0">
                <a:moveTo>
                  <a:pt x="26829" y="0"/>
                </a:moveTo>
                <a:cubicBezTo>
                  <a:pt x="21416" y="0"/>
                  <a:pt x="19533" y="7906"/>
                  <a:pt x="11616" y="9252"/>
                </a:cubicBezTo>
                <a:cubicBezTo>
                  <a:pt x="823" y="11101"/>
                  <a:pt x="9344" y="29570"/>
                  <a:pt x="3240" y="32410"/>
                </a:cubicBezTo>
                <a:cubicBezTo>
                  <a:pt x="919" y="33486"/>
                  <a:pt x="158" y="35468"/>
                  <a:pt x="109" y="37511"/>
                </a:cubicBezTo>
                <a:cubicBezTo>
                  <a:pt x="1" y="41258"/>
                  <a:pt x="3047" y="44340"/>
                  <a:pt x="6806" y="44364"/>
                </a:cubicBezTo>
                <a:lnTo>
                  <a:pt x="59190" y="44606"/>
                </a:lnTo>
                <a:cubicBezTo>
                  <a:pt x="59202" y="44606"/>
                  <a:pt x="59214" y="44606"/>
                  <a:pt x="59226" y="44606"/>
                </a:cubicBezTo>
                <a:cubicBezTo>
                  <a:pt x="61497" y="44606"/>
                  <a:pt x="63620" y="43471"/>
                  <a:pt x="64859" y="41560"/>
                </a:cubicBezTo>
                <a:cubicBezTo>
                  <a:pt x="67143" y="38042"/>
                  <a:pt x="69355" y="32325"/>
                  <a:pt x="62610" y="29134"/>
                </a:cubicBezTo>
                <a:cubicBezTo>
                  <a:pt x="52385" y="24312"/>
                  <a:pt x="66019" y="14944"/>
                  <a:pt x="57776" y="7559"/>
                </a:cubicBezTo>
                <a:cubicBezTo>
                  <a:pt x="55916" y="5888"/>
                  <a:pt x="54360" y="5319"/>
                  <a:pt x="52920" y="5319"/>
                </a:cubicBezTo>
                <a:cubicBezTo>
                  <a:pt x="49855" y="5319"/>
                  <a:pt x="47316" y="7895"/>
                  <a:pt x="43484" y="7895"/>
                </a:cubicBezTo>
                <a:cubicBezTo>
                  <a:pt x="41149" y="7895"/>
                  <a:pt x="38334" y="6939"/>
                  <a:pt x="34629" y="3861"/>
                </a:cubicBezTo>
                <a:cubicBezTo>
                  <a:pt x="31249" y="1053"/>
                  <a:pt x="28804" y="0"/>
                  <a:pt x="26829" y="0"/>
                </a:cubicBezTo>
                <a:close/>
              </a:path>
            </a:pathLst>
          </a:custGeom>
          <a:solidFill>
            <a:srgbClr val="8FCEF9">
              <a:alpha val="607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878723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si - Kemenkeu DJP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E7C2FD95-268C-4953-AF93-7597DD947E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74241" y="216781"/>
            <a:ext cx="9891168" cy="488394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2800" b="1">
                <a:solidFill>
                  <a:srgbClr val="094E9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Judul Materi 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3141D4B-ADFF-4F8A-BD29-E3DC553A6F9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22" t="28845" r="19861" b="29167"/>
          <a:stretch/>
        </p:blipFill>
        <p:spPr bwMode="auto">
          <a:xfrm>
            <a:off x="113906" y="131418"/>
            <a:ext cx="1006877" cy="699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55601E9-AEEA-4085-B98A-C1ACF984C066}"/>
              </a:ext>
            </a:extLst>
          </p:cNvPr>
          <p:cNvSpPr/>
          <p:nvPr userDrawn="1"/>
        </p:nvSpPr>
        <p:spPr>
          <a:xfrm>
            <a:off x="1274241" y="738635"/>
            <a:ext cx="9891168" cy="45719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4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4">
                  <a:lumMod val="60000"/>
                  <a:lumOff val="40000"/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9B9C231F-F852-4CBC-AC96-40344BEC4D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7" t="16416" r="27935" b="12472"/>
          <a:stretch/>
        </p:blipFill>
        <p:spPr>
          <a:xfrm>
            <a:off x="11330560" y="131418"/>
            <a:ext cx="627598" cy="699761"/>
          </a:xfrm>
          <a:prstGeom prst="rect">
            <a:avLst/>
          </a:prstGeom>
        </p:spPr>
      </p:pic>
      <p:sp>
        <p:nvSpPr>
          <p:cNvPr id="18" name="Slide Number Placeholder 7">
            <a:extLst>
              <a:ext uri="{FF2B5EF4-FFF2-40B4-BE49-F238E27FC236}">
                <a16:creationId xmlns:a16="http://schemas.microsoft.com/office/drawing/2014/main" id="{D6152ED9-EF60-4AC5-B468-863D79B2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5027" y="6522830"/>
            <a:ext cx="519509" cy="229000"/>
          </a:xfrm>
          <a:prstGeom prst="rect">
            <a:avLst/>
          </a:prstGeom>
        </p:spPr>
        <p:txBody>
          <a:bodyPr lIns="0" rIns="0" anchor="ctr"/>
          <a:lstStyle>
            <a:lvl1pPr algn="ctr">
              <a:defRPr sz="1400" i="0">
                <a:solidFill>
                  <a:srgbClr val="102D7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C67A9826-C85A-43BB-9A4D-2C608D6018A0}" type="slidenum">
              <a:rPr lang="en-US" b="1" smtClean="0"/>
              <a:pPr/>
              <a:t>‹#›</a:t>
            </a:fld>
            <a:endParaRPr lang="en-US" b="1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40FD0C-C4D5-4C5D-8D19-950FF2826D4E}"/>
              </a:ext>
            </a:extLst>
          </p:cNvPr>
          <p:cNvGrpSpPr/>
          <p:nvPr userDrawn="1"/>
        </p:nvGrpSpPr>
        <p:grpSpPr>
          <a:xfrm>
            <a:off x="263353" y="6610486"/>
            <a:ext cx="11377785" cy="51403"/>
            <a:chOff x="77148" y="5617762"/>
            <a:chExt cx="11377785" cy="51403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C0396D8-04DC-4C27-A6AE-D99C5E8EE132}"/>
                </a:ext>
              </a:extLst>
            </p:cNvPr>
            <p:cNvSpPr/>
            <p:nvPr/>
          </p:nvSpPr>
          <p:spPr>
            <a:xfrm>
              <a:off x="5981234" y="5617762"/>
              <a:ext cx="3961010" cy="51402"/>
            </a:xfrm>
            <a:prstGeom prst="rect">
              <a:avLst/>
            </a:prstGeom>
            <a:solidFill>
              <a:srgbClr val="235F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6E5BF66-ED9C-4973-86FF-49CFE4C43B46}"/>
                </a:ext>
              </a:extLst>
            </p:cNvPr>
            <p:cNvSpPr/>
            <p:nvPr/>
          </p:nvSpPr>
          <p:spPr>
            <a:xfrm>
              <a:off x="9942245" y="5617762"/>
              <a:ext cx="1512688" cy="51402"/>
            </a:xfrm>
            <a:prstGeom prst="rect">
              <a:avLst/>
            </a:prstGeom>
            <a:solidFill>
              <a:srgbClr val="F3BB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5BC0202-5DB6-47CB-BBF9-582D4358C5AA}"/>
                </a:ext>
              </a:extLst>
            </p:cNvPr>
            <p:cNvSpPr/>
            <p:nvPr/>
          </p:nvSpPr>
          <p:spPr>
            <a:xfrm>
              <a:off x="77148" y="5617763"/>
              <a:ext cx="5904086" cy="51402"/>
            </a:xfrm>
            <a:prstGeom prst="rect">
              <a:avLst/>
            </a:prstGeom>
            <a:solidFill>
              <a:srgbClr val="337DB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55434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C45D2996-6DF0-3841-9276-3778395F7E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853843" cy="6876288"/>
          </a:xfrm>
          <a:custGeom>
            <a:avLst/>
            <a:gdLst>
              <a:gd name="connsiteX0" fmla="*/ 0 w 11704638"/>
              <a:gd name="connsiteY0" fmla="*/ 0 h 13716000"/>
              <a:gd name="connsiteX1" fmla="*/ 11704638 w 11704638"/>
              <a:gd name="connsiteY1" fmla="*/ 0 h 13716000"/>
              <a:gd name="connsiteX2" fmla="*/ 11704638 w 11704638"/>
              <a:gd name="connsiteY2" fmla="*/ 13716000 h 13716000"/>
              <a:gd name="connsiteX3" fmla="*/ 0 w 11704638"/>
              <a:gd name="connsiteY3" fmla="*/ 13716000 h 13716000"/>
              <a:gd name="connsiteX4" fmla="*/ 0 w 11704638"/>
              <a:gd name="connsiteY4" fmla="*/ 0 h 13716000"/>
              <a:gd name="connsiteX0" fmla="*/ 0 w 11704638"/>
              <a:gd name="connsiteY0" fmla="*/ 0 h 13716000"/>
              <a:gd name="connsiteX1" fmla="*/ 11704638 w 11704638"/>
              <a:gd name="connsiteY1" fmla="*/ 0 h 13716000"/>
              <a:gd name="connsiteX2" fmla="*/ 5596446 w 11704638"/>
              <a:gd name="connsiteY2" fmla="*/ 7132320 h 13716000"/>
              <a:gd name="connsiteX3" fmla="*/ 0 w 11704638"/>
              <a:gd name="connsiteY3" fmla="*/ 13716000 h 13716000"/>
              <a:gd name="connsiteX4" fmla="*/ 0 w 11704638"/>
              <a:gd name="connsiteY4" fmla="*/ 0 h 13716000"/>
              <a:gd name="connsiteX0" fmla="*/ 0 w 11704638"/>
              <a:gd name="connsiteY0" fmla="*/ 0 h 13789152"/>
              <a:gd name="connsiteX1" fmla="*/ 11704638 w 11704638"/>
              <a:gd name="connsiteY1" fmla="*/ 0 h 13789152"/>
              <a:gd name="connsiteX2" fmla="*/ 4389438 w 11704638"/>
              <a:gd name="connsiteY2" fmla="*/ 13789152 h 13789152"/>
              <a:gd name="connsiteX3" fmla="*/ 0 w 11704638"/>
              <a:gd name="connsiteY3" fmla="*/ 13716000 h 13789152"/>
              <a:gd name="connsiteX4" fmla="*/ 0 w 11704638"/>
              <a:gd name="connsiteY4" fmla="*/ 0 h 13789152"/>
              <a:gd name="connsiteX0" fmla="*/ 0 w 11704638"/>
              <a:gd name="connsiteY0" fmla="*/ 0 h 13825728"/>
              <a:gd name="connsiteX1" fmla="*/ 11704638 w 11704638"/>
              <a:gd name="connsiteY1" fmla="*/ 0 h 13825728"/>
              <a:gd name="connsiteX2" fmla="*/ 4901502 w 11704638"/>
              <a:gd name="connsiteY2" fmla="*/ 13825728 h 13825728"/>
              <a:gd name="connsiteX3" fmla="*/ 0 w 11704638"/>
              <a:gd name="connsiteY3" fmla="*/ 13716000 h 13825728"/>
              <a:gd name="connsiteX4" fmla="*/ 0 w 11704638"/>
              <a:gd name="connsiteY4" fmla="*/ 0 h 13825728"/>
              <a:gd name="connsiteX0" fmla="*/ 0 w 11704638"/>
              <a:gd name="connsiteY0" fmla="*/ 0 h 13752576"/>
              <a:gd name="connsiteX1" fmla="*/ 11704638 w 11704638"/>
              <a:gd name="connsiteY1" fmla="*/ 0 h 13752576"/>
              <a:gd name="connsiteX2" fmla="*/ 4755198 w 11704638"/>
              <a:gd name="connsiteY2" fmla="*/ 13752576 h 13752576"/>
              <a:gd name="connsiteX3" fmla="*/ 0 w 11704638"/>
              <a:gd name="connsiteY3" fmla="*/ 13716000 h 13752576"/>
              <a:gd name="connsiteX4" fmla="*/ 0 w 11704638"/>
              <a:gd name="connsiteY4" fmla="*/ 0 h 13752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04638" h="13752576">
                <a:moveTo>
                  <a:pt x="0" y="0"/>
                </a:moveTo>
                <a:lnTo>
                  <a:pt x="11704638" y="0"/>
                </a:lnTo>
                <a:lnTo>
                  <a:pt x="4755198" y="13752576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59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>
          <a:xfrm>
            <a:off x="328169" y="6237312"/>
            <a:ext cx="439241" cy="439240"/>
            <a:chOff x="186858" y="6096003"/>
            <a:chExt cx="580550" cy="580549"/>
          </a:xfrm>
          <a:solidFill>
            <a:schemeClr val="bg1">
              <a:lumMod val="95000"/>
            </a:schemeClr>
          </a:solidFill>
        </p:grpSpPr>
        <p:sp>
          <p:nvSpPr>
            <p:cNvPr id="14" name="Rectangle 13"/>
            <p:cNvSpPr/>
            <p:nvPr userDrawn="1"/>
          </p:nvSpPr>
          <p:spPr>
            <a:xfrm>
              <a:off x="186859" y="6096003"/>
              <a:ext cx="580549" cy="58054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 dirty="0">
                <a:latin typeface="GeosansLight" panose="02000603020000020003"/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186858" y="6612049"/>
              <a:ext cx="580549" cy="645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1"/>
            </a:p>
          </p:txBody>
        </p:sp>
      </p:grp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887756" y="620688"/>
            <a:ext cx="7694645" cy="288032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small" baseline="0">
                <a:solidFill>
                  <a:srgbClr val="2F3A46"/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  <a:endParaRPr lang="en-US" dirty="0"/>
          </a:p>
        </p:txBody>
      </p:sp>
      <p:sp>
        <p:nvSpPr>
          <p:cNvPr id="7" name="Espace réservé du titre 1"/>
          <p:cNvSpPr>
            <a:spLocks noGrp="1"/>
          </p:cNvSpPr>
          <p:nvPr>
            <p:ph type="title"/>
          </p:nvPr>
        </p:nvSpPr>
        <p:spPr>
          <a:xfrm>
            <a:off x="3887756" y="3078"/>
            <a:ext cx="7694645" cy="617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2F3A46"/>
                </a:solidFill>
              </a:defRPr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00" b="19391"/>
          <a:stretch/>
        </p:blipFill>
        <p:spPr>
          <a:xfrm>
            <a:off x="11096512" y="5774480"/>
            <a:ext cx="1095488" cy="108352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6796" y="100099"/>
            <a:ext cx="1627773" cy="451143"/>
          </a:xfrm>
          <a:prstGeom prst="rect">
            <a:avLst/>
          </a:prstGeom>
        </p:spPr>
      </p:pic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28169" y="6237312"/>
            <a:ext cx="439241" cy="390437"/>
          </a:xfrm>
          <a:prstGeom prst="rect">
            <a:avLst/>
          </a:prstGeom>
        </p:spPr>
        <p:txBody>
          <a:bodyPr anchor="ctr"/>
          <a:lstStyle>
            <a:lvl1pPr algn="ctr">
              <a:defRPr sz="1400">
                <a:solidFill>
                  <a:srgbClr val="2F3A46"/>
                </a:solidFill>
              </a:defRPr>
            </a:lvl1pPr>
          </a:lstStyle>
          <a:p>
            <a:fld id="{F68327C5-B821-4FE9-A59A-A60D9EB59A9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9972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18900044" scaled="0"/>
        </a:gra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 rot="5400000">
            <a:off x="347000" y="1904933"/>
            <a:ext cx="2334400" cy="304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3300367" y="2671833"/>
            <a:ext cx="7751200" cy="890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5867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5867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5867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5867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5867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5867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5867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5867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None/>
              <a:defRPr sz="5867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3300367" y="3692067"/>
            <a:ext cx="7751200" cy="49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1067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2pPr>
            <a:lvl3pPr lvl="2" rtl="0">
              <a:spcBef>
                <a:spcPts val="1067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3pPr>
            <a:lvl4pPr lvl="3" rtl="0">
              <a:spcBef>
                <a:spcPts val="1067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4pPr>
            <a:lvl5pPr lvl="4" rtl="0">
              <a:spcBef>
                <a:spcPts val="1067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5pPr>
            <a:lvl6pPr lvl="5" rtl="0">
              <a:spcBef>
                <a:spcPts val="1067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6pPr>
            <a:lvl7pPr lvl="6" rtl="0">
              <a:spcBef>
                <a:spcPts val="1067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7pPr>
            <a:lvl8pPr lvl="7" rtl="0">
              <a:spcBef>
                <a:spcPts val="1067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8pPr>
            <a:lvl9pPr lvl="8" rtl="0">
              <a:spcBef>
                <a:spcPts val="1067"/>
              </a:spcBef>
              <a:spcAft>
                <a:spcPts val="1067"/>
              </a:spcAft>
              <a:buClr>
                <a:schemeClr val="accent4"/>
              </a:buClr>
              <a:buSzPts val="3000"/>
              <a:buNone/>
              <a:defRPr sz="4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25182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276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47033" y="715533"/>
            <a:ext cx="10298000" cy="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Fira Sans Extra Condensed Medium"/>
              <a:buNone/>
              <a:defRPr sz="28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47033" y="1536633"/>
            <a:ext cx="10298000" cy="4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439205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93" r:id="rId15"/>
    <p:sldLayoutId id="2147483694" r:id="rId16"/>
    <p:sldLayoutId id="2147483695" r:id="rId17"/>
    <p:sldLayoutId id="214748369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47">
          <p15:clr>
            <a:srgbClr val="EA4335"/>
          </p15:clr>
        </p15:guide>
        <p15:guide id="4" pos="5313">
          <p15:clr>
            <a:srgbClr val="EA4335"/>
          </p15:clr>
        </p15:guide>
        <p15:guide id="5" orient="horz" pos="338">
          <p15:clr>
            <a:srgbClr val="EA4335"/>
          </p15:clr>
        </p15:guide>
        <p15:guide id="6" orient="horz" pos="2902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5DA93C-135E-43CB-9E9D-FED09B87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A878E-84FD-407A-AB1D-E4072BDC0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8537B-4705-4BEB-A638-31529FAA4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6041E-F977-4BA8-8800-EFBA9D8D41FB}" type="datetimeFigureOut">
              <a:rPr lang="id-ID" smtClean="0"/>
              <a:t>28/03/2023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DE731-674D-4BAB-88E4-D092D6D50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06ABB-855E-4C5B-851A-56DEFA333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9FAAE-9DAC-45BF-BE92-87F691D3520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85987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pixabay.com/photos/iocenters-conference-room-2673328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g"/><Relationship Id="rId3" Type="http://schemas.openxmlformats.org/officeDocument/2006/relationships/image" Target="../media/image47.png"/><Relationship Id="rId7" Type="http://schemas.openxmlformats.org/officeDocument/2006/relationships/image" Target="../media/image4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6.xml"/><Relationship Id="rId6" Type="http://schemas.openxmlformats.org/officeDocument/2006/relationships/slide" Target="slide18.xml"/><Relationship Id="rId5" Type="http://schemas.openxmlformats.org/officeDocument/2006/relationships/slide" Target="slide19.xml"/><Relationship Id="rId4" Type="http://schemas.openxmlformats.org/officeDocument/2006/relationships/slide" Target="slide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06DCF-7094-4444-83B8-A3311103C5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1640123"/>
            <a:ext cx="5009357" cy="2626822"/>
          </a:xfrm>
        </p:spPr>
        <p:txBody>
          <a:bodyPr anchor="ctr"/>
          <a:lstStyle/>
          <a:p>
            <a:pPr algn="l"/>
            <a:r>
              <a:rPr lang="id-ID" sz="3600" dirty="0">
                <a:solidFill>
                  <a:schemeClr val="tx1"/>
                </a:solidFill>
              </a:rPr>
              <a:t>Kebijakan Akuntansi </a:t>
            </a:r>
            <a:r>
              <a:rPr lang="en-US" sz="3600" dirty="0">
                <a:solidFill>
                  <a:schemeClr val="tx1"/>
                </a:solidFill>
              </a:rPr>
              <a:t>PERSEDIAAN</a:t>
            </a:r>
            <a:endParaRPr lang="id-ID" sz="3600" dirty="0">
              <a:solidFill>
                <a:schemeClr val="tx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7E0B02-1B71-4AD9-AC10-5CA683636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0382" y="5761555"/>
            <a:ext cx="4627357" cy="359879"/>
          </a:xfrm>
        </p:spPr>
        <p:txBody>
          <a:bodyPr/>
          <a:lstStyle/>
          <a:p>
            <a:r>
              <a:rPr lang="id-ID" dirty="0">
                <a:latin typeface="Tahoma"/>
                <a:ea typeface="Tahoma"/>
                <a:cs typeface="Tahoma"/>
              </a:rPr>
              <a:t>Kamis</a:t>
            </a:r>
            <a:r>
              <a:rPr lang="en-US" dirty="0">
                <a:latin typeface="Tahoma"/>
                <a:ea typeface="Tahoma"/>
                <a:cs typeface="Tahoma"/>
              </a:rPr>
              <a:t>, 28 </a:t>
            </a:r>
            <a:r>
              <a:rPr lang="id-ID" dirty="0">
                <a:latin typeface="Tahoma"/>
                <a:ea typeface="Tahoma"/>
                <a:cs typeface="Tahoma"/>
              </a:rPr>
              <a:t>Maret</a:t>
            </a:r>
            <a:r>
              <a:rPr lang="en-US" dirty="0">
                <a:latin typeface="Tahoma"/>
                <a:ea typeface="Tahoma"/>
                <a:cs typeface="Tahoma"/>
              </a:rPr>
              <a:t> 2023</a:t>
            </a:r>
            <a:endParaRPr lang="id-ID" dirty="0">
              <a:latin typeface="Tahoma"/>
              <a:ea typeface="Tahoma"/>
              <a:cs typeface="Tahoma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71506D2-6B13-4EE1-6A7F-4AB8CC1873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6483832"/>
            <a:ext cx="10701337" cy="359879"/>
          </a:xfrm>
          <a:solidFill>
            <a:srgbClr val="000099"/>
          </a:solidFill>
        </p:spPr>
        <p:txBody>
          <a:bodyPr vert="horz" lIns="91440" tIns="0" rIns="91440" bIns="0" rtlCol="0" anchor="ctr">
            <a:normAutofit/>
          </a:bodyPr>
          <a:lstStyle/>
          <a:p>
            <a:r>
              <a:rPr lang="en-ID" sz="1100">
                <a:solidFill>
                  <a:schemeClr val="bg1"/>
                </a:solidFill>
                <a:latin typeface="Tahoma"/>
                <a:ea typeface="Tahoma"/>
                <a:cs typeface="Tahoma"/>
              </a:rPr>
              <a:t>         @ 2023 Direktorat Jenderal Perbendaharaan</a:t>
            </a:r>
            <a:endParaRPr lang="en-ID" sz="1100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18136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500" b="1" dirty="0">
                <a:latin typeface="Arial Rounded MT Bold" pitchFamily="34" charset="0"/>
              </a:rPr>
              <a:t>PSAP NO. 0</a:t>
            </a:r>
            <a:r>
              <a:rPr lang="id-ID" sz="3500" b="1" dirty="0">
                <a:latin typeface="Arial Rounded MT Bold" pitchFamily="34" charset="0"/>
              </a:rPr>
              <a:t>5</a:t>
            </a:r>
            <a:br>
              <a:rPr lang="en-US" sz="3500" b="1" dirty="0">
                <a:latin typeface="Arial Rounded MT Bold" pitchFamily="34" charset="0"/>
              </a:rPr>
            </a:br>
            <a:r>
              <a:rPr lang="id-ID" sz="3500" b="1" dirty="0">
                <a:latin typeface="Arial Rounded MT Bold" pitchFamily="34" charset="0"/>
              </a:rPr>
              <a:t>AKUNTANSI PERSEDIAAN</a:t>
            </a:r>
            <a:endParaRPr lang="en-US" sz="4000" dirty="0">
              <a:solidFill>
                <a:srgbClr val="FFCC00"/>
              </a:solidFill>
              <a:latin typeface="Arial Rounded MT Bold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00584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03FAF60E-7E65-4D2C-8BB0-8DDC914D045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91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3425" y="6116"/>
            <a:ext cx="2147188" cy="64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000" b="1" spc="-5" dirty="0"/>
              <a:t>Definisi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960882"/>
            <a:ext cx="10184449" cy="30963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85"/>
              </a:spcBef>
            </a:pPr>
            <a:r>
              <a:rPr sz="4000" b="1" spc="-15" dirty="0">
                <a:solidFill>
                  <a:srgbClr val="C00000"/>
                </a:solidFill>
                <a:latin typeface="Calibri"/>
                <a:cs typeface="Calibri"/>
              </a:rPr>
              <a:t>Persediaan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adalah </a:t>
            </a:r>
            <a:r>
              <a:rPr sz="3600" spc="-5" dirty="0">
                <a:latin typeface="Calibri"/>
                <a:cs typeface="Calibri"/>
              </a:rPr>
              <a:t>aset lancar dalam </a:t>
            </a:r>
            <a:r>
              <a:rPr sz="3600" spc="-10" dirty="0">
                <a:latin typeface="Calibri"/>
                <a:cs typeface="Calibri"/>
              </a:rPr>
              <a:t>bentuk barang </a:t>
            </a:r>
            <a:r>
              <a:rPr sz="3600" spc="-15" dirty="0">
                <a:latin typeface="Calibri"/>
                <a:cs typeface="Calibri"/>
              </a:rPr>
              <a:t>atau </a:t>
            </a:r>
            <a:r>
              <a:rPr sz="3600" spc="-5" dirty="0">
                <a:latin typeface="Calibri"/>
                <a:cs typeface="Calibri"/>
              </a:rPr>
              <a:t>perlengkapan </a:t>
            </a:r>
            <a:r>
              <a:rPr sz="3600" spc="-10" dirty="0">
                <a:latin typeface="Calibri"/>
                <a:cs typeface="Calibri"/>
              </a:rPr>
              <a:t>yang 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dimaksudkan untuk </a:t>
            </a:r>
            <a:r>
              <a:rPr sz="3600" spc="-5" dirty="0">
                <a:latin typeface="Calibri"/>
                <a:cs typeface="Calibri"/>
              </a:rPr>
              <a:t>mendukung </a:t>
            </a:r>
            <a:r>
              <a:rPr sz="3600" spc="-15" dirty="0">
                <a:latin typeface="Calibri"/>
                <a:cs typeface="Calibri"/>
              </a:rPr>
              <a:t>kegiatan </a:t>
            </a:r>
            <a:r>
              <a:rPr sz="3600" spc="-5" dirty="0">
                <a:latin typeface="Calibri"/>
                <a:cs typeface="Calibri"/>
              </a:rPr>
              <a:t>operasional pemerintah, dan</a:t>
            </a:r>
            <a:r>
              <a:rPr lang="en-US" sz="3600" spc="-5" dirty="0">
                <a:latin typeface="Calibri"/>
                <a:cs typeface="Calibri"/>
              </a:rPr>
              <a:t> </a:t>
            </a:r>
            <a:r>
              <a:rPr sz="3600" spc="-10" dirty="0" err="1">
                <a:latin typeface="Calibri"/>
                <a:cs typeface="Calibri"/>
              </a:rPr>
              <a:t>barang-barang</a:t>
            </a:r>
            <a:r>
              <a:rPr sz="3600" spc="-10" dirty="0">
                <a:latin typeface="Calibri"/>
                <a:cs typeface="Calibri"/>
              </a:rPr>
              <a:t> yang dimaksudkan untuk </a:t>
            </a:r>
            <a:r>
              <a:rPr sz="3600" spc="-5" dirty="0">
                <a:latin typeface="Calibri"/>
                <a:cs typeface="Calibri"/>
              </a:rPr>
              <a:t>dijual </a:t>
            </a:r>
            <a:r>
              <a:rPr sz="3600" spc="-15" dirty="0">
                <a:latin typeface="Calibri"/>
                <a:cs typeface="Calibri"/>
              </a:rPr>
              <a:t>dan/atau </a:t>
            </a:r>
            <a:r>
              <a:rPr sz="3600" spc="-10" dirty="0">
                <a:latin typeface="Calibri"/>
                <a:cs typeface="Calibri"/>
              </a:rPr>
              <a:t>diserahkan </a:t>
            </a:r>
            <a:r>
              <a:rPr sz="3600" spc="-5" dirty="0">
                <a:latin typeface="Calibri"/>
                <a:cs typeface="Calibri"/>
              </a:rPr>
              <a:t>dalam </a:t>
            </a:r>
            <a:r>
              <a:rPr sz="3600" spc="-15" dirty="0">
                <a:latin typeface="Calibri"/>
                <a:cs typeface="Calibri"/>
              </a:rPr>
              <a:t>rangka 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pelayanan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kepada masyarakat.(PSAP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05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75" dirty="0">
                <a:latin typeface="Calibri"/>
                <a:cs typeface="Calibri"/>
              </a:rPr>
              <a:t>Par.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149" y="0"/>
            <a:ext cx="5244276" cy="702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400" b="1" spc="-5" dirty="0" err="1"/>
              <a:t>Cakupan</a:t>
            </a:r>
            <a:r>
              <a:rPr lang="en-US" sz="4400" b="1" spc="-5" dirty="0"/>
              <a:t> </a:t>
            </a:r>
            <a:r>
              <a:rPr lang="en-US" sz="4400" b="1" spc="-5" dirty="0" err="1"/>
              <a:t>Persediaan</a:t>
            </a:r>
            <a:endParaRPr sz="4400" b="1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839469" y="1114044"/>
            <a:ext cx="10513061" cy="4554516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19"/>
              </a:spcBef>
            </a:pPr>
            <a:r>
              <a:rPr sz="3600" spc="-15" dirty="0">
                <a:latin typeface="Calibri"/>
                <a:cs typeface="Calibri"/>
              </a:rPr>
              <a:t>Persediaan </a:t>
            </a:r>
            <a:r>
              <a:rPr sz="3600" spc="-5" dirty="0">
                <a:latin typeface="Calibri"/>
                <a:cs typeface="Calibri"/>
              </a:rPr>
              <a:t>merupakan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aset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yang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berupa:</a:t>
            </a:r>
            <a:endParaRPr sz="3600" dirty="0">
              <a:latin typeface="Calibri"/>
              <a:cs typeface="Calibri"/>
            </a:endParaRPr>
          </a:p>
          <a:p>
            <a:pPr marL="527685" marR="294640" indent="-515620" algn="just">
              <a:lnSpc>
                <a:spcPts val="2590"/>
              </a:lnSpc>
              <a:spcBef>
                <a:spcPts val="1050"/>
              </a:spcBef>
              <a:buSzPct val="79166"/>
              <a:buAutoNum type="alphaUcPeriod"/>
              <a:tabLst>
                <a:tab pos="527685" algn="l"/>
                <a:tab pos="528320" algn="l"/>
              </a:tabLst>
            </a:pPr>
            <a:r>
              <a:rPr sz="3600" spc="-10" dirty="0">
                <a:latin typeface="Calibri"/>
                <a:cs typeface="Calibri"/>
              </a:rPr>
              <a:t>Barang </a:t>
            </a:r>
            <a:r>
              <a:rPr sz="3600" spc="-15" dirty="0">
                <a:latin typeface="Calibri"/>
                <a:cs typeface="Calibri"/>
              </a:rPr>
              <a:t>atau </a:t>
            </a:r>
            <a:r>
              <a:rPr sz="3600" spc="-5" dirty="0">
                <a:latin typeface="Calibri"/>
                <a:cs typeface="Calibri"/>
              </a:rPr>
              <a:t>perlengkapan (supplies) </a:t>
            </a:r>
            <a:r>
              <a:rPr sz="3600" spc="-10" dirty="0">
                <a:latin typeface="Calibri"/>
                <a:cs typeface="Calibri"/>
              </a:rPr>
              <a:t>yang digunakan </a:t>
            </a:r>
            <a:r>
              <a:rPr sz="3600" spc="-5" dirty="0">
                <a:latin typeface="Calibri"/>
                <a:cs typeface="Calibri"/>
              </a:rPr>
              <a:t>dalam </a:t>
            </a:r>
            <a:r>
              <a:rPr sz="3600" spc="-15" dirty="0">
                <a:latin typeface="Calibri"/>
                <a:cs typeface="Calibri"/>
              </a:rPr>
              <a:t>rangka kegiatan </a:t>
            </a:r>
            <a:r>
              <a:rPr sz="3600" spc="-53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operasional </a:t>
            </a:r>
            <a:r>
              <a:rPr sz="3600" spc="-5" dirty="0">
                <a:latin typeface="Calibri"/>
                <a:cs typeface="Calibri"/>
              </a:rPr>
              <a:t>pemerintah;</a:t>
            </a:r>
            <a:endParaRPr sz="3600" dirty="0">
              <a:latin typeface="Calibri"/>
              <a:cs typeface="Calibri"/>
            </a:endParaRPr>
          </a:p>
          <a:p>
            <a:pPr marL="527685" marR="852805" indent="-515620" algn="just">
              <a:lnSpc>
                <a:spcPts val="2590"/>
              </a:lnSpc>
              <a:spcBef>
                <a:spcPts val="1000"/>
              </a:spcBef>
              <a:buSzPct val="79166"/>
              <a:buAutoNum type="alphaUcPeriod"/>
              <a:tabLst>
                <a:tab pos="527685" algn="l"/>
                <a:tab pos="528320" algn="l"/>
              </a:tabLst>
            </a:pPr>
            <a:r>
              <a:rPr sz="3600" dirty="0">
                <a:latin typeface="Calibri"/>
                <a:cs typeface="Calibri"/>
              </a:rPr>
              <a:t>Bahan </a:t>
            </a:r>
            <a:r>
              <a:rPr sz="3600" spc="-15" dirty="0">
                <a:latin typeface="Calibri"/>
                <a:cs typeface="Calibri"/>
              </a:rPr>
              <a:t>atau </a:t>
            </a:r>
            <a:r>
              <a:rPr sz="3600" spc="-5" dirty="0">
                <a:latin typeface="Calibri"/>
                <a:cs typeface="Calibri"/>
              </a:rPr>
              <a:t>perlengkapan (supplies) </a:t>
            </a:r>
            <a:r>
              <a:rPr sz="3600" spc="-10" dirty="0">
                <a:latin typeface="Calibri"/>
                <a:cs typeface="Calibri"/>
              </a:rPr>
              <a:t>yang akan digunakan </a:t>
            </a:r>
            <a:r>
              <a:rPr sz="3600" spc="-5" dirty="0" err="1">
                <a:latin typeface="Calibri"/>
                <a:cs typeface="Calibri"/>
              </a:rPr>
              <a:t>dalam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proses</a:t>
            </a:r>
            <a:r>
              <a:rPr lang="en-US" sz="3600" spc="-10" dirty="0">
                <a:latin typeface="Calibri"/>
                <a:cs typeface="Calibri"/>
              </a:rPr>
              <a:t> </a:t>
            </a:r>
            <a:r>
              <a:rPr sz="3600" spc="-15" dirty="0" err="1">
                <a:latin typeface="Calibri"/>
                <a:cs typeface="Calibri"/>
              </a:rPr>
              <a:t>produksi</a:t>
            </a:r>
            <a:r>
              <a:rPr sz="3600" spc="-15" dirty="0">
                <a:latin typeface="Calibri"/>
                <a:cs typeface="Calibri"/>
              </a:rPr>
              <a:t>;</a:t>
            </a:r>
            <a:endParaRPr sz="3600" dirty="0">
              <a:latin typeface="Calibri"/>
              <a:cs typeface="Calibri"/>
            </a:endParaRPr>
          </a:p>
          <a:p>
            <a:pPr marL="527685" marR="5080" indent="-515620" algn="just">
              <a:lnSpc>
                <a:spcPts val="2590"/>
              </a:lnSpc>
              <a:spcBef>
                <a:spcPts val="1005"/>
              </a:spcBef>
              <a:buSzPct val="79166"/>
              <a:buAutoNum type="alphaUcPeriod"/>
              <a:tabLst>
                <a:tab pos="527685" algn="l"/>
                <a:tab pos="528320" algn="l"/>
              </a:tabLst>
            </a:pPr>
            <a:r>
              <a:rPr sz="3600" spc="-10" dirty="0">
                <a:latin typeface="Calibri"/>
                <a:cs typeface="Calibri"/>
              </a:rPr>
              <a:t>Barang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dalam </a:t>
            </a:r>
            <a:r>
              <a:rPr sz="3600" spc="-10" dirty="0">
                <a:latin typeface="Calibri"/>
                <a:cs typeface="Calibri"/>
              </a:rPr>
              <a:t>proses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produksi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yang dimaksudkan untuk</a:t>
            </a:r>
            <a:r>
              <a:rPr sz="3600" spc="-5" dirty="0">
                <a:latin typeface="Calibri"/>
                <a:cs typeface="Calibri"/>
              </a:rPr>
              <a:t> dijual</a:t>
            </a:r>
            <a:r>
              <a:rPr sz="3600" spc="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atau </a:t>
            </a:r>
            <a:r>
              <a:rPr sz="3600" spc="-10" dirty="0">
                <a:latin typeface="Calibri"/>
                <a:cs typeface="Calibri"/>
              </a:rPr>
              <a:t>diserahkan </a:t>
            </a:r>
            <a:r>
              <a:rPr sz="3600" spc="-525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kepada</a:t>
            </a:r>
            <a:r>
              <a:rPr sz="3600" spc="-20" dirty="0">
                <a:latin typeface="Calibri"/>
                <a:cs typeface="Calibri"/>
              </a:rPr>
              <a:t> masyarakat;</a:t>
            </a:r>
            <a:endParaRPr sz="3600" dirty="0">
              <a:latin typeface="Calibri"/>
              <a:cs typeface="Calibri"/>
            </a:endParaRPr>
          </a:p>
          <a:p>
            <a:pPr marL="527685" indent="-515620" algn="just">
              <a:lnSpc>
                <a:spcPts val="2740"/>
              </a:lnSpc>
              <a:spcBef>
                <a:spcPts val="680"/>
              </a:spcBef>
              <a:buSzPct val="79166"/>
              <a:buAutoNum type="alphaUcPeriod"/>
              <a:tabLst>
                <a:tab pos="527685" algn="l"/>
                <a:tab pos="528320" algn="l"/>
              </a:tabLst>
            </a:pPr>
            <a:r>
              <a:rPr sz="3600" spc="-10" dirty="0">
                <a:latin typeface="Calibri"/>
                <a:cs typeface="Calibri"/>
              </a:rPr>
              <a:t>Barang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yang</a:t>
            </a:r>
            <a:r>
              <a:rPr sz="3600" spc="-5" dirty="0">
                <a:latin typeface="Calibri"/>
                <a:cs typeface="Calibri"/>
              </a:rPr>
              <a:t> disimpan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untuk</a:t>
            </a:r>
            <a:r>
              <a:rPr sz="3600" spc="-5" dirty="0">
                <a:latin typeface="Calibri"/>
                <a:cs typeface="Calibri"/>
              </a:rPr>
              <a:t> dijual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atau </a:t>
            </a:r>
            <a:r>
              <a:rPr sz="3600" spc="-10" dirty="0">
                <a:latin typeface="Calibri"/>
                <a:cs typeface="Calibri"/>
              </a:rPr>
              <a:t>diserahkan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kepada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20" dirty="0" err="1">
                <a:latin typeface="Calibri"/>
                <a:cs typeface="Calibri"/>
              </a:rPr>
              <a:t>masyarakat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5" dirty="0" err="1">
                <a:latin typeface="Calibri"/>
                <a:cs typeface="Calibri"/>
              </a:rPr>
              <a:t>dalam</a:t>
            </a:r>
            <a:r>
              <a:rPr lang="en-US" sz="3600" spc="-5" dirty="0">
                <a:latin typeface="Calibri"/>
                <a:cs typeface="Calibri"/>
              </a:rPr>
              <a:t> </a:t>
            </a:r>
            <a:r>
              <a:rPr sz="3600" spc="-15" dirty="0" err="1">
                <a:latin typeface="Calibri"/>
                <a:cs typeface="Calibri"/>
              </a:rPr>
              <a:t>rangka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kegiatan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pemerintahan.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9046" y="9855"/>
            <a:ext cx="3075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/>
              <a:t>Contoh</a:t>
            </a:r>
            <a:r>
              <a:rPr b="1" spc="-35" dirty="0"/>
              <a:t> </a:t>
            </a:r>
            <a:r>
              <a:rPr b="1" dirty="0"/>
              <a:t>Persediaan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9801" y="905510"/>
            <a:ext cx="9187815" cy="504698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2400" spc="-15" dirty="0">
                <a:latin typeface="Calibri"/>
                <a:cs typeface="Calibri"/>
              </a:rPr>
              <a:t>Persediaan </a:t>
            </a:r>
            <a:r>
              <a:rPr sz="2400" spc="-10" dirty="0">
                <a:latin typeface="Calibri"/>
                <a:cs typeface="Calibri"/>
              </a:rPr>
              <a:t>dapat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terdiri </a:t>
            </a:r>
            <a:r>
              <a:rPr sz="2400" dirty="0">
                <a:latin typeface="Calibri"/>
                <a:cs typeface="Calibri"/>
              </a:rPr>
              <a:t>dari:</a:t>
            </a:r>
          </a:p>
          <a:p>
            <a:pPr marL="527685" indent="-51562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10" dirty="0">
                <a:latin typeface="Calibri"/>
                <a:cs typeface="Calibri"/>
              </a:rPr>
              <a:t>Barang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konsumsi</a:t>
            </a:r>
            <a:endParaRPr sz="2400" dirty="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dirty="0">
                <a:latin typeface="Calibri"/>
                <a:cs typeface="Calibri"/>
              </a:rPr>
              <a:t>Amunisi</a:t>
            </a:r>
          </a:p>
          <a:p>
            <a:pPr marL="527685" indent="-515620">
              <a:lnSpc>
                <a:spcPct val="100000"/>
              </a:lnSpc>
              <a:spcBef>
                <a:spcPts val="71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dirty="0">
                <a:latin typeface="Calibri"/>
                <a:cs typeface="Calibri"/>
              </a:rPr>
              <a:t>Bahan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untuk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pemeliharaan</a:t>
            </a:r>
            <a:endParaRPr sz="2400" dirty="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15" dirty="0">
                <a:latin typeface="Calibri"/>
                <a:cs typeface="Calibri"/>
              </a:rPr>
              <a:t>Suku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cadang</a:t>
            </a:r>
            <a:endParaRPr sz="2400" dirty="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15" dirty="0">
                <a:latin typeface="Calibri"/>
                <a:cs typeface="Calibri"/>
              </a:rPr>
              <a:t>Persediaan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untuk</a:t>
            </a:r>
            <a:r>
              <a:rPr sz="2400" dirty="0">
                <a:latin typeface="Calibri"/>
                <a:cs typeface="Calibri"/>
              </a:rPr>
              <a:t> tujuan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strategis/berjaga-jaga</a:t>
            </a:r>
            <a:endParaRPr sz="2400" dirty="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10" dirty="0">
                <a:latin typeface="Calibri"/>
                <a:cs typeface="Calibri"/>
              </a:rPr>
              <a:t>Pita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Cukai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leges</a:t>
            </a:r>
            <a:endParaRPr sz="2400" dirty="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dirty="0">
                <a:latin typeface="Calibri"/>
                <a:cs typeface="Calibri"/>
              </a:rPr>
              <a:t>Bahan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baku</a:t>
            </a:r>
            <a:endParaRPr sz="2400" dirty="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10" dirty="0">
                <a:latin typeface="Calibri"/>
                <a:cs typeface="Calibri"/>
              </a:rPr>
              <a:t>Barang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dalam</a:t>
            </a:r>
            <a:r>
              <a:rPr sz="2400" spc="-15" dirty="0">
                <a:latin typeface="Calibri"/>
                <a:cs typeface="Calibri"/>
              </a:rPr>
              <a:t> proses/setengah</a:t>
            </a:r>
            <a:r>
              <a:rPr sz="2400" spc="-5" dirty="0">
                <a:latin typeface="Calibri"/>
                <a:cs typeface="Calibri"/>
              </a:rPr>
              <a:t> jadi</a:t>
            </a:r>
            <a:endParaRPr sz="2400" dirty="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20" dirty="0">
                <a:latin typeface="Calibri"/>
                <a:cs typeface="Calibri"/>
              </a:rPr>
              <a:t>Tanah/bangunan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untuk</a:t>
            </a:r>
            <a:r>
              <a:rPr sz="2400" spc="-5" dirty="0">
                <a:latin typeface="Calibri"/>
                <a:cs typeface="Calibri"/>
              </a:rPr>
              <a:t> dijual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atau </a:t>
            </a:r>
            <a:r>
              <a:rPr sz="2400" spc="-10" dirty="0">
                <a:latin typeface="Calibri"/>
                <a:cs typeface="Calibri"/>
              </a:rPr>
              <a:t>diserahkan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kepada </a:t>
            </a:r>
            <a:r>
              <a:rPr sz="2400" spc="-20" dirty="0">
                <a:latin typeface="Calibri"/>
                <a:cs typeface="Calibri"/>
              </a:rPr>
              <a:t>masyarakat</a:t>
            </a:r>
            <a:endParaRPr sz="2400" dirty="0">
              <a:latin typeface="Calibri"/>
              <a:cs typeface="Calibri"/>
            </a:endParaRPr>
          </a:p>
          <a:p>
            <a:pPr marL="527685" indent="-51562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400" spc="-10" dirty="0">
                <a:latin typeface="Calibri"/>
                <a:cs typeface="Calibri"/>
              </a:rPr>
              <a:t>Hewan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dan tanaman,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untuk</a:t>
            </a:r>
            <a:r>
              <a:rPr sz="2400" spc="-5" dirty="0">
                <a:latin typeface="Calibri"/>
                <a:cs typeface="Calibri"/>
              </a:rPr>
              <a:t> dijual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atau </a:t>
            </a:r>
            <a:r>
              <a:rPr sz="2400" spc="-10" dirty="0">
                <a:latin typeface="Calibri"/>
                <a:cs typeface="Calibri"/>
              </a:rPr>
              <a:t>diserahkan </a:t>
            </a:r>
            <a:r>
              <a:rPr sz="2400" spc="-15" dirty="0">
                <a:latin typeface="Calibri"/>
                <a:cs typeface="Calibri"/>
              </a:rPr>
              <a:t>kepada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masyarakat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6F2E7B1E-1D97-4B8A-B5E6-40D7DA0A245E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925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431146" y="29028"/>
            <a:ext cx="8251368" cy="685800"/>
          </a:xfrm>
          <a:noFill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>
                <a:solidFill>
                  <a:schemeClr val="tx1"/>
                </a:solidFill>
              </a:rPr>
              <a:t> PENGAKUAN PERSEDIAAN</a:t>
            </a:r>
          </a:p>
        </p:txBody>
      </p:sp>
      <p:sp>
        <p:nvSpPr>
          <p:cNvPr id="9256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42963" y="911679"/>
            <a:ext cx="10344149" cy="5214486"/>
          </a:xfrm>
        </p:spPr>
        <p:txBody>
          <a:bodyPr rtlCol="0">
            <a:normAutofit/>
          </a:bodyPr>
          <a:lstStyle/>
          <a:p>
            <a:pPr marL="609600" indent="-609600" algn="ctr">
              <a:buSzPct val="80000"/>
              <a:buNone/>
              <a:defRPr/>
            </a:pPr>
            <a:r>
              <a:rPr lang="en-US" sz="32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Persediaan</a:t>
            </a:r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32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diakui</a:t>
            </a:r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:</a:t>
            </a:r>
          </a:p>
          <a:p>
            <a:pPr marL="609600" indent="-609600">
              <a:buSzPct val="80000"/>
              <a:buNone/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2362200" y="2362200"/>
          <a:ext cx="71628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3810000" y="6553200"/>
            <a:ext cx="4343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bIns="91440" anchor="ctr"/>
          <a:lstStyle/>
          <a:p>
            <a:pPr algn="ctr"/>
            <a:endParaRPr lang="id-ID" sz="80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/>
              <a:t>lampiran I PP No.71 Tahun 2010</a:t>
            </a:r>
          </a:p>
        </p:txBody>
      </p:sp>
    </p:spTree>
    <p:extLst>
      <p:ext uri="{BB962C8B-B14F-4D97-AF65-F5344CB8AC3E}">
        <p14:creationId xmlns:p14="http://schemas.microsoft.com/office/powerpoint/2010/main" val="88074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925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2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25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2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925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69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6F2E7B1E-1D97-4B8A-B5E6-40D7DA0A245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2" name="Group 2"/>
          <p:cNvGrpSpPr>
            <a:grpSpLocks noChangeAspect="1"/>
          </p:cNvGrpSpPr>
          <p:nvPr/>
        </p:nvGrpSpPr>
        <p:grpSpPr bwMode="auto">
          <a:xfrm>
            <a:off x="1828800" y="1295400"/>
            <a:ext cx="8566150" cy="5029200"/>
            <a:chOff x="2527" y="1774"/>
            <a:chExt cx="11141" cy="6069"/>
          </a:xfrm>
        </p:grpSpPr>
        <p:sp>
          <p:nvSpPr>
            <p:cNvPr id="7173" name="AutoShape 3"/>
            <p:cNvSpPr>
              <a:spLocks noChangeAspect="1" noChangeArrowheads="1"/>
            </p:cNvSpPr>
            <p:nvPr/>
          </p:nvSpPr>
          <p:spPr bwMode="auto">
            <a:xfrm>
              <a:off x="2527" y="1774"/>
              <a:ext cx="11100" cy="60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id-ID">
                <a:latin typeface="Calibri" pitchFamily="34" charset="0"/>
              </a:endParaRPr>
            </a:p>
          </p:txBody>
        </p:sp>
        <p:sp>
          <p:nvSpPr>
            <p:cNvPr id="10245" name="Rectangle 4"/>
            <p:cNvSpPr>
              <a:spLocks noChangeArrowheads="1"/>
            </p:cNvSpPr>
            <p:nvPr/>
          </p:nvSpPr>
          <p:spPr bwMode="auto">
            <a:xfrm>
              <a:off x="2527" y="1876"/>
              <a:ext cx="2300" cy="113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9436" tIns="29718" rIns="59436" bIns="29718" anchor="ctr"/>
            <a:lstStyle/>
            <a:p>
              <a:pPr algn="ctr" eaLnBrk="0" hangingPunct="0">
                <a:defRPr/>
              </a:pP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Biaya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perolehan</a:t>
              </a:r>
              <a:endParaRPr lang="en-US" b="1" dirty="0">
                <a:solidFill>
                  <a:schemeClr val="bg2">
                    <a:lumMod val="50000"/>
                  </a:schemeClr>
                </a:solidFill>
                <a:latin typeface="Arial Narrow" pitchFamily="34" charset="0"/>
              </a:endParaRPr>
            </a:p>
          </p:txBody>
        </p:sp>
        <p:sp>
          <p:nvSpPr>
            <p:cNvPr id="10246" name="Rectangle 5"/>
            <p:cNvSpPr>
              <a:spLocks noChangeArrowheads="1"/>
            </p:cNvSpPr>
            <p:nvPr/>
          </p:nvSpPr>
          <p:spPr bwMode="auto">
            <a:xfrm>
              <a:off x="2626" y="3830"/>
              <a:ext cx="2201" cy="1236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9436" tIns="29718" rIns="59436" bIns="29718" anchor="ctr"/>
            <a:lstStyle/>
            <a:p>
              <a:pPr algn="ctr" eaLnBrk="0" hangingPunct="0">
                <a:defRPr/>
              </a:pP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Harga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pokok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produksi</a:t>
              </a:r>
              <a:endParaRPr lang="en-US" b="1" dirty="0">
                <a:solidFill>
                  <a:schemeClr val="bg2">
                    <a:lumMod val="50000"/>
                  </a:schemeClr>
                </a:solidFill>
                <a:latin typeface="Arial Narrow" pitchFamily="34" charset="0"/>
              </a:endParaRPr>
            </a:p>
          </p:txBody>
        </p:sp>
        <p:sp>
          <p:nvSpPr>
            <p:cNvPr id="10247" name="Rectangle 6"/>
            <p:cNvSpPr>
              <a:spLocks noChangeArrowheads="1"/>
            </p:cNvSpPr>
            <p:nvPr/>
          </p:nvSpPr>
          <p:spPr bwMode="auto">
            <a:xfrm>
              <a:off x="2626" y="5787"/>
              <a:ext cx="2201" cy="102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9436" tIns="29718" rIns="59436" bIns="29718" anchor="ctr"/>
            <a:lstStyle/>
            <a:p>
              <a:pPr algn="ctr" eaLnBrk="0" hangingPunct="0">
                <a:defRPr/>
              </a:pP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Nilai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wajar</a:t>
              </a:r>
              <a:endParaRPr lang="en-US" b="1" dirty="0">
                <a:solidFill>
                  <a:schemeClr val="bg2">
                    <a:lumMod val="50000"/>
                  </a:schemeClr>
                </a:solidFill>
                <a:latin typeface="Arial Narrow" pitchFamily="34" charset="0"/>
              </a:endParaRPr>
            </a:p>
          </p:txBody>
        </p:sp>
        <p:sp>
          <p:nvSpPr>
            <p:cNvPr id="10248" name="Rectangle 7"/>
            <p:cNvSpPr>
              <a:spLocks noChangeArrowheads="1"/>
            </p:cNvSpPr>
            <p:nvPr/>
          </p:nvSpPr>
          <p:spPr bwMode="auto">
            <a:xfrm>
              <a:off x="5327" y="1876"/>
              <a:ext cx="2500" cy="12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9436" tIns="29718" rIns="59436" bIns="29718" anchor="ctr"/>
            <a:lstStyle/>
            <a:p>
              <a:pPr algn="ctr" eaLnBrk="0" hangingPunct="0">
                <a:defRPr/>
              </a:pP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Persediaan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diperoleh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dengan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pembelian</a:t>
              </a:r>
              <a:endParaRPr lang="en-US" b="1" dirty="0">
                <a:solidFill>
                  <a:schemeClr val="bg2">
                    <a:lumMod val="50000"/>
                  </a:schemeClr>
                </a:solidFill>
                <a:latin typeface="Arial Narrow" pitchFamily="34" charset="0"/>
              </a:endParaRPr>
            </a:p>
          </p:txBody>
        </p:sp>
        <p:sp>
          <p:nvSpPr>
            <p:cNvPr id="10249" name="Rectangle 8"/>
            <p:cNvSpPr>
              <a:spLocks noChangeArrowheads="1"/>
            </p:cNvSpPr>
            <p:nvPr/>
          </p:nvSpPr>
          <p:spPr bwMode="auto">
            <a:xfrm>
              <a:off x="5327" y="3728"/>
              <a:ext cx="2500" cy="154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9436" tIns="29718" rIns="59436" bIns="29718" anchor="ctr"/>
            <a:lstStyle/>
            <a:p>
              <a:pPr algn="ctr" eaLnBrk="0" hangingPunct="0">
                <a:defRPr/>
              </a:pP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Persediaan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diperoleh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dengan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memproduksi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sendiri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</a:p>
          </p:txBody>
        </p:sp>
        <p:sp>
          <p:nvSpPr>
            <p:cNvPr id="10250" name="Rectangle 9"/>
            <p:cNvSpPr>
              <a:spLocks noChangeArrowheads="1"/>
            </p:cNvSpPr>
            <p:nvPr/>
          </p:nvSpPr>
          <p:spPr bwMode="auto">
            <a:xfrm>
              <a:off x="5327" y="5787"/>
              <a:ext cx="2500" cy="2056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9436" tIns="29718" rIns="59436" bIns="29718" anchor="ctr"/>
            <a:lstStyle/>
            <a:p>
              <a:pPr algn="ctr" eaLnBrk="0" hangingPunct="0"/>
              <a:r>
                <a:rPr lang="it-IT" b="1">
                  <a:solidFill>
                    <a:srgbClr val="001D3B"/>
                  </a:solidFill>
                  <a:latin typeface="Arial Narrow" pitchFamily="34" charset="0"/>
                </a:rPr>
                <a:t>Persediaan diperoleh dengan cara lain, misalnya donasi/rampasan</a:t>
              </a:r>
              <a:endParaRPr lang="en-US" b="1">
                <a:solidFill>
                  <a:srgbClr val="001D3B"/>
                </a:solidFill>
                <a:latin typeface="Arial Narrow" pitchFamily="34" charset="0"/>
              </a:endParaRPr>
            </a:p>
          </p:txBody>
        </p:sp>
        <p:sp>
          <p:nvSpPr>
            <p:cNvPr id="7180" name="Rectangle 10"/>
            <p:cNvSpPr>
              <a:spLocks noChangeArrowheads="1"/>
            </p:cNvSpPr>
            <p:nvPr/>
          </p:nvSpPr>
          <p:spPr bwMode="auto">
            <a:xfrm>
              <a:off x="8127" y="2083"/>
              <a:ext cx="486" cy="61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59436" tIns="29718" rIns="59436" bIns="29718" anchor="ctr"/>
            <a:lstStyle/>
            <a:p>
              <a:pPr algn="ctr" eaLnBrk="0" hangingPunct="0"/>
              <a:r>
                <a:rPr lang="en-US" b="1">
                  <a:latin typeface="Arial Narrow" pitchFamily="34" charset="0"/>
                </a:rPr>
                <a:t>=</a:t>
              </a:r>
            </a:p>
          </p:txBody>
        </p:sp>
        <p:sp>
          <p:nvSpPr>
            <p:cNvPr id="7181" name="Rectangle 11"/>
            <p:cNvSpPr>
              <a:spLocks noChangeArrowheads="1"/>
            </p:cNvSpPr>
            <p:nvPr/>
          </p:nvSpPr>
          <p:spPr bwMode="auto">
            <a:xfrm>
              <a:off x="8227" y="3934"/>
              <a:ext cx="486" cy="61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59436" tIns="29718" rIns="59436" bIns="29718" anchor="ctr"/>
            <a:lstStyle/>
            <a:p>
              <a:pPr algn="ctr" eaLnBrk="0" hangingPunct="0"/>
              <a:r>
                <a:rPr lang="en-US" b="1">
                  <a:latin typeface="Arial Narrow" pitchFamily="34" charset="0"/>
                </a:rPr>
                <a:t>=</a:t>
              </a:r>
            </a:p>
          </p:txBody>
        </p:sp>
        <p:sp>
          <p:nvSpPr>
            <p:cNvPr id="7182" name="Rectangle 12"/>
            <p:cNvSpPr>
              <a:spLocks noChangeArrowheads="1"/>
            </p:cNvSpPr>
            <p:nvPr/>
          </p:nvSpPr>
          <p:spPr bwMode="auto">
            <a:xfrm>
              <a:off x="8176" y="5991"/>
              <a:ext cx="485" cy="61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59436" tIns="29718" rIns="59436" bIns="29718" anchor="ctr"/>
            <a:lstStyle/>
            <a:p>
              <a:pPr algn="ctr" eaLnBrk="0" hangingPunct="0"/>
              <a:r>
                <a:rPr lang="en-US" b="1">
                  <a:latin typeface="Arial Narrow" pitchFamily="34" charset="0"/>
                </a:rPr>
                <a:t>=</a:t>
              </a:r>
            </a:p>
          </p:txBody>
        </p:sp>
        <p:sp>
          <p:nvSpPr>
            <p:cNvPr id="10254" name="Rectangle 13"/>
            <p:cNvSpPr>
              <a:spLocks noChangeArrowheads="1"/>
            </p:cNvSpPr>
            <p:nvPr/>
          </p:nvSpPr>
          <p:spPr bwMode="auto">
            <a:xfrm>
              <a:off x="9027" y="1774"/>
              <a:ext cx="4600" cy="133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9436" tIns="29718" rIns="59436" bIns="29718" anchor="ctr"/>
            <a:lstStyle/>
            <a:p>
              <a:pPr algn="ctr" eaLnBrk="0" hangingPunct="0"/>
              <a:r>
                <a:rPr lang="sv-SE" b="1">
                  <a:solidFill>
                    <a:srgbClr val="001D3B"/>
                  </a:solidFill>
                  <a:latin typeface="Arial Narrow" pitchFamily="34" charset="0"/>
                </a:rPr>
                <a:t>Harga pembelian + biaya pengangkutan + biaya penanganan – potongan harga – rabat</a:t>
              </a:r>
              <a:endParaRPr lang="en-US" b="1">
                <a:solidFill>
                  <a:srgbClr val="001D3B"/>
                </a:solidFill>
                <a:latin typeface="Arial Narrow" pitchFamily="34" charset="0"/>
              </a:endParaRPr>
            </a:p>
          </p:txBody>
        </p:sp>
        <p:sp>
          <p:nvSpPr>
            <p:cNvPr id="10255" name="Rectangle 14"/>
            <p:cNvSpPr>
              <a:spLocks noChangeArrowheads="1"/>
            </p:cNvSpPr>
            <p:nvPr/>
          </p:nvSpPr>
          <p:spPr bwMode="auto">
            <a:xfrm>
              <a:off x="9027" y="3728"/>
              <a:ext cx="4600" cy="133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9436" tIns="29718" rIns="59436" bIns="29718" anchor="ctr"/>
            <a:lstStyle/>
            <a:p>
              <a:pPr algn="ctr" eaLnBrk="0" hangingPunct="0">
                <a:defRPr/>
              </a:pP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Biaya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Langsung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+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biaya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tidak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langsung</a:t>
              </a:r>
              <a:endParaRPr lang="en-US" b="1" dirty="0">
                <a:solidFill>
                  <a:schemeClr val="bg2">
                    <a:lumMod val="50000"/>
                  </a:schemeClr>
                </a:solidFill>
                <a:latin typeface="Arial Narrow" pitchFamily="34" charset="0"/>
              </a:endParaRPr>
            </a:p>
          </p:txBody>
        </p:sp>
        <p:sp>
          <p:nvSpPr>
            <p:cNvPr id="10256" name="Rectangle 15"/>
            <p:cNvSpPr>
              <a:spLocks noChangeArrowheads="1"/>
            </p:cNvSpPr>
            <p:nvPr/>
          </p:nvSpPr>
          <p:spPr bwMode="auto">
            <a:xfrm>
              <a:off x="9068" y="5820"/>
              <a:ext cx="4600" cy="133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59436" tIns="29718" rIns="59436" bIns="29718" anchor="ctr"/>
            <a:lstStyle/>
            <a:p>
              <a:pPr algn="ctr" eaLnBrk="0" hangingPunct="0">
                <a:defRPr/>
              </a:pP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Nilai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tukar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aset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secara</a:t>
              </a:r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 </a:t>
              </a:r>
              <a:r>
                <a:rPr lang="en-US" b="1" dirty="0" err="1">
                  <a:solidFill>
                    <a:schemeClr val="bg2">
                      <a:lumMod val="50000"/>
                    </a:schemeClr>
                  </a:solidFill>
                  <a:latin typeface="Arial Narrow" pitchFamily="34" charset="0"/>
                </a:rPr>
                <a:t>wajar</a:t>
              </a:r>
              <a:endParaRPr lang="en-US" b="1" dirty="0">
                <a:solidFill>
                  <a:schemeClr val="bg2">
                    <a:lumMod val="50000"/>
                  </a:schemeClr>
                </a:solidFill>
                <a:latin typeface="Arial Narrow" pitchFamily="34" charset="0"/>
              </a:endParaRPr>
            </a:p>
          </p:txBody>
        </p:sp>
        <p:sp>
          <p:nvSpPr>
            <p:cNvPr id="7186" name="Line 16"/>
            <p:cNvSpPr>
              <a:spLocks noChangeShapeType="1"/>
            </p:cNvSpPr>
            <p:nvPr/>
          </p:nvSpPr>
          <p:spPr bwMode="auto">
            <a:xfrm flipV="1">
              <a:off x="2527" y="3420"/>
              <a:ext cx="111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  <p:sp>
          <p:nvSpPr>
            <p:cNvPr id="7187" name="Line 17"/>
            <p:cNvSpPr>
              <a:spLocks noChangeShapeType="1"/>
            </p:cNvSpPr>
            <p:nvPr/>
          </p:nvSpPr>
          <p:spPr bwMode="auto">
            <a:xfrm>
              <a:off x="2527" y="5477"/>
              <a:ext cx="111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id-ID"/>
            </a:p>
          </p:txBody>
        </p:sp>
      </p:grpSp>
      <p:sp>
        <p:nvSpPr>
          <p:cNvPr id="23" name="Rectangle 2"/>
          <p:cNvSpPr txBox="1">
            <a:spLocks noChangeArrowheads="1"/>
          </p:cNvSpPr>
          <p:nvPr/>
        </p:nvSpPr>
        <p:spPr>
          <a:xfrm>
            <a:off x="2431176" y="17463"/>
            <a:ext cx="8236824" cy="685800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 anchorCtr="1">
            <a:normAutofit/>
          </a:bodyPr>
          <a:lstStyle/>
          <a:p>
            <a:r>
              <a:rPr lang="en-US" sz="3500" dirty="0">
                <a:solidFill>
                  <a:srgbClr val="003B7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PENGUKURAN PERSEDIAAN</a:t>
            </a:r>
            <a:endParaRPr lang="en-US" sz="3900" dirty="0">
              <a:solidFill>
                <a:srgbClr val="003B7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itchFamily="34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n-US"/>
              <a:t>lampiran I PP No.71 Tahun 2010</a:t>
            </a:r>
          </a:p>
        </p:txBody>
      </p:sp>
    </p:spTree>
    <p:extLst>
      <p:ext uri="{BB962C8B-B14F-4D97-AF65-F5344CB8AC3E}">
        <p14:creationId xmlns:p14="http://schemas.microsoft.com/office/powerpoint/2010/main" val="869533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0375" y="0"/>
            <a:ext cx="4483353" cy="640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/>
              <a:t>Metode</a:t>
            </a:r>
            <a:r>
              <a:rPr sz="4000" b="1" spc="-10" dirty="0"/>
              <a:t> </a:t>
            </a:r>
            <a:r>
              <a:rPr sz="4000" b="1" spc="-5" dirty="0"/>
              <a:t>Penilaian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994821"/>
            <a:ext cx="9989820" cy="360611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00"/>
              </a:spcBef>
            </a:pPr>
            <a:r>
              <a:rPr sz="3600" spc="-15" dirty="0">
                <a:latin typeface="Calibri"/>
                <a:cs typeface="Calibri"/>
              </a:rPr>
              <a:t>Persediaan</a:t>
            </a:r>
            <a:r>
              <a:rPr sz="3600" spc="-3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dapat</a:t>
            </a:r>
            <a:r>
              <a:rPr sz="3600" spc="-5" dirty="0">
                <a:latin typeface="Calibri"/>
                <a:cs typeface="Calibri"/>
              </a:rPr>
              <a:t> dinilai</a:t>
            </a:r>
            <a:r>
              <a:rPr sz="3600" spc="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dengan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menggunakan:</a:t>
            </a:r>
            <a:endParaRPr sz="3600" dirty="0">
              <a:latin typeface="Calibri"/>
              <a:cs typeface="Calibri"/>
            </a:endParaRPr>
          </a:p>
          <a:p>
            <a:pPr marL="622300" indent="-610235" algn="just">
              <a:lnSpc>
                <a:spcPct val="100000"/>
              </a:lnSpc>
              <a:spcBef>
                <a:spcPts val="700"/>
              </a:spcBef>
              <a:buClr>
                <a:srgbClr val="62A437"/>
              </a:buClr>
              <a:buSzPct val="78846"/>
              <a:buFont typeface="Wingdings"/>
              <a:buChar char=""/>
              <a:tabLst>
                <a:tab pos="622300" algn="l"/>
                <a:tab pos="622935" algn="l"/>
              </a:tabLst>
            </a:pPr>
            <a:r>
              <a:rPr sz="3600" spc="-5" dirty="0">
                <a:latin typeface="Calibri"/>
                <a:cs typeface="Calibri"/>
              </a:rPr>
              <a:t>Metode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sistematis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seperti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FIFO</a:t>
            </a:r>
            <a:r>
              <a:rPr sz="360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atau</a:t>
            </a:r>
            <a:r>
              <a:rPr sz="3600" spc="5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rata-rata</a:t>
            </a:r>
            <a:r>
              <a:rPr sz="3600" spc="10" dirty="0">
                <a:latin typeface="Calibri"/>
                <a:cs typeface="Calibri"/>
              </a:rPr>
              <a:t> </a:t>
            </a:r>
            <a:r>
              <a:rPr sz="3600" spc="-5" dirty="0" err="1">
                <a:latin typeface="Calibri"/>
                <a:cs typeface="Calibri"/>
              </a:rPr>
              <a:t>tertimbang</a:t>
            </a:r>
            <a:r>
              <a:rPr lang="en-US" sz="3600" spc="-5" dirty="0">
                <a:latin typeface="Calibri"/>
                <a:cs typeface="Calibri"/>
              </a:rPr>
              <a:t>.</a:t>
            </a:r>
            <a:endParaRPr sz="3600" dirty="0">
              <a:latin typeface="Calibri"/>
              <a:cs typeface="Calibri"/>
            </a:endParaRPr>
          </a:p>
          <a:p>
            <a:pPr marL="622300" marR="5080" indent="-610235" algn="just">
              <a:lnSpc>
                <a:spcPct val="100000"/>
              </a:lnSpc>
              <a:spcBef>
                <a:spcPts val="705"/>
              </a:spcBef>
              <a:buClr>
                <a:srgbClr val="62A437"/>
              </a:buClr>
              <a:buSzPct val="78846"/>
              <a:buFont typeface="Wingdings"/>
              <a:buChar char=""/>
              <a:tabLst>
                <a:tab pos="622300" algn="l"/>
                <a:tab pos="622935" algn="l"/>
              </a:tabLst>
            </a:pPr>
            <a:r>
              <a:rPr sz="3600" spc="-20" dirty="0">
                <a:latin typeface="Calibri"/>
                <a:cs typeface="Calibri"/>
              </a:rPr>
              <a:t>Harga</a:t>
            </a:r>
            <a:r>
              <a:rPr sz="3600" spc="1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pembelian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terakhir </a:t>
            </a:r>
            <a:r>
              <a:rPr sz="3600" dirty="0">
                <a:latin typeface="Calibri"/>
                <a:cs typeface="Calibri"/>
              </a:rPr>
              <a:t>apabila</a:t>
            </a:r>
            <a:r>
              <a:rPr sz="3600" spc="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setiap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unit</a:t>
            </a:r>
            <a:r>
              <a:rPr sz="3600" spc="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persediaan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5" dirty="0">
                <a:latin typeface="Calibri"/>
                <a:cs typeface="Calibri"/>
              </a:rPr>
              <a:t>nilainya</a:t>
            </a:r>
            <a:r>
              <a:rPr sz="3600" dirty="0">
                <a:latin typeface="Calibri"/>
                <a:cs typeface="Calibri"/>
              </a:rPr>
              <a:t> tidak </a:t>
            </a:r>
            <a:r>
              <a:rPr sz="3600" spc="-570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material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spc="-5" dirty="0">
                <a:latin typeface="Calibri"/>
                <a:cs typeface="Calibri"/>
              </a:rPr>
              <a:t>dan</a:t>
            </a:r>
            <a:r>
              <a:rPr sz="3600" spc="-15" dirty="0">
                <a:latin typeface="Calibri"/>
                <a:cs typeface="Calibri"/>
              </a:rPr>
              <a:t> </a:t>
            </a:r>
            <a:r>
              <a:rPr sz="3600" spc="-5" dirty="0" err="1">
                <a:latin typeface="Calibri"/>
                <a:cs typeface="Calibri"/>
              </a:rPr>
              <a:t>bermacam</a:t>
            </a:r>
            <a:r>
              <a:rPr lang="en-US" sz="3600" spc="-5" dirty="0" err="1">
                <a:latin typeface="Calibri"/>
                <a:cs typeface="Calibri"/>
              </a:rPr>
              <a:t>-</a:t>
            </a:r>
            <a:r>
              <a:rPr sz="3600" spc="-5" dirty="0" err="1">
                <a:latin typeface="Calibri"/>
                <a:cs typeface="Calibri"/>
              </a:rPr>
              <a:t>macam</a:t>
            </a:r>
            <a:r>
              <a:rPr sz="3600" spc="-10" dirty="0">
                <a:latin typeface="Calibri"/>
                <a:cs typeface="Calibri"/>
              </a:rPr>
              <a:t> </a:t>
            </a:r>
            <a:r>
              <a:rPr sz="3600" spc="-5" dirty="0" err="1">
                <a:latin typeface="Calibri"/>
                <a:cs typeface="Calibri"/>
              </a:rPr>
              <a:t>jenis</a:t>
            </a:r>
            <a:r>
              <a:rPr lang="en-US" sz="3600" spc="-5" dirty="0">
                <a:latin typeface="Calibri"/>
                <a:cs typeface="Calibri"/>
              </a:rPr>
              <a:t>.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8482" y="9855"/>
            <a:ext cx="29552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Beban Persediaan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940130"/>
            <a:ext cx="10321290" cy="5061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190" indent="-364490" algn="just">
              <a:lnSpc>
                <a:spcPct val="100000"/>
              </a:lnSpc>
              <a:spcBef>
                <a:spcPts val="95"/>
              </a:spcBef>
              <a:buSzPct val="79545"/>
              <a:buFont typeface="Wingdings"/>
              <a:buChar char=""/>
              <a:tabLst>
                <a:tab pos="376555" algn="l"/>
                <a:tab pos="377190" algn="l"/>
              </a:tabLst>
            </a:pPr>
            <a:r>
              <a:rPr sz="2200" spc="-5" dirty="0">
                <a:latin typeface="Calibri"/>
                <a:cs typeface="Calibri"/>
              </a:rPr>
              <a:t>Beban</a:t>
            </a:r>
            <a:r>
              <a:rPr sz="2200" spc="-10" dirty="0">
                <a:latin typeface="Calibri"/>
                <a:cs typeface="Calibri"/>
              </a:rPr>
              <a:t> persediaan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dicatat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sebesar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pemakaian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persediaan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(use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goods)</a:t>
            </a:r>
            <a:endParaRPr sz="2200" dirty="0">
              <a:latin typeface="Calibri"/>
              <a:cs typeface="Calibri"/>
            </a:endParaRPr>
          </a:p>
          <a:p>
            <a:pPr marL="377190" indent="-364490" algn="just">
              <a:lnSpc>
                <a:spcPct val="100000"/>
              </a:lnSpc>
              <a:spcBef>
                <a:spcPts val="1670"/>
              </a:spcBef>
              <a:buSzPct val="79545"/>
              <a:buFont typeface="Wingdings"/>
              <a:buChar char=""/>
              <a:tabLst>
                <a:tab pos="376555" algn="l"/>
                <a:tab pos="377190" algn="l"/>
              </a:tabLst>
            </a:pPr>
            <a:r>
              <a:rPr sz="2200" spc="-15" dirty="0">
                <a:latin typeface="Calibri"/>
                <a:cs typeface="Calibri"/>
              </a:rPr>
              <a:t>Penghitungan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beban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persediaan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dilakukan</a:t>
            </a:r>
            <a:r>
              <a:rPr sz="2200" spc="-5" dirty="0">
                <a:latin typeface="Calibri"/>
                <a:cs typeface="Calibri"/>
              </a:rPr>
              <a:t> dalam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rangka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penyajian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 err="1">
                <a:latin typeface="Calibri"/>
                <a:cs typeface="Calibri"/>
              </a:rPr>
              <a:t>Laporan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 err="1">
                <a:latin typeface="Calibri"/>
                <a:cs typeface="Calibri"/>
              </a:rPr>
              <a:t>Operasional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77190" marR="462280" indent="-364490" algn="just">
              <a:lnSpc>
                <a:spcPct val="125099"/>
              </a:lnSpc>
              <a:spcBef>
                <a:spcPts val="994"/>
              </a:spcBef>
              <a:buSzPct val="79545"/>
              <a:buFont typeface="Wingdings"/>
              <a:buChar char=""/>
              <a:tabLst>
                <a:tab pos="376555" algn="l"/>
                <a:tab pos="377190" algn="l"/>
              </a:tabLst>
            </a:pPr>
            <a:r>
              <a:rPr sz="2200" spc="-5" dirty="0">
                <a:latin typeface="Calibri"/>
                <a:cs typeface="Calibri"/>
              </a:rPr>
              <a:t>Dalam hal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persediaan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dicatat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secara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perpetual,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maka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pengukuran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pemakaian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persediaan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dihitung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berdasarkan</a:t>
            </a:r>
            <a:r>
              <a:rPr sz="2200" spc="-25" dirty="0">
                <a:latin typeface="Calibri"/>
                <a:cs typeface="Calibri"/>
              </a:rPr>
              <a:t> catatan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jumlah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unit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yang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dipakai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dikalikan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nilai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unit </a:t>
            </a:r>
            <a:r>
              <a:rPr sz="2200" spc="-5" dirty="0">
                <a:latin typeface="Calibri"/>
                <a:cs typeface="Calibri"/>
              </a:rPr>
              <a:t>sesuai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metode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penilaian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yang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 err="1">
                <a:latin typeface="Calibri"/>
                <a:cs typeface="Calibri"/>
              </a:rPr>
              <a:t>digunakan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377190" marR="403860" indent="-364490" algn="just">
              <a:lnSpc>
                <a:spcPct val="125000"/>
              </a:lnSpc>
              <a:spcBef>
                <a:spcPts val="994"/>
              </a:spcBef>
              <a:buSzPct val="79545"/>
              <a:buFont typeface="Wingdings"/>
              <a:buChar char=""/>
              <a:tabLst>
                <a:tab pos="376555" algn="l"/>
                <a:tab pos="377190" algn="l"/>
              </a:tabLst>
            </a:pPr>
            <a:r>
              <a:rPr sz="2200" spc="-5" dirty="0">
                <a:latin typeface="Calibri"/>
                <a:cs typeface="Calibri"/>
              </a:rPr>
              <a:t>Dalam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hal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persediaan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dicatat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secara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periodik,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maka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pengukuran</a:t>
            </a:r>
            <a:r>
              <a:rPr sz="2200" spc="-5" dirty="0">
                <a:latin typeface="Calibri"/>
                <a:cs typeface="Calibri"/>
              </a:rPr>
              <a:t> persediaan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dihitung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berdasarkan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inventarisasi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fisik,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yaitu </a:t>
            </a:r>
            <a:r>
              <a:rPr sz="2200" spc="-15" dirty="0">
                <a:latin typeface="Calibri"/>
                <a:cs typeface="Calibri"/>
              </a:rPr>
              <a:t>dengan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cara</a:t>
            </a:r>
            <a:r>
              <a:rPr sz="2200" spc="-5" dirty="0">
                <a:latin typeface="Calibri"/>
                <a:cs typeface="Calibri"/>
              </a:rPr>
              <a:t> saldo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awal </a:t>
            </a:r>
            <a:r>
              <a:rPr sz="2200" spc="-10" dirty="0">
                <a:latin typeface="Calibri"/>
                <a:cs typeface="Calibri"/>
              </a:rPr>
              <a:t>persediaan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ditambah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pembelian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atau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perolehan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persediaan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dikurangi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dengan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saldo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akhir</a:t>
            </a:r>
            <a:r>
              <a:rPr sz="2200" spc="-10" dirty="0">
                <a:latin typeface="Calibri"/>
                <a:cs typeface="Calibri"/>
              </a:rPr>
              <a:t> persediaan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dikalikan</a:t>
            </a:r>
            <a:r>
              <a:rPr sz="2200" spc="-10" dirty="0">
                <a:latin typeface="Calibri"/>
                <a:cs typeface="Calibri"/>
              </a:rPr>
              <a:t> nilai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unit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sesuai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dengan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metode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penilaian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persediaan.</a:t>
            </a:r>
            <a:endParaRPr sz="2200" dirty="0">
              <a:latin typeface="Calibri"/>
              <a:cs typeface="Calibri"/>
            </a:endParaRPr>
          </a:p>
          <a:p>
            <a:pPr marL="377190" marR="109855" indent="-364490" algn="just">
              <a:lnSpc>
                <a:spcPct val="125000"/>
              </a:lnSpc>
              <a:spcBef>
                <a:spcPts val="1010"/>
              </a:spcBef>
              <a:buSzPct val="79545"/>
              <a:buFont typeface="Wingdings"/>
              <a:buChar char=""/>
              <a:tabLst>
                <a:tab pos="376555" algn="l"/>
                <a:tab pos="377190" algn="l"/>
              </a:tabLst>
            </a:pPr>
            <a:r>
              <a:rPr sz="2200" spc="-15" dirty="0">
                <a:latin typeface="Calibri"/>
                <a:cs typeface="Calibri"/>
              </a:rPr>
              <a:t>Pada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akhir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periode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akuntansi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catatan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persediaan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disesuaikan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dengan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hasil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 err="1">
                <a:latin typeface="Calibri"/>
                <a:cs typeface="Calibri"/>
              </a:rPr>
              <a:t>inventarisasi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 err="1">
                <a:latin typeface="Calibri"/>
                <a:cs typeface="Calibri"/>
              </a:rPr>
              <a:t>fisik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38175" y="228600"/>
            <a:ext cx="8229600" cy="685800"/>
          </a:xfr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defRPr/>
            </a:pPr>
            <a:r>
              <a:rPr dirty="0"/>
              <a:t>PENGUNGKAPAN PERSEDIAAN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71488" y="1190177"/>
            <a:ext cx="11287125" cy="4610548"/>
          </a:xfrm>
        </p:spPr>
        <p:txBody>
          <a:bodyPr rtlCol="0">
            <a:normAutofit fontScale="70000" lnSpcReduction="20000"/>
          </a:bodyPr>
          <a:lstStyle/>
          <a:p>
            <a:pPr marL="609600" indent="-609600" algn="just">
              <a:spcBef>
                <a:spcPts val="600"/>
              </a:spcBef>
              <a:buSzPct val="80000"/>
              <a:buNone/>
              <a:defRPr/>
            </a:pPr>
            <a:r>
              <a:rPr lang="en-US" sz="4000" dirty="0"/>
              <a:t>LAPORAN KEUANGAN MENGUNGKAPKAN:</a:t>
            </a:r>
          </a:p>
          <a:p>
            <a:pPr marL="609600" indent="-609600" algn="just">
              <a:spcBef>
                <a:spcPts val="600"/>
              </a:spcBef>
              <a:buSzPct val="80000"/>
              <a:buFont typeface="Wingdings" pitchFamily="2" charset="2"/>
              <a:buChar char="ü"/>
              <a:defRPr/>
            </a:pPr>
            <a:r>
              <a:rPr lang="en-US" sz="3600" dirty="0" err="1"/>
              <a:t>Kebijakan</a:t>
            </a:r>
            <a:r>
              <a:rPr lang="en-US" sz="3600" dirty="0"/>
              <a:t> </a:t>
            </a:r>
            <a:r>
              <a:rPr lang="en-US" sz="3600" dirty="0" err="1"/>
              <a:t>akuntansi</a:t>
            </a:r>
            <a:r>
              <a:rPr lang="en-US" sz="3600" dirty="0"/>
              <a:t> yang </a:t>
            </a:r>
            <a:r>
              <a:rPr lang="en-US" sz="3600" dirty="0" err="1"/>
              <a:t>digunakan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pengukuran</a:t>
            </a:r>
            <a:r>
              <a:rPr lang="en-US" sz="3600" dirty="0"/>
              <a:t> </a:t>
            </a:r>
            <a:r>
              <a:rPr lang="en-US" sz="3600" dirty="0" err="1"/>
              <a:t>persediaan</a:t>
            </a:r>
            <a:r>
              <a:rPr lang="en-US" sz="3600" dirty="0"/>
              <a:t>.</a:t>
            </a:r>
          </a:p>
          <a:p>
            <a:pPr marL="609600" indent="-609600" algn="just">
              <a:spcBef>
                <a:spcPts val="600"/>
              </a:spcBef>
              <a:buSzPct val="80000"/>
              <a:buFont typeface="Wingdings" pitchFamily="2" charset="2"/>
              <a:buChar char="ü"/>
              <a:defRPr/>
            </a:pPr>
            <a:r>
              <a:rPr lang="en-US" sz="3600" dirty="0" err="1"/>
              <a:t>Penjelasan</a:t>
            </a:r>
            <a:r>
              <a:rPr lang="en-US" sz="3600" dirty="0"/>
              <a:t> </a:t>
            </a:r>
            <a:r>
              <a:rPr lang="en-US" sz="3600" dirty="0" err="1"/>
              <a:t>lebih</a:t>
            </a:r>
            <a:r>
              <a:rPr lang="en-US" sz="3600" dirty="0"/>
              <a:t> </a:t>
            </a:r>
            <a:r>
              <a:rPr lang="en-US" sz="3600" dirty="0" err="1"/>
              <a:t>lanjut</a:t>
            </a:r>
            <a:r>
              <a:rPr lang="en-US" sz="3600" dirty="0"/>
              <a:t> </a:t>
            </a:r>
            <a:r>
              <a:rPr lang="en-US" sz="3600" dirty="0" err="1"/>
              <a:t>tentang</a:t>
            </a:r>
            <a:r>
              <a:rPr lang="en-US" sz="3600" dirty="0"/>
              <a:t> </a:t>
            </a:r>
            <a:r>
              <a:rPr lang="en-US" sz="3600" dirty="0" err="1"/>
              <a:t>persediaan</a:t>
            </a:r>
            <a:r>
              <a:rPr lang="en-US" sz="3600" dirty="0"/>
              <a:t>, </a:t>
            </a:r>
            <a:r>
              <a:rPr lang="en-US" sz="3600" dirty="0" err="1"/>
              <a:t>seperti</a:t>
            </a:r>
            <a:r>
              <a:rPr lang="en-US" sz="3600" dirty="0"/>
              <a:t> </a:t>
            </a:r>
            <a:r>
              <a:rPr lang="en-US" sz="3600" dirty="0" err="1"/>
              <a:t>barang</a:t>
            </a:r>
            <a:r>
              <a:rPr lang="en-US" sz="3600" dirty="0"/>
              <a:t> </a:t>
            </a:r>
            <a:r>
              <a:rPr lang="en-US" sz="3600" dirty="0" err="1"/>
              <a:t>atau</a:t>
            </a:r>
            <a:r>
              <a:rPr lang="en-US" sz="3600" dirty="0"/>
              <a:t> </a:t>
            </a:r>
            <a:r>
              <a:rPr lang="en-US" sz="3600" dirty="0" err="1"/>
              <a:t>perlengkapan</a:t>
            </a:r>
            <a:r>
              <a:rPr lang="en-US" sz="3600" dirty="0"/>
              <a:t> yang </a:t>
            </a:r>
            <a:r>
              <a:rPr lang="en-US" sz="3600" dirty="0" err="1"/>
              <a:t>digunakan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pelayanan</a:t>
            </a:r>
            <a:r>
              <a:rPr lang="en-US" sz="3600" dirty="0"/>
              <a:t> </a:t>
            </a:r>
            <a:r>
              <a:rPr lang="en-US" sz="3600" dirty="0" err="1"/>
              <a:t>masyarakat</a:t>
            </a:r>
            <a:r>
              <a:rPr lang="en-US" sz="3600" dirty="0"/>
              <a:t>, </a:t>
            </a:r>
            <a:r>
              <a:rPr lang="en-US" sz="3600" dirty="0" err="1"/>
              <a:t>barang</a:t>
            </a:r>
            <a:r>
              <a:rPr lang="en-US" sz="3600" dirty="0"/>
              <a:t> </a:t>
            </a:r>
            <a:r>
              <a:rPr lang="en-US" sz="3600" dirty="0" err="1"/>
              <a:t>atau</a:t>
            </a:r>
            <a:r>
              <a:rPr lang="en-US" sz="3600" dirty="0"/>
              <a:t> </a:t>
            </a:r>
            <a:r>
              <a:rPr lang="en-US" sz="3600" dirty="0" err="1"/>
              <a:t>perlengkapan</a:t>
            </a:r>
            <a:r>
              <a:rPr lang="en-US" sz="3600" dirty="0"/>
              <a:t> yang </a:t>
            </a:r>
            <a:r>
              <a:rPr lang="en-US" sz="3600" dirty="0" err="1"/>
              <a:t>digunakan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proses </a:t>
            </a:r>
            <a:r>
              <a:rPr lang="en-US" sz="3600" dirty="0" err="1"/>
              <a:t>produksi</a:t>
            </a:r>
            <a:r>
              <a:rPr lang="en-US" sz="3600" dirty="0"/>
              <a:t>, </a:t>
            </a:r>
            <a:r>
              <a:rPr lang="en-US" sz="3600" dirty="0" err="1"/>
              <a:t>barang</a:t>
            </a:r>
            <a:r>
              <a:rPr lang="en-US" sz="3600" dirty="0"/>
              <a:t> yang </a:t>
            </a:r>
            <a:r>
              <a:rPr lang="en-US" sz="3600" dirty="0" err="1"/>
              <a:t>disimpan</a:t>
            </a:r>
            <a:r>
              <a:rPr lang="en-US" sz="3600" dirty="0"/>
              <a:t>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dijual</a:t>
            </a:r>
            <a:r>
              <a:rPr lang="en-US" sz="3600" dirty="0"/>
              <a:t> </a:t>
            </a:r>
            <a:r>
              <a:rPr lang="en-US" sz="3600" dirty="0" err="1"/>
              <a:t>atau</a:t>
            </a:r>
            <a:r>
              <a:rPr lang="en-US" sz="3600" dirty="0"/>
              <a:t> </a:t>
            </a:r>
            <a:r>
              <a:rPr lang="en-US" sz="3600" dirty="0" err="1"/>
              <a:t>diserahkan</a:t>
            </a:r>
            <a:r>
              <a:rPr lang="en-US" sz="3600" dirty="0"/>
              <a:t> </a:t>
            </a:r>
            <a:r>
              <a:rPr lang="en-US" sz="3600" dirty="0" err="1"/>
              <a:t>kepada</a:t>
            </a:r>
            <a:r>
              <a:rPr lang="en-US" sz="3600" dirty="0"/>
              <a:t> </a:t>
            </a:r>
            <a:r>
              <a:rPr lang="en-US" sz="3600" dirty="0" err="1"/>
              <a:t>masyarakat</a:t>
            </a:r>
            <a:r>
              <a:rPr lang="en-US" sz="3600" dirty="0"/>
              <a:t>, dan </a:t>
            </a:r>
            <a:r>
              <a:rPr lang="en-US" sz="3600" dirty="0" err="1"/>
              <a:t>barang</a:t>
            </a:r>
            <a:r>
              <a:rPr lang="en-US" sz="3600" dirty="0"/>
              <a:t> yang </a:t>
            </a:r>
            <a:r>
              <a:rPr lang="en-US" sz="3600" dirty="0" err="1"/>
              <a:t>masih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proses </a:t>
            </a:r>
            <a:r>
              <a:rPr lang="en-US" sz="3600" dirty="0" err="1"/>
              <a:t>produksi</a:t>
            </a:r>
            <a:r>
              <a:rPr lang="en-US" sz="3600" dirty="0"/>
              <a:t> yang </a:t>
            </a:r>
            <a:r>
              <a:rPr lang="en-US" sz="3600" dirty="0" err="1"/>
              <a:t>dimaksudkan</a:t>
            </a:r>
            <a:r>
              <a:rPr lang="en-US" sz="3600" dirty="0"/>
              <a:t>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dijual</a:t>
            </a:r>
            <a:r>
              <a:rPr lang="en-US" sz="3600" dirty="0"/>
              <a:t> </a:t>
            </a:r>
            <a:r>
              <a:rPr lang="en-US" sz="3600" dirty="0" err="1"/>
              <a:t>atau</a:t>
            </a:r>
            <a:r>
              <a:rPr lang="en-US" sz="3600" dirty="0"/>
              <a:t> </a:t>
            </a:r>
            <a:r>
              <a:rPr lang="en-US" sz="3600" dirty="0" err="1"/>
              <a:t>diserahkan</a:t>
            </a:r>
            <a:r>
              <a:rPr lang="en-US" sz="3600" dirty="0"/>
              <a:t> </a:t>
            </a:r>
            <a:r>
              <a:rPr lang="en-US" sz="3600" dirty="0" err="1"/>
              <a:t>kepada</a:t>
            </a:r>
            <a:r>
              <a:rPr lang="en-US" sz="3600" dirty="0"/>
              <a:t> </a:t>
            </a:r>
            <a:r>
              <a:rPr lang="en-US" sz="3600" dirty="0" err="1"/>
              <a:t>masyarakat</a:t>
            </a:r>
            <a:r>
              <a:rPr lang="en-US" sz="3600" dirty="0"/>
              <a:t>.</a:t>
            </a:r>
          </a:p>
          <a:p>
            <a:pPr marL="609600" indent="-609600" algn="just">
              <a:spcBef>
                <a:spcPts val="600"/>
              </a:spcBef>
              <a:buSzPct val="80000"/>
              <a:buFont typeface="Wingdings" pitchFamily="2" charset="2"/>
              <a:buChar char="ü"/>
              <a:defRPr/>
            </a:pPr>
            <a:r>
              <a:rPr lang="en-US" sz="3600" dirty="0" err="1"/>
              <a:t>Jenis</a:t>
            </a:r>
            <a:r>
              <a:rPr lang="en-US" sz="3600" dirty="0"/>
              <a:t>, </a:t>
            </a:r>
            <a:r>
              <a:rPr lang="en-US" sz="3600" dirty="0" err="1"/>
              <a:t>jumlah</a:t>
            </a:r>
            <a:r>
              <a:rPr lang="en-US" sz="3600" dirty="0"/>
              <a:t>, dan </a:t>
            </a:r>
            <a:r>
              <a:rPr lang="en-US" sz="3600" dirty="0" err="1"/>
              <a:t>nilai</a:t>
            </a:r>
            <a:r>
              <a:rPr lang="en-US" sz="3600" dirty="0"/>
              <a:t> </a:t>
            </a:r>
            <a:r>
              <a:rPr lang="en-US" sz="3600" dirty="0" err="1"/>
              <a:t>persediaan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kondisi</a:t>
            </a:r>
            <a:r>
              <a:rPr lang="en-US" sz="3600" dirty="0"/>
              <a:t> </a:t>
            </a:r>
            <a:r>
              <a:rPr lang="en-US" sz="3600" dirty="0" err="1"/>
              <a:t>rusak</a:t>
            </a:r>
            <a:r>
              <a:rPr lang="en-US" sz="3600" dirty="0"/>
              <a:t> </a:t>
            </a:r>
            <a:r>
              <a:rPr lang="en-US" sz="3600" dirty="0" err="1"/>
              <a:t>atau</a:t>
            </a:r>
            <a:r>
              <a:rPr lang="en-US" sz="3600" dirty="0"/>
              <a:t> using.</a:t>
            </a:r>
          </a:p>
        </p:txBody>
      </p:sp>
    </p:spTree>
    <p:extLst>
      <p:ext uri="{BB962C8B-B14F-4D97-AF65-F5344CB8AC3E}">
        <p14:creationId xmlns:p14="http://schemas.microsoft.com/office/powerpoint/2010/main" val="416579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1000"/>
                                        <p:tgtEl>
                                          <p:spTgt spid="928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1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1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838200"/>
          </a:xfrm>
        </p:spPr>
        <p:txBody>
          <a:bodyPr/>
          <a:lstStyle/>
          <a:p>
            <a:r>
              <a:rPr lang="id-ID" dirty="0"/>
              <a:t>PENCATATAN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949" y="1189038"/>
            <a:ext cx="10658475" cy="4968875"/>
          </a:xfrm>
        </p:spPr>
        <p:txBody>
          <a:bodyPr>
            <a:normAutofit/>
          </a:bodyPr>
          <a:lstStyle/>
          <a:p>
            <a:pPr algn="just"/>
            <a:r>
              <a:rPr lang="id-ID" sz="3600" dirty="0"/>
              <a:t>Metode Perpetual</a:t>
            </a:r>
          </a:p>
          <a:p>
            <a:pPr algn="just">
              <a:buNone/>
            </a:pPr>
            <a:r>
              <a:rPr lang="id-ID" dirty="0"/>
              <a:t>	Mencatat setiap persediaan yang masuk dan keluar, sehingga nilai/jumlah persediaan selalu ter</a:t>
            </a:r>
            <a:r>
              <a:rPr lang="id-ID" i="1" dirty="0"/>
              <a:t>update </a:t>
            </a:r>
            <a:r>
              <a:rPr lang="id-ID" dirty="0"/>
              <a:t>dalam pembukuan</a:t>
            </a:r>
            <a:r>
              <a:rPr lang="en-US" dirty="0"/>
              <a:t>.</a:t>
            </a:r>
            <a:endParaRPr lang="id-ID" dirty="0"/>
          </a:p>
          <a:p>
            <a:pPr algn="just">
              <a:buNone/>
            </a:pPr>
            <a:r>
              <a:rPr lang="id-ID" dirty="0"/>
              <a:t>	Memiliki internal kontrol yang lebih baik namun mengharuskan disiplin dalam mencatat </a:t>
            </a:r>
            <a:r>
              <a:rPr lang="id-ID" dirty="0">
                <a:sym typeface="Wingdings" panose="05000000000000000000" pitchFamily="2" charset="2"/>
              </a:rPr>
              <a:t> harus dilengkapi sistem terkomputerisasi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id-ID" dirty="0"/>
          </a:p>
          <a:p>
            <a:pPr algn="just">
              <a:buNone/>
            </a:pPr>
            <a:endParaRPr lang="id-ID" dirty="0"/>
          </a:p>
          <a:p>
            <a:pPr algn="just"/>
            <a:r>
              <a:rPr lang="id-ID" sz="3600" dirty="0"/>
              <a:t>Metode Periodik</a:t>
            </a:r>
          </a:p>
          <a:p>
            <a:pPr algn="just">
              <a:buNone/>
            </a:pPr>
            <a:r>
              <a:rPr lang="id-ID" dirty="0"/>
              <a:t>	Persediaan tidak di-</a:t>
            </a:r>
            <a:r>
              <a:rPr lang="id-ID" i="1" dirty="0"/>
              <a:t>update </a:t>
            </a:r>
            <a:r>
              <a:rPr lang="id-ID" dirty="0"/>
              <a:t>apabila ada persediaan yang masuk atau keluar. Persediaan akhir diketahui dengan melakukan </a:t>
            </a:r>
            <a:r>
              <a:rPr lang="id-ID" i="1" dirty="0"/>
              <a:t>stock opname </a:t>
            </a:r>
            <a:r>
              <a:rPr lang="id-ID" dirty="0"/>
              <a:t>pada akhir periode.</a:t>
            </a:r>
          </a:p>
          <a:p>
            <a:pPr algn="just">
              <a:buNone/>
            </a:pPr>
            <a:r>
              <a:rPr lang="id-ID" dirty="0"/>
              <a:t>	Persediaan yang tidak ada pada saat perhitungan stock opname = persediaan yang digunakan (persediaan yang hilang dianggap digunakan,  karena tidak ada kontrol pencatatan)</a:t>
            </a:r>
            <a:r>
              <a:rPr lang="en-US" dirty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697134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1BA9FC-8CA4-49A5-8CE2-01DA7A00F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Kebijakan</a:t>
            </a:r>
            <a:r>
              <a:rPr lang="en-US" dirty="0"/>
              <a:t> </a:t>
            </a:r>
            <a:r>
              <a:rPr lang="en-US" dirty="0" err="1"/>
              <a:t>Akuntansi</a:t>
            </a:r>
            <a:r>
              <a:rPr lang="en-US" dirty="0"/>
              <a:t> </a:t>
            </a:r>
            <a:r>
              <a:rPr lang="en-US" dirty="0" err="1"/>
              <a:t>Persediaan</a:t>
            </a:r>
            <a:r>
              <a:rPr lang="en-US" dirty="0"/>
              <a:t> </a:t>
            </a:r>
            <a:r>
              <a:rPr lang="en-US" sz="3200" b="0" dirty="0" err="1"/>
              <a:t>Berdasarkan</a:t>
            </a:r>
            <a:r>
              <a:rPr lang="en-US" sz="3200" b="0" dirty="0"/>
              <a:t> PMK 231/PMK.05/2022</a:t>
            </a:r>
            <a:endParaRPr lang="en-ID" b="0" dirty="0"/>
          </a:p>
        </p:txBody>
      </p:sp>
    </p:spTree>
    <p:extLst>
      <p:ext uri="{BB962C8B-B14F-4D97-AF65-F5344CB8AC3E}">
        <p14:creationId xmlns:p14="http://schemas.microsoft.com/office/powerpoint/2010/main" val="1922505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A4BC-19F3-0520-85F8-C086BDA1C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788" y="45720"/>
            <a:ext cx="9017487" cy="646876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PENDAHULUAN</a:t>
            </a:r>
            <a:endParaRPr lang="en-ID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F57FF-3D5B-6369-3563-ACC07330A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982980"/>
            <a:ext cx="11704320" cy="5189220"/>
          </a:xfrm>
        </p:spPr>
        <p:txBody>
          <a:bodyPr>
            <a:normAutofit lnSpcReduction="10000"/>
          </a:bodyPr>
          <a:lstStyle/>
          <a:p>
            <a:pPr algn="just"/>
            <a:r>
              <a:rPr lang="en-ID" sz="2800" b="1" dirty="0" err="1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Kebijakan</a:t>
            </a:r>
            <a:r>
              <a:rPr lang="en-ID" sz="28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b="1" dirty="0" err="1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Akuntansi</a:t>
            </a:r>
            <a:r>
              <a:rPr lang="en-ID" sz="28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b="1" dirty="0" err="1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Pemerintah</a:t>
            </a:r>
            <a:r>
              <a:rPr lang="en-ID" sz="28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Pusat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adalah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prinsip-prinsip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dasar-dasar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konvensi-konvensi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aturan-aturan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praktik-praktik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spesifik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dpilih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penyusunan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penyajian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laporan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keuangan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Kebijakan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akuntansi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disusun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untuk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memastikan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bahwa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laporan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keuangan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menyajikan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informasi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yang :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relevan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diandalkan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dibandingkan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dan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dapat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dipahami</a:t>
            </a:r>
            <a:endParaRPr lang="en-ID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D" sz="2800" b="1" dirty="0" err="1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Tujuan</a:t>
            </a:r>
            <a:r>
              <a:rPr lang="en-ID" sz="28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</a:p>
          <a:p>
            <a:pPr marL="900113" lvl="0">
              <a:lnSpc>
                <a:spcPct val="107000"/>
              </a:lnSpc>
              <a:buFontTx/>
              <a:buChar char="-"/>
            </a:pP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Pedoman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bagi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entitas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akuntansi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pelaporan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pada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pemerintah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pusat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Menyusun LKPP, LKBUN, dan LKKL.</a:t>
            </a:r>
          </a:p>
          <a:p>
            <a:pPr marL="900113" lvl="0">
              <a:lnSpc>
                <a:spcPct val="107000"/>
              </a:lnSpc>
              <a:buFontTx/>
              <a:buChar char="-"/>
            </a:pP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Pedoman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dalam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pelaksanaan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system dan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prosedur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akuntansi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pemerintah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2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pusat</a:t>
            </a:r>
            <a:r>
              <a:rPr lang="en-ID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1597004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835;p25">
            <a:extLst>
              <a:ext uri="{FF2B5EF4-FFF2-40B4-BE49-F238E27FC236}">
                <a16:creationId xmlns:a16="http://schemas.microsoft.com/office/drawing/2014/main" id="{C532C7F8-BD40-57AE-7BC0-CE2CD43B3E53}"/>
              </a:ext>
            </a:extLst>
          </p:cNvPr>
          <p:cNvSpPr/>
          <p:nvPr/>
        </p:nvSpPr>
        <p:spPr>
          <a:xfrm>
            <a:off x="4011421" y="2806122"/>
            <a:ext cx="2170460" cy="2533724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1" name="Google Shape;838;p25">
            <a:extLst>
              <a:ext uri="{FF2B5EF4-FFF2-40B4-BE49-F238E27FC236}">
                <a16:creationId xmlns:a16="http://schemas.microsoft.com/office/drawing/2014/main" id="{EA13EE50-ACFF-D1FD-5BA5-B7193AF47C0B}"/>
              </a:ext>
            </a:extLst>
          </p:cNvPr>
          <p:cNvSpPr txBox="1"/>
          <p:nvPr/>
        </p:nvSpPr>
        <p:spPr>
          <a:xfrm>
            <a:off x="4051540" y="3556359"/>
            <a:ext cx="2119899" cy="12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Tindak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lanjut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dari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sebagian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rekomendasi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BPK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yaitu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yang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terdapat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dalam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LHP BPK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atas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LKPP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maupun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LKBUN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Tahun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rPr>
              <a:t> 2021</a:t>
            </a:r>
          </a:p>
        </p:txBody>
      </p:sp>
      <p:sp>
        <p:nvSpPr>
          <p:cNvPr id="451" name="Slide Number Placeholder 31">
            <a:extLst>
              <a:ext uri="{FF2B5EF4-FFF2-40B4-BE49-F238E27FC236}">
                <a16:creationId xmlns:a16="http://schemas.microsoft.com/office/drawing/2014/main" id="{1E9B44F6-3BEB-43FA-977E-E2641402D6F9}"/>
              </a:ext>
            </a:extLst>
          </p:cNvPr>
          <p:cNvSpPr>
            <a:spLocks noGrp="1"/>
          </p:cNvSpPr>
          <p:nvPr/>
        </p:nvSpPr>
        <p:spPr>
          <a:xfrm>
            <a:off x="12579916" y="6162678"/>
            <a:ext cx="413273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lang="en-US" sz="10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B04208-313F-4949-905C-C53834B1A552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F328A2F9-FA25-C8F6-B4CF-5349D8D2BE59}"/>
              </a:ext>
            </a:extLst>
          </p:cNvPr>
          <p:cNvSpPr txBox="1">
            <a:spLocks/>
          </p:cNvSpPr>
          <p:nvPr/>
        </p:nvSpPr>
        <p:spPr>
          <a:xfrm>
            <a:off x="886772" y="19128"/>
            <a:ext cx="10515600" cy="9628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4870"/>
                </a:solidFill>
                <a:latin typeface="+mn-lt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4870"/>
                </a:solidFill>
                <a:effectLst/>
                <a:uLnTx/>
                <a:uFillTx/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LATAR BELAKANG</a:t>
            </a:r>
            <a:r>
              <a:rPr kumimoji="0" lang="id-ID" sz="2800" b="1" i="0" u="none" strike="noStrike" kern="1200" cap="none" spc="0" normalizeH="0" baseline="0" noProof="0" dirty="0">
                <a:ln>
                  <a:noFill/>
                </a:ln>
                <a:solidFill>
                  <a:srgbClr val="004870"/>
                </a:solidFill>
                <a:effectLst/>
                <a:uLnTx/>
                <a:uFillTx/>
                <a:latin typeface="Fira Sans Extra Condensed" panose="020B05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 PENYUSUNAN TENTANG KEBIJAKAN AKUNTANSI PEMERINTAH PUSAT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1DE9897-CA18-D7F6-DA3B-086BB76243B1}"/>
              </a:ext>
            </a:extLst>
          </p:cNvPr>
          <p:cNvSpPr txBox="1">
            <a:spLocks/>
          </p:cNvSpPr>
          <p:nvPr/>
        </p:nvSpPr>
        <p:spPr>
          <a:xfrm>
            <a:off x="6680205" y="1201407"/>
            <a:ext cx="4719670" cy="4679995"/>
          </a:xfrm>
          <a:prstGeom prst="rect">
            <a:avLst/>
          </a:prstGeom>
          <a:ln>
            <a:solidFill>
              <a:srgbClr val="FECE02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C9804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Gambaran Umum Kebijakan Akuntansi</a:t>
            </a:r>
          </a:p>
          <a:p>
            <a:pPr marL="98583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fi-FI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Berdasarkan SAP, Pemerintah Pusat menetapkan kebijakan akuntansi yang kemudian akan menjadi acuan dalam penyusunan laporan keuangan.</a:t>
            </a:r>
          </a:p>
          <a:p>
            <a:pPr marL="98583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kumimoji="0" lang="fi-FI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8583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fi-FI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Kebijakan akuntansi ini merupakan prinsip-prinsip penyelenggaraan akuntansi dan pertanggungjawaban pengelolaan keuangan pemerintah yang dilakukan melalui sistem akuntansi.</a:t>
            </a:r>
          </a:p>
          <a:p>
            <a:pPr marL="98583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kumimoji="0" lang="fi-FI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98583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r>
              <a:rPr kumimoji="0" lang="fi-FI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Secara periodik akan dievaluasi dan disesuaikan baik itu proses bisnis, PSAP, maupun ketentuan pemerintahnya.</a:t>
            </a:r>
          </a:p>
          <a:p>
            <a:pPr marL="985838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/>
            </a:pPr>
            <a:endParaRPr kumimoji="0" lang="fi-FI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BC5756-44C0-2C9F-AF38-90DC1167AEBF}"/>
              </a:ext>
            </a:extLst>
          </p:cNvPr>
          <p:cNvSpPr/>
          <p:nvPr/>
        </p:nvSpPr>
        <p:spPr>
          <a:xfrm>
            <a:off x="6935314" y="2134485"/>
            <a:ext cx="660400" cy="660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1" name="Google Shape;244;p20">
            <a:extLst>
              <a:ext uri="{FF2B5EF4-FFF2-40B4-BE49-F238E27FC236}">
                <a16:creationId xmlns:a16="http://schemas.microsoft.com/office/drawing/2014/main" id="{A9945547-C321-840B-2B71-091E99BFC9CD}"/>
              </a:ext>
            </a:extLst>
          </p:cNvPr>
          <p:cNvGrpSpPr/>
          <p:nvPr/>
        </p:nvGrpSpPr>
        <p:grpSpPr>
          <a:xfrm>
            <a:off x="7083505" y="2299038"/>
            <a:ext cx="367165" cy="349294"/>
            <a:chOff x="-59889100" y="1945025"/>
            <a:chExt cx="317425" cy="301975"/>
          </a:xfrm>
          <a:solidFill>
            <a:schemeClr val="bg1"/>
          </a:solidFill>
        </p:grpSpPr>
        <p:sp>
          <p:nvSpPr>
            <p:cNvPr id="12" name="Google Shape;245;p20">
              <a:extLst>
                <a:ext uri="{FF2B5EF4-FFF2-40B4-BE49-F238E27FC236}">
                  <a16:creationId xmlns:a16="http://schemas.microsoft.com/office/drawing/2014/main" id="{DCF3A76E-9F95-12D0-BBD8-85DAEBBEFE12}"/>
                </a:ext>
              </a:extLst>
            </p:cNvPr>
            <p:cNvSpPr/>
            <p:nvPr/>
          </p:nvSpPr>
          <p:spPr>
            <a:xfrm>
              <a:off x="-59845000" y="2074200"/>
              <a:ext cx="63025" cy="61450"/>
            </a:xfrm>
            <a:custGeom>
              <a:avLst/>
              <a:gdLst/>
              <a:ahLst/>
              <a:cxnLst/>
              <a:rect l="l" t="t" r="r" b="b"/>
              <a:pathLst>
                <a:path w="2521" h="2458" extrusionOk="0">
                  <a:moveTo>
                    <a:pt x="1702" y="788"/>
                  </a:moveTo>
                  <a:lnTo>
                    <a:pt x="1702" y="1639"/>
                  </a:lnTo>
                  <a:lnTo>
                    <a:pt x="883" y="1639"/>
                  </a:lnTo>
                  <a:lnTo>
                    <a:pt x="883" y="788"/>
                  </a:lnTo>
                  <a:close/>
                  <a:moveTo>
                    <a:pt x="442" y="0"/>
                  </a:moveTo>
                  <a:cubicBezTo>
                    <a:pt x="190" y="0"/>
                    <a:pt x="1" y="190"/>
                    <a:pt x="1" y="410"/>
                  </a:cubicBezTo>
                  <a:lnTo>
                    <a:pt x="1" y="2048"/>
                  </a:lnTo>
                  <a:cubicBezTo>
                    <a:pt x="1" y="2300"/>
                    <a:pt x="190" y="2458"/>
                    <a:pt x="442" y="2458"/>
                  </a:cubicBezTo>
                  <a:lnTo>
                    <a:pt x="2080" y="2458"/>
                  </a:lnTo>
                  <a:cubicBezTo>
                    <a:pt x="2332" y="2458"/>
                    <a:pt x="2521" y="2237"/>
                    <a:pt x="2521" y="2048"/>
                  </a:cubicBezTo>
                  <a:lnTo>
                    <a:pt x="2521" y="410"/>
                  </a:lnTo>
                  <a:cubicBezTo>
                    <a:pt x="2521" y="158"/>
                    <a:pt x="2332" y="0"/>
                    <a:pt x="2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3" name="Google Shape;246;p20">
              <a:extLst>
                <a:ext uri="{FF2B5EF4-FFF2-40B4-BE49-F238E27FC236}">
                  <a16:creationId xmlns:a16="http://schemas.microsoft.com/office/drawing/2014/main" id="{5A8764E9-B819-1F15-7D7B-F5D6EB27DF94}"/>
                </a:ext>
              </a:extLst>
            </p:cNvPr>
            <p:cNvSpPr/>
            <p:nvPr/>
          </p:nvSpPr>
          <p:spPr>
            <a:xfrm>
              <a:off x="-59761500" y="1990700"/>
              <a:ext cx="61450" cy="144950"/>
            </a:xfrm>
            <a:custGeom>
              <a:avLst/>
              <a:gdLst/>
              <a:ahLst/>
              <a:cxnLst/>
              <a:rect l="l" t="t" r="r" b="b"/>
              <a:pathLst>
                <a:path w="2458" h="5798" extrusionOk="0">
                  <a:moveTo>
                    <a:pt x="1670" y="820"/>
                  </a:moveTo>
                  <a:lnTo>
                    <a:pt x="1670" y="4979"/>
                  </a:lnTo>
                  <a:lnTo>
                    <a:pt x="851" y="4979"/>
                  </a:lnTo>
                  <a:lnTo>
                    <a:pt x="851" y="820"/>
                  </a:lnTo>
                  <a:close/>
                  <a:moveTo>
                    <a:pt x="410" y="1"/>
                  </a:moveTo>
                  <a:cubicBezTo>
                    <a:pt x="158" y="1"/>
                    <a:pt x="0" y="190"/>
                    <a:pt x="0" y="411"/>
                  </a:cubicBezTo>
                  <a:lnTo>
                    <a:pt x="0" y="5357"/>
                  </a:lnTo>
                  <a:cubicBezTo>
                    <a:pt x="0" y="5577"/>
                    <a:pt x="158" y="5798"/>
                    <a:pt x="410" y="5798"/>
                  </a:cubicBezTo>
                  <a:lnTo>
                    <a:pt x="2048" y="5798"/>
                  </a:lnTo>
                  <a:cubicBezTo>
                    <a:pt x="2300" y="5798"/>
                    <a:pt x="2458" y="5577"/>
                    <a:pt x="2458" y="5388"/>
                  </a:cubicBezTo>
                  <a:lnTo>
                    <a:pt x="2458" y="411"/>
                  </a:lnTo>
                  <a:cubicBezTo>
                    <a:pt x="2458" y="158"/>
                    <a:pt x="2269" y="1"/>
                    <a:pt x="20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4" name="Google Shape;247;p20">
              <a:extLst>
                <a:ext uri="{FF2B5EF4-FFF2-40B4-BE49-F238E27FC236}">
                  <a16:creationId xmlns:a16="http://schemas.microsoft.com/office/drawing/2014/main" id="{E9AC68DF-46E0-0834-AEFF-1D74119E1622}"/>
                </a:ext>
              </a:extLst>
            </p:cNvPr>
            <p:cNvSpPr/>
            <p:nvPr/>
          </p:nvSpPr>
          <p:spPr>
            <a:xfrm>
              <a:off x="-59678800" y="2053725"/>
              <a:ext cx="61450" cy="81925"/>
            </a:xfrm>
            <a:custGeom>
              <a:avLst/>
              <a:gdLst/>
              <a:ahLst/>
              <a:cxnLst/>
              <a:rect l="l" t="t" r="r" b="b"/>
              <a:pathLst>
                <a:path w="2458" h="3277" extrusionOk="0">
                  <a:moveTo>
                    <a:pt x="1670" y="788"/>
                  </a:moveTo>
                  <a:lnTo>
                    <a:pt x="1670" y="2458"/>
                  </a:lnTo>
                  <a:lnTo>
                    <a:pt x="851" y="2458"/>
                  </a:lnTo>
                  <a:lnTo>
                    <a:pt x="851" y="788"/>
                  </a:lnTo>
                  <a:close/>
                  <a:moveTo>
                    <a:pt x="410" y="0"/>
                  </a:moveTo>
                  <a:cubicBezTo>
                    <a:pt x="158" y="0"/>
                    <a:pt x="0" y="189"/>
                    <a:pt x="0" y="410"/>
                  </a:cubicBezTo>
                  <a:lnTo>
                    <a:pt x="0" y="2867"/>
                  </a:lnTo>
                  <a:cubicBezTo>
                    <a:pt x="0" y="3056"/>
                    <a:pt x="158" y="3277"/>
                    <a:pt x="410" y="3277"/>
                  </a:cubicBezTo>
                  <a:lnTo>
                    <a:pt x="2048" y="3277"/>
                  </a:lnTo>
                  <a:cubicBezTo>
                    <a:pt x="2300" y="3277"/>
                    <a:pt x="2458" y="3056"/>
                    <a:pt x="2458" y="2867"/>
                  </a:cubicBezTo>
                  <a:lnTo>
                    <a:pt x="2458" y="410"/>
                  </a:lnTo>
                  <a:cubicBezTo>
                    <a:pt x="2458" y="158"/>
                    <a:pt x="2269" y="0"/>
                    <a:pt x="20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5" name="Google Shape;248;p20">
              <a:extLst>
                <a:ext uri="{FF2B5EF4-FFF2-40B4-BE49-F238E27FC236}">
                  <a16:creationId xmlns:a16="http://schemas.microsoft.com/office/drawing/2014/main" id="{036401A8-8A46-EF6D-43F3-E37E2EA9961C}"/>
                </a:ext>
              </a:extLst>
            </p:cNvPr>
            <p:cNvSpPr/>
            <p:nvPr/>
          </p:nvSpPr>
          <p:spPr>
            <a:xfrm>
              <a:off x="-59889100" y="1945025"/>
              <a:ext cx="317425" cy="301975"/>
            </a:xfrm>
            <a:custGeom>
              <a:avLst/>
              <a:gdLst/>
              <a:ahLst/>
              <a:cxnLst/>
              <a:rect l="l" t="t" r="r" b="b"/>
              <a:pathLst>
                <a:path w="12697" h="12079" extrusionOk="0">
                  <a:moveTo>
                    <a:pt x="6333" y="851"/>
                  </a:moveTo>
                  <a:cubicBezTo>
                    <a:pt x="9357" y="851"/>
                    <a:pt x="11846" y="2931"/>
                    <a:pt x="11846" y="5546"/>
                  </a:cubicBezTo>
                  <a:cubicBezTo>
                    <a:pt x="11846" y="8129"/>
                    <a:pt x="9357" y="10208"/>
                    <a:pt x="6333" y="10208"/>
                  </a:cubicBezTo>
                  <a:cubicBezTo>
                    <a:pt x="5482" y="10208"/>
                    <a:pt x="4600" y="10019"/>
                    <a:pt x="3812" y="9704"/>
                  </a:cubicBezTo>
                  <a:cubicBezTo>
                    <a:pt x="3757" y="9682"/>
                    <a:pt x="3697" y="9671"/>
                    <a:pt x="3637" y="9671"/>
                  </a:cubicBezTo>
                  <a:cubicBezTo>
                    <a:pt x="3529" y="9671"/>
                    <a:pt x="3421" y="9706"/>
                    <a:pt x="3340" y="9767"/>
                  </a:cubicBezTo>
                  <a:lnTo>
                    <a:pt x="2489" y="10649"/>
                  </a:lnTo>
                  <a:lnTo>
                    <a:pt x="2489" y="9074"/>
                  </a:lnTo>
                  <a:cubicBezTo>
                    <a:pt x="2489" y="8948"/>
                    <a:pt x="2426" y="8822"/>
                    <a:pt x="2363" y="8759"/>
                  </a:cubicBezTo>
                  <a:cubicBezTo>
                    <a:pt x="1387" y="7877"/>
                    <a:pt x="819" y="6743"/>
                    <a:pt x="819" y="5514"/>
                  </a:cubicBezTo>
                  <a:cubicBezTo>
                    <a:pt x="819" y="2962"/>
                    <a:pt x="3308" y="851"/>
                    <a:pt x="6333" y="851"/>
                  </a:cubicBezTo>
                  <a:close/>
                  <a:moveTo>
                    <a:pt x="6333" y="1"/>
                  </a:moveTo>
                  <a:cubicBezTo>
                    <a:pt x="2836" y="1"/>
                    <a:pt x="0" y="2490"/>
                    <a:pt x="0" y="5514"/>
                  </a:cubicBezTo>
                  <a:cubicBezTo>
                    <a:pt x="0" y="6963"/>
                    <a:pt x="599" y="8255"/>
                    <a:pt x="1639" y="9263"/>
                  </a:cubicBezTo>
                  <a:lnTo>
                    <a:pt x="1639" y="11689"/>
                  </a:lnTo>
                  <a:cubicBezTo>
                    <a:pt x="1639" y="11918"/>
                    <a:pt x="1832" y="12079"/>
                    <a:pt x="2045" y="12079"/>
                  </a:cubicBezTo>
                  <a:cubicBezTo>
                    <a:pt x="2153" y="12079"/>
                    <a:pt x="2267" y="12037"/>
                    <a:pt x="2363" y="11941"/>
                  </a:cubicBezTo>
                  <a:lnTo>
                    <a:pt x="3749" y="10555"/>
                  </a:lnTo>
                  <a:cubicBezTo>
                    <a:pt x="4569" y="10901"/>
                    <a:pt x="5419" y="11027"/>
                    <a:pt x="6333" y="11027"/>
                  </a:cubicBezTo>
                  <a:cubicBezTo>
                    <a:pt x="9830" y="11027"/>
                    <a:pt x="12697" y="8570"/>
                    <a:pt x="12697" y="5514"/>
                  </a:cubicBezTo>
                  <a:cubicBezTo>
                    <a:pt x="12697" y="2490"/>
                    <a:pt x="9861" y="1"/>
                    <a:pt x="6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5B96ED0-DD9F-FBDE-AA8F-364F6C86F06C}"/>
              </a:ext>
            </a:extLst>
          </p:cNvPr>
          <p:cNvSpPr/>
          <p:nvPr/>
        </p:nvSpPr>
        <p:spPr>
          <a:xfrm>
            <a:off x="6936506" y="3556359"/>
            <a:ext cx="660400" cy="660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7" name="Google Shape;233;p20">
            <a:extLst>
              <a:ext uri="{FF2B5EF4-FFF2-40B4-BE49-F238E27FC236}">
                <a16:creationId xmlns:a16="http://schemas.microsoft.com/office/drawing/2014/main" id="{8E67C964-2BF0-CF15-0D91-684726F6E8CC}"/>
              </a:ext>
            </a:extLst>
          </p:cNvPr>
          <p:cNvGrpSpPr/>
          <p:nvPr/>
        </p:nvGrpSpPr>
        <p:grpSpPr>
          <a:xfrm>
            <a:off x="7084944" y="3741682"/>
            <a:ext cx="365344" cy="289753"/>
            <a:chOff x="-62882850" y="1999375"/>
            <a:chExt cx="315850" cy="250500"/>
          </a:xfrm>
          <a:solidFill>
            <a:schemeClr val="bg1"/>
          </a:solidFill>
        </p:grpSpPr>
        <p:sp>
          <p:nvSpPr>
            <p:cNvPr id="18" name="Google Shape;234;p20">
              <a:extLst>
                <a:ext uri="{FF2B5EF4-FFF2-40B4-BE49-F238E27FC236}">
                  <a16:creationId xmlns:a16="http://schemas.microsoft.com/office/drawing/2014/main" id="{BAC74E7D-943E-32A7-B04D-5371548D9A59}"/>
                </a:ext>
              </a:extLst>
            </p:cNvPr>
            <p:cNvSpPr/>
            <p:nvPr/>
          </p:nvSpPr>
          <p:spPr>
            <a:xfrm>
              <a:off x="-62882850" y="1999375"/>
              <a:ext cx="315850" cy="250500"/>
            </a:xfrm>
            <a:custGeom>
              <a:avLst/>
              <a:gdLst/>
              <a:ahLst/>
              <a:cxnLst/>
              <a:rect l="l" t="t" r="r" b="b"/>
              <a:pathLst>
                <a:path w="12634" h="10020" extrusionOk="0">
                  <a:moveTo>
                    <a:pt x="10586" y="851"/>
                  </a:moveTo>
                  <a:cubicBezTo>
                    <a:pt x="10838" y="851"/>
                    <a:pt x="11027" y="1040"/>
                    <a:pt x="11027" y="1261"/>
                  </a:cubicBezTo>
                  <a:lnTo>
                    <a:pt x="11027" y="7499"/>
                  </a:lnTo>
                  <a:lnTo>
                    <a:pt x="1638" y="7499"/>
                  </a:lnTo>
                  <a:lnTo>
                    <a:pt x="1638" y="1261"/>
                  </a:lnTo>
                  <a:lnTo>
                    <a:pt x="1607" y="1261"/>
                  </a:lnTo>
                  <a:cubicBezTo>
                    <a:pt x="1607" y="1040"/>
                    <a:pt x="1796" y="851"/>
                    <a:pt x="2048" y="851"/>
                  </a:cubicBezTo>
                  <a:close/>
                  <a:moveTo>
                    <a:pt x="11814" y="8318"/>
                  </a:moveTo>
                  <a:lnTo>
                    <a:pt x="11814" y="8727"/>
                  </a:lnTo>
                  <a:cubicBezTo>
                    <a:pt x="11814" y="8948"/>
                    <a:pt x="11594" y="9137"/>
                    <a:pt x="11405" y="9137"/>
                  </a:cubicBezTo>
                  <a:lnTo>
                    <a:pt x="1197" y="9137"/>
                  </a:lnTo>
                  <a:cubicBezTo>
                    <a:pt x="977" y="9137"/>
                    <a:pt x="788" y="8948"/>
                    <a:pt x="788" y="8727"/>
                  </a:cubicBezTo>
                  <a:lnTo>
                    <a:pt x="788" y="8318"/>
                  </a:lnTo>
                  <a:close/>
                  <a:moveTo>
                    <a:pt x="2048" y="1"/>
                  </a:moveTo>
                  <a:cubicBezTo>
                    <a:pt x="1355" y="1"/>
                    <a:pt x="788" y="568"/>
                    <a:pt x="788" y="1261"/>
                  </a:cubicBezTo>
                  <a:lnTo>
                    <a:pt x="788" y="7499"/>
                  </a:lnTo>
                  <a:lnTo>
                    <a:pt x="378" y="7499"/>
                  </a:lnTo>
                  <a:cubicBezTo>
                    <a:pt x="158" y="7499"/>
                    <a:pt x="0" y="7688"/>
                    <a:pt x="0" y="7940"/>
                  </a:cubicBezTo>
                  <a:lnTo>
                    <a:pt x="0" y="8759"/>
                  </a:lnTo>
                  <a:cubicBezTo>
                    <a:pt x="0" y="9420"/>
                    <a:pt x="536" y="10019"/>
                    <a:pt x="1197" y="10019"/>
                  </a:cubicBezTo>
                  <a:lnTo>
                    <a:pt x="11405" y="10019"/>
                  </a:lnTo>
                  <a:cubicBezTo>
                    <a:pt x="12066" y="10019"/>
                    <a:pt x="12634" y="9452"/>
                    <a:pt x="12634" y="8759"/>
                  </a:cubicBezTo>
                  <a:lnTo>
                    <a:pt x="12634" y="7940"/>
                  </a:lnTo>
                  <a:cubicBezTo>
                    <a:pt x="12634" y="7656"/>
                    <a:pt x="12444" y="7499"/>
                    <a:pt x="12224" y="7499"/>
                  </a:cubicBezTo>
                  <a:lnTo>
                    <a:pt x="11814" y="7499"/>
                  </a:lnTo>
                  <a:lnTo>
                    <a:pt x="11814" y="1261"/>
                  </a:lnTo>
                  <a:cubicBezTo>
                    <a:pt x="11814" y="599"/>
                    <a:pt x="11247" y="1"/>
                    <a:pt x="105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19" name="Google Shape;235;p20">
              <a:extLst>
                <a:ext uri="{FF2B5EF4-FFF2-40B4-BE49-F238E27FC236}">
                  <a16:creationId xmlns:a16="http://schemas.microsoft.com/office/drawing/2014/main" id="{7DB8422B-33EA-44ED-8A52-E6099436C2BF}"/>
                </a:ext>
              </a:extLst>
            </p:cNvPr>
            <p:cNvSpPr/>
            <p:nvPr/>
          </p:nvSpPr>
          <p:spPr>
            <a:xfrm>
              <a:off x="-62806475" y="2062375"/>
              <a:ext cx="146525" cy="103800"/>
            </a:xfrm>
            <a:custGeom>
              <a:avLst/>
              <a:gdLst/>
              <a:ahLst/>
              <a:cxnLst/>
              <a:rect l="l" t="t" r="r" b="b"/>
              <a:pathLst>
                <a:path w="5861" h="4152" extrusionOk="0">
                  <a:moveTo>
                    <a:pt x="3782" y="1"/>
                  </a:moveTo>
                  <a:cubicBezTo>
                    <a:pt x="3561" y="1"/>
                    <a:pt x="3341" y="221"/>
                    <a:pt x="3341" y="410"/>
                  </a:cubicBezTo>
                  <a:cubicBezTo>
                    <a:pt x="3341" y="631"/>
                    <a:pt x="3561" y="852"/>
                    <a:pt x="3782" y="852"/>
                  </a:cubicBezTo>
                  <a:lnTo>
                    <a:pt x="4443" y="852"/>
                  </a:lnTo>
                  <a:lnTo>
                    <a:pt x="2962" y="2332"/>
                  </a:lnTo>
                  <a:lnTo>
                    <a:pt x="2395" y="1765"/>
                  </a:lnTo>
                  <a:cubicBezTo>
                    <a:pt x="2332" y="1686"/>
                    <a:pt x="2230" y="1647"/>
                    <a:pt x="2124" y="1647"/>
                  </a:cubicBezTo>
                  <a:cubicBezTo>
                    <a:pt x="2017" y="1647"/>
                    <a:pt x="1907" y="1686"/>
                    <a:pt x="1828" y="1765"/>
                  </a:cubicBezTo>
                  <a:lnTo>
                    <a:pt x="159" y="3435"/>
                  </a:lnTo>
                  <a:cubicBezTo>
                    <a:pt x="1" y="3592"/>
                    <a:pt x="1" y="3876"/>
                    <a:pt x="159" y="4034"/>
                  </a:cubicBezTo>
                  <a:cubicBezTo>
                    <a:pt x="237" y="4112"/>
                    <a:pt x="348" y="4152"/>
                    <a:pt x="458" y="4152"/>
                  </a:cubicBezTo>
                  <a:cubicBezTo>
                    <a:pt x="568" y="4152"/>
                    <a:pt x="678" y="4112"/>
                    <a:pt x="757" y="4034"/>
                  </a:cubicBezTo>
                  <a:lnTo>
                    <a:pt x="2143" y="2647"/>
                  </a:lnTo>
                  <a:lnTo>
                    <a:pt x="2679" y="3183"/>
                  </a:lnTo>
                  <a:cubicBezTo>
                    <a:pt x="2758" y="3262"/>
                    <a:pt x="2868" y="3301"/>
                    <a:pt x="2978" y="3301"/>
                  </a:cubicBezTo>
                  <a:cubicBezTo>
                    <a:pt x="3088" y="3301"/>
                    <a:pt x="3199" y="3262"/>
                    <a:pt x="3278" y="3183"/>
                  </a:cubicBezTo>
                  <a:lnTo>
                    <a:pt x="5042" y="1419"/>
                  </a:lnTo>
                  <a:lnTo>
                    <a:pt x="5042" y="2080"/>
                  </a:lnTo>
                  <a:cubicBezTo>
                    <a:pt x="5042" y="2332"/>
                    <a:pt x="5231" y="2521"/>
                    <a:pt x="5451" y="2521"/>
                  </a:cubicBezTo>
                  <a:cubicBezTo>
                    <a:pt x="5640" y="2521"/>
                    <a:pt x="5861" y="2332"/>
                    <a:pt x="5861" y="2080"/>
                  </a:cubicBezTo>
                  <a:lnTo>
                    <a:pt x="5861" y="442"/>
                  </a:lnTo>
                  <a:cubicBezTo>
                    <a:pt x="5861" y="158"/>
                    <a:pt x="5672" y="1"/>
                    <a:pt x="54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BD108E63-E5AD-14D8-30D6-67A951D9AB6B}"/>
              </a:ext>
            </a:extLst>
          </p:cNvPr>
          <p:cNvSpPr/>
          <p:nvPr/>
        </p:nvSpPr>
        <p:spPr>
          <a:xfrm>
            <a:off x="6970526" y="4982687"/>
            <a:ext cx="660400" cy="66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8" name="Google Shape;834;p25">
            <a:extLst>
              <a:ext uri="{FF2B5EF4-FFF2-40B4-BE49-F238E27FC236}">
                <a16:creationId xmlns:a16="http://schemas.microsoft.com/office/drawing/2014/main" id="{8A5D340F-9675-5AE8-EFD2-30FEB156F2D4}"/>
              </a:ext>
            </a:extLst>
          </p:cNvPr>
          <p:cNvGrpSpPr/>
          <p:nvPr/>
        </p:nvGrpSpPr>
        <p:grpSpPr>
          <a:xfrm>
            <a:off x="890534" y="980224"/>
            <a:ext cx="5515904" cy="1467960"/>
            <a:chOff x="809800" y="1235945"/>
            <a:chExt cx="1557634" cy="1768471"/>
          </a:xfrm>
        </p:grpSpPr>
        <p:grpSp>
          <p:nvGrpSpPr>
            <p:cNvPr id="25" name="Google Shape;836;p25">
              <a:extLst>
                <a:ext uri="{FF2B5EF4-FFF2-40B4-BE49-F238E27FC236}">
                  <a16:creationId xmlns:a16="http://schemas.microsoft.com/office/drawing/2014/main" id="{1C2AB9AD-AF60-0360-C92B-294766658948}"/>
                </a:ext>
              </a:extLst>
            </p:cNvPr>
            <p:cNvGrpSpPr/>
            <p:nvPr/>
          </p:nvGrpSpPr>
          <p:grpSpPr>
            <a:xfrm>
              <a:off x="809800" y="1711027"/>
              <a:ext cx="1520117" cy="1293389"/>
              <a:chOff x="809800" y="1796577"/>
              <a:chExt cx="1520117" cy="1293389"/>
            </a:xfrm>
          </p:grpSpPr>
          <p:sp>
            <p:nvSpPr>
              <p:cNvPr id="30" name="Google Shape;837;p25">
                <a:extLst>
                  <a:ext uri="{FF2B5EF4-FFF2-40B4-BE49-F238E27FC236}">
                    <a16:creationId xmlns:a16="http://schemas.microsoft.com/office/drawing/2014/main" id="{8D5C7F16-DA14-76EE-DB3D-6BF1D9000650}"/>
                  </a:ext>
                </a:extLst>
              </p:cNvPr>
              <p:cNvSpPr txBox="1"/>
              <p:nvPr/>
            </p:nvSpPr>
            <p:spPr>
              <a:xfrm>
                <a:off x="809800" y="1796577"/>
                <a:ext cx="1509000" cy="39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kumimoji="0" lang="en-ID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UU </a:t>
                </a:r>
                <a:r>
                  <a:rPr kumimoji="0" lang="en-ID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Nomor</a:t>
                </a:r>
                <a:r>
                  <a:rPr kumimoji="0" lang="en-ID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 1 </a:t>
                </a:r>
                <a:r>
                  <a:rPr kumimoji="0" lang="en-ID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Tahun</a:t>
                </a:r>
                <a:r>
                  <a:rPr kumimoji="0" lang="en-ID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 2004 (</a:t>
                </a:r>
                <a:r>
                  <a:rPr kumimoji="0" lang="en-ID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Pasal</a:t>
                </a:r>
                <a:r>
                  <a:rPr kumimoji="0" lang="en-ID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 7 </a:t>
                </a:r>
                <a:r>
                  <a:rPr kumimoji="0" lang="en-ID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ayat</a:t>
                </a:r>
                <a:r>
                  <a:rPr kumimoji="0" lang="en-ID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 2 </a:t>
                </a:r>
                <a:r>
                  <a:rPr kumimoji="0" lang="en-ID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huruf</a:t>
                </a:r>
                <a:r>
                  <a:rPr kumimoji="0" lang="en-ID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 o) </a:t>
                </a:r>
              </a:p>
            </p:txBody>
          </p:sp>
          <p:sp>
            <p:nvSpPr>
              <p:cNvPr id="31" name="Google Shape;838;p25">
                <a:extLst>
                  <a:ext uri="{FF2B5EF4-FFF2-40B4-BE49-F238E27FC236}">
                    <a16:creationId xmlns:a16="http://schemas.microsoft.com/office/drawing/2014/main" id="{837FF524-B429-DECD-C77E-51E086E56957}"/>
                  </a:ext>
                </a:extLst>
              </p:cNvPr>
              <p:cNvSpPr txBox="1"/>
              <p:nvPr/>
            </p:nvSpPr>
            <p:spPr>
              <a:xfrm>
                <a:off x="820917" y="2194766"/>
                <a:ext cx="1509000" cy="8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Menteri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Keuangan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selaku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Bendahara Umum Negara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berwenang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menetapkan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Sistem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Akuntansi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dan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Pelaporan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Keuangan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Negara</a:t>
                </a:r>
                <a:endPara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Roboto"/>
                </a:endParaRPr>
              </a:p>
            </p:txBody>
          </p:sp>
        </p:grpSp>
        <p:grpSp>
          <p:nvGrpSpPr>
            <p:cNvPr id="27" name="Google Shape;840;p25">
              <a:extLst>
                <a:ext uri="{FF2B5EF4-FFF2-40B4-BE49-F238E27FC236}">
                  <a16:creationId xmlns:a16="http://schemas.microsoft.com/office/drawing/2014/main" id="{71AD8742-2B3A-764D-5185-6F9C9FAF1DA1}"/>
                </a:ext>
              </a:extLst>
            </p:cNvPr>
            <p:cNvGrpSpPr/>
            <p:nvPr/>
          </p:nvGrpSpPr>
          <p:grpSpPr>
            <a:xfrm>
              <a:off x="809800" y="1235945"/>
              <a:ext cx="1557634" cy="422400"/>
              <a:chOff x="809800" y="1235945"/>
              <a:chExt cx="1557634" cy="422400"/>
            </a:xfrm>
          </p:grpSpPr>
          <p:sp>
            <p:nvSpPr>
              <p:cNvPr id="28" name="Google Shape;841;p25">
                <a:extLst>
                  <a:ext uri="{FF2B5EF4-FFF2-40B4-BE49-F238E27FC236}">
                    <a16:creationId xmlns:a16="http://schemas.microsoft.com/office/drawing/2014/main" id="{F4CD52FE-A477-A854-FE76-A2E1162A16B5}"/>
                  </a:ext>
                </a:extLst>
              </p:cNvPr>
              <p:cNvSpPr/>
              <p:nvPr/>
            </p:nvSpPr>
            <p:spPr>
              <a:xfrm>
                <a:off x="809800" y="1235945"/>
                <a:ext cx="1557634" cy="422400"/>
              </a:xfrm>
              <a:prstGeom prst="homePlate">
                <a:avLst>
                  <a:gd name="adj" fmla="val 50000"/>
                </a:avLst>
              </a:prstGeom>
              <a:solidFill>
                <a:srgbClr val="0070C0"/>
              </a:solidFill>
              <a:ln w="3810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29" name="Google Shape;842;p25">
                <a:extLst>
                  <a:ext uri="{FF2B5EF4-FFF2-40B4-BE49-F238E27FC236}">
                    <a16:creationId xmlns:a16="http://schemas.microsoft.com/office/drawing/2014/main" id="{A2998597-EB7A-70DB-5A37-18A506282CA8}"/>
                  </a:ext>
                </a:extLst>
              </p:cNvPr>
              <p:cNvSpPr txBox="1"/>
              <p:nvPr/>
            </p:nvSpPr>
            <p:spPr>
              <a:xfrm>
                <a:off x="903701" y="1238646"/>
                <a:ext cx="1343433" cy="41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kumimoji="0" lang="e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DASAR</a:t>
                </a:r>
                <a:endParaRPr kumimoji="0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endParaRPr>
              </a:p>
            </p:txBody>
          </p:sp>
        </p:grpSp>
      </p:grpSp>
      <p:grpSp>
        <p:nvGrpSpPr>
          <p:cNvPr id="32" name="Google Shape;834;p25">
            <a:extLst>
              <a:ext uri="{FF2B5EF4-FFF2-40B4-BE49-F238E27FC236}">
                <a16:creationId xmlns:a16="http://schemas.microsoft.com/office/drawing/2014/main" id="{8A866FB5-D859-79C5-8752-8A38CF0D83D5}"/>
              </a:ext>
            </a:extLst>
          </p:cNvPr>
          <p:cNvGrpSpPr/>
          <p:nvPr/>
        </p:nvGrpSpPr>
        <p:grpSpPr>
          <a:xfrm>
            <a:off x="860608" y="2708217"/>
            <a:ext cx="5545831" cy="2631629"/>
            <a:chOff x="790164" y="1214499"/>
            <a:chExt cx="4160954" cy="3826270"/>
          </a:xfrm>
        </p:grpSpPr>
        <p:sp>
          <p:nvSpPr>
            <p:cNvPr id="33" name="Google Shape;835;p25">
              <a:extLst>
                <a:ext uri="{FF2B5EF4-FFF2-40B4-BE49-F238E27FC236}">
                  <a16:creationId xmlns:a16="http://schemas.microsoft.com/office/drawing/2014/main" id="{A9938C5D-BE94-A840-F52A-45AEB0F2A40C}"/>
                </a:ext>
              </a:extLst>
            </p:cNvPr>
            <p:cNvSpPr/>
            <p:nvPr/>
          </p:nvSpPr>
          <p:spPr>
            <a:xfrm>
              <a:off x="790164" y="1214499"/>
              <a:ext cx="2300436" cy="382627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34" name="Google Shape;836;p25">
              <a:extLst>
                <a:ext uri="{FF2B5EF4-FFF2-40B4-BE49-F238E27FC236}">
                  <a16:creationId xmlns:a16="http://schemas.microsoft.com/office/drawing/2014/main" id="{BA23B4FA-A643-A17A-8EC5-CA4DE295184B}"/>
                </a:ext>
              </a:extLst>
            </p:cNvPr>
            <p:cNvGrpSpPr/>
            <p:nvPr/>
          </p:nvGrpSpPr>
          <p:grpSpPr>
            <a:xfrm>
              <a:off x="809796" y="1711027"/>
              <a:ext cx="2312786" cy="2192298"/>
              <a:chOff x="809796" y="1796577"/>
              <a:chExt cx="2312786" cy="2192298"/>
            </a:xfrm>
          </p:grpSpPr>
          <p:sp>
            <p:nvSpPr>
              <p:cNvPr id="38" name="Google Shape;837;p25">
                <a:extLst>
                  <a:ext uri="{FF2B5EF4-FFF2-40B4-BE49-F238E27FC236}">
                    <a16:creationId xmlns:a16="http://schemas.microsoft.com/office/drawing/2014/main" id="{CA6BC731-CF8D-F421-FDC1-67A88D7974F3}"/>
                  </a:ext>
                </a:extLst>
              </p:cNvPr>
              <p:cNvSpPr txBox="1"/>
              <p:nvPr/>
            </p:nvSpPr>
            <p:spPr>
              <a:xfrm>
                <a:off x="809799" y="1796577"/>
                <a:ext cx="2312783" cy="6199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kumimoji="0" lang="en-ID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Reviu</a:t>
                </a:r>
                <a:r>
                  <a:rPr kumimoji="0" lang="en-ID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 dan </a:t>
                </a:r>
                <a:r>
                  <a:rPr kumimoji="0" lang="en-ID" sz="1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Penyempurnaan</a:t>
                </a:r>
                <a:endParaRPr kumimoji="0" lang="en-ID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endParaRPr>
              </a:p>
            </p:txBody>
          </p:sp>
          <p:sp>
            <p:nvSpPr>
              <p:cNvPr id="39" name="Google Shape;838;p25">
                <a:extLst>
                  <a:ext uri="{FF2B5EF4-FFF2-40B4-BE49-F238E27FC236}">
                    <a16:creationId xmlns:a16="http://schemas.microsoft.com/office/drawing/2014/main" id="{42829A3C-FB7E-610A-38C8-D78937E92CD7}"/>
                  </a:ext>
                </a:extLst>
              </p:cNvPr>
              <p:cNvSpPr txBox="1"/>
              <p:nvPr/>
            </p:nvSpPr>
            <p:spPr>
              <a:xfrm>
                <a:off x="809796" y="2294554"/>
                <a:ext cx="2131473" cy="16943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42900" marR="0" lvl="0" indent="-34290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Perubahan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Proses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Bisnis</a:t>
                </a:r>
                <a:endParaRPr kumimoji="0" lang="en-ID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Roboto"/>
                </a:endParaRPr>
              </a:p>
              <a:p>
                <a:pPr marL="342900" marR="0" lvl="0" indent="-34290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Perkembangan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Teknologi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Informasi</a:t>
                </a:r>
                <a:endParaRPr kumimoji="0" lang="en-ID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Roboto"/>
                </a:endParaRPr>
              </a:p>
              <a:p>
                <a:pPr marL="342900" marR="0" lvl="0" indent="-34290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Adanya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PSAP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terkini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dan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Harmonisasi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dengan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peraturan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lain</a:t>
                </a:r>
              </a:p>
              <a:p>
                <a:pPr marL="342900" marR="0" lvl="0" indent="-34290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Perubahan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Kebijakan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Akuntansi</a:t>
                </a:r>
                <a:endParaRPr kumimoji="0" lang="en-ID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Roboto"/>
                </a:endParaRPr>
              </a:p>
              <a:p>
                <a:pPr marL="342900" marR="0" lvl="0" indent="-34290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rabicPeriod"/>
                  <a:tabLst/>
                  <a:defRPr/>
                </a:pPr>
                <a:endParaRPr kumimoji="0" lang="en-ID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Roboto"/>
                </a:endParaRPr>
              </a:p>
            </p:txBody>
          </p:sp>
        </p:grpSp>
        <p:grpSp>
          <p:nvGrpSpPr>
            <p:cNvPr id="35" name="Google Shape;840;p25">
              <a:extLst>
                <a:ext uri="{FF2B5EF4-FFF2-40B4-BE49-F238E27FC236}">
                  <a16:creationId xmlns:a16="http://schemas.microsoft.com/office/drawing/2014/main" id="{54AD6050-BB85-B3ED-99A3-60B73AEF5096}"/>
                </a:ext>
              </a:extLst>
            </p:cNvPr>
            <p:cNvGrpSpPr/>
            <p:nvPr/>
          </p:nvGrpSpPr>
          <p:grpSpPr>
            <a:xfrm>
              <a:off x="812619" y="1249896"/>
              <a:ext cx="4138499" cy="507843"/>
              <a:chOff x="812619" y="1249896"/>
              <a:chExt cx="4138499" cy="507843"/>
            </a:xfrm>
          </p:grpSpPr>
          <p:sp>
            <p:nvSpPr>
              <p:cNvPr id="36" name="Google Shape;841;p25">
                <a:extLst>
                  <a:ext uri="{FF2B5EF4-FFF2-40B4-BE49-F238E27FC236}">
                    <a16:creationId xmlns:a16="http://schemas.microsoft.com/office/drawing/2014/main" id="{81073070-9CC4-B8F8-3DDB-07D7AEA1FBEE}"/>
                  </a:ext>
                </a:extLst>
              </p:cNvPr>
              <p:cNvSpPr/>
              <p:nvPr/>
            </p:nvSpPr>
            <p:spPr>
              <a:xfrm>
                <a:off x="812619" y="1249896"/>
                <a:ext cx="4138499" cy="507843"/>
              </a:xfrm>
              <a:prstGeom prst="homePlate">
                <a:avLst>
                  <a:gd name="adj" fmla="val 50000"/>
                </a:avLst>
              </a:prstGeom>
              <a:solidFill>
                <a:srgbClr val="0070C0"/>
              </a:solidFill>
              <a:ln w="3810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37" name="Google Shape;842;p25">
                <a:extLst>
                  <a:ext uri="{FF2B5EF4-FFF2-40B4-BE49-F238E27FC236}">
                    <a16:creationId xmlns:a16="http://schemas.microsoft.com/office/drawing/2014/main" id="{CB59CC99-F80F-F6F1-25DE-99C6E4D27645}"/>
                  </a:ext>
                </a:extLst>
              </p:cNvPr>
              <p:cNvSpPr txBox="1"/>
              <p:nvPr/>
            </p:nvSpPr>
            <p:spPr>
              <a:xfrm>
                <a:off x="2079311" y="1352951"/>
                <a:ext cx="1723915" cy="317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kumimoji="0" lang="e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LATAR BELAKANG</a:t>
                </a:r>
                <a:endParaRPr kumimoji="0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endParaRPr>
              </a:p>
            </p:txBody>
          </p:sp>
        </p:grpSp>
      </p:grpSp>
      <p:sp>
        <p:nvSpPr>
          <p:cNvPr id="42" name="Google Shape;837;p25">
            <a:extLst>
              <a:ext uri="{FF2B5EF4-FFF2-40B4-BE49-F238E27FC236}">
                <a16:creationId xmlns:a16="http://schemas.microsoft.com/office/drawing/2014/main" id="{182FF1C9-9A26-D736-8E2D-E2B68045A828}"/>
              </a:ext>
            </a:extLst>
          </p:cNvPr>
          <p:cNvSpPr txBox="1"/>
          <p:nvPr/>
        </p:nvSpPr>
        <p:spPr>
          <a:xfrm>
            <a:off x="3977434" y="3115669"/>
            <a:ext cx="2300225" cy="44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ID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ra Sans Extra Condensed"/>
              </a:rPr>
              <a:t>Tindak</a:t>
            </a:r>
            <a:r>
              <a:rPr kumimoji="0" lang="en-ID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ra Sans Extra Condensed"/>
              </a:rPr>
              <a:t> </a:t>
            </a:r>
            <a:r>
              <a:rPr kumimoji="0" lang="en-ID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ra Sans Extra Condensed"/>
              </a:rPr>
              <a:t>Lanjut</a:t>
            </a:r>
            <a:r>
              <a:rPr kumimoji="0" lang="en-ID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ra Sans Extra Condensed"/>
              </a:rPr>
              <a:t> BPK</a:t>
            </a:r>
          </a:p>
        </p:txBody>
      </p:sp>
      <p:grpSp>
        <p:nvGrpSpPr>
          <p:cNvPr id="43" name="Google Shape;834;p25">
            <a:extLst>
              <a:ext uri="{FF2B5EF4-FFF2-40B4-BE49-F238E27FC236}">
                <a16:creationId xmlns:a16="http://schemas.microsoft.com/office/drawing/2014/main" id="{D2A3B707-B486-C688-A636-0F075707A4B3}"/>
              </a:ext>
            </a:extLst>
          </p:cNvPr>
          <p:cNvGrpSpPr/>
          <p:nvPr/>
        </p:nvGrpSpPr>
        <p:grpSpPr>
          <a:xfrm>
            <a:off x="862488" y="5426908"/>
            <a:ext cx="5610030" cy="1215939"/>
            <a:chOff x="796082" y="1214500"/>
            <a:chExt cx="1571352" cy="1224019"/>
          </a:xfrm>
        </p:grpSpPr>
        <p:sp>
          <p:nvSpPr>
            <p:cNvPr id="44" name="Google Shape;835;p25">
              <a:extLst>
                <a:ext uri="{FF2B5EF4-FFF2-40B4-BE49-F238E27FC236}">
                  <a16:creationId xmlns:a16="http://schemas.microsoft.com/office/drawing/2014/main" id="{BD739A80-7C4E-D36E-A7AC-AA0D1B852C70}"/>
                </a:ext>
              </a:extLst>
            </p:cNvPr>
            <p:cNvSpPr/>
            <p:nvPr/>
          </p:nvSpPr>
          <p:spPr>
            <a:xfrm>
              <a:off x="809800" y="1214500"/>
              <a:ext cx="1509000" cy="1224019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grpSp>
          <p:nvGrpSpPr>
            <p:cNvPr id="45" name="Google Shape;836;p25">
              <a:extLst>
                <a:ext uri="{FF2B5EF4-FFF2-40B4-BE49-F238E27FC236}">
                  <a16:creationId xmlns:a16="http://schemas.microsoft.com/office/drawing/2014/main" id="{E49F8071-6C46-9CEE-CF37-DCC56517006E}"/>
                </a:ext>
              </a:extLst>
            </p:cNvPr>
            <p:cNvGrpSpPr/>
            <p:nvPr/>
          </p:nvGrpSpPr>
          <p:grpSpPr>
            <a:xfrm>
              <a:off x="796082" y="1521169"/>
              <a:ext cx="1520084" cy="747295"/>
              <a:chOff x="796082" y="1606719"/>
              <a:chExt cx="1520084" cy="747295"/>
            </a:xfrm>
          </p:grpSpPr>
          <p:sp>
            <p:nvSpPr>
              <p:cNvPr id="49" name="Google Shape;837;p25">
                <a:extLst>
                  <a:ext uri="{FF2B5EF4-FFF2-40B4-BE49-F238E27FC236}">
                    <a16:creationId xmlns:a16="http://schemas.microsoft.com/office/drawing/2014/main" id="{678CC655-3112-0382-5A1E-A6E999D4A74D}"/>
                  </a:ext>
                </a:extLst>
              </p:cNvPr>
              <p:cNvSpPr txBox="1"/>
              <p:nvPr/>
            </p:nvSpPr>
            <p:spPr>
              <a:xfrm>
                <a:off x="796082" y="1606719"/>
                <a:ext cx="1509000" cy="39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endParaRPr kumimoji="0" lang="en-ID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endParaRPr>
              </a:p>
            </p:txBody>
          </p:sp>
          <p:sp>
            <p:nvSpPr>
              <p:cNvPr id="50" name="Google Shape;838;p25">
                <a:extLst>
                  <a:ext uri="{FF2B5EF4-FFF2-40B4-BE49-F238E27FC236}">
                    <a16:creationId xmlns:a16="http://schemas.microsoft.com/office/drawing/2014/main" id="{DEF869C9-1C44-7E35-310C-F178FC962C61}"/>
                  </a:ext>
                </a:extLst>
              </p:cNvPr>
              <p:cNvSpPr txBox="1"/>
              <p:nvPr/>
            </p:nvSpPr>
            <p:spPr>
              <a:xfrm>
                <a:off x="802884" y="1741195"/>
                <a:ext cx="1513282" cy="6128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Mewujudkan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pengelolaan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keuangan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negara yang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transparan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dan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akuntabel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melalui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LKKL, LKBUN, dan LKPP yang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beropini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Wajar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Tanpa</a:t>
                </a:r>
                <a:r>
                  <a:rPr kumimoji="0" lang="en-ID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 </a:t>
                </a:r>
                <a:r>
                  <a:rPr kumimoji="0" lang="en-ID" sz="1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Roboto"/>
                  </a:rPr>
                  <a:t>Pengecualian</a:t>
                </a:r>
                <a:endParaRPr kumimoji="0" lang="en-ID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Roboto"/>
                </a:endParaRPr>
              </a:p>
            </p:txBody>
          </p:sp>
        </p:grpSp>
        <p:grpSp>
          <p:nvGrpSpPr>
            <p:cNvPr id="46" name="Google Shape;840;p25">
              <a:extLst>
                <a:ext uri="{FF2B5EF4-FFF2-40B4-BE49-F238E27FC236}">
                  <a16:creationId xmlns:a16="http://schemas.microsoft.com/office/drawing/2014/main" id="{F40EBFFD-B950-23DF-1C09-41BF3D48E929}"/>
                </a:ext>
              </a:extLst>
            </p:cNvPr>
            <p:cNvGrpSpPr/>
            <p:nvPr/>
          </p:nvGrpSpPr>
          <p:grpSpPr>
            <a:xfrm>
              <a:off x="809800" y="1235945"/>
              <a:ext cx="1557634" cy="422400"/>
              <a:chOff x="809800" y="1235945"/>
              <a:chExt cx="1557634" cy="422400"/>
            </a:xfrm>
          </p:grpSpPr>
          <p:sp>
            <p:nvSpPr>
              <p:cNvPr id="47" name="Google Shape;841;p25">
                <a:extLst>
                  <a:ext uri="{FF2B5EF4-FFF2-40B4-BE49-F238E27FC236}">
                    <a16:creationId xmlns:a16="http://schemas.microsoft.com/office/drawing/2014/main" id="{D9BF8338-128E-681B-69CA-9A18B6C4E743}"/>
                  </a:ext>
                </a:extLst>
              </p:cNvPr>
              <p:cNvSpPr/>
              <p:nvPr/>
            </p:nvSpPr>
            <p:spPr>
              <a:xfrm>
                <a:off x="809800" y="1235945"/>
                <a:ext cx="1557634" cy="422400"/>
              </a:xfrm>
              <a:prstGeom prst="homePlate">
                <a:avLst>
                  <a:gd name="adj" fmla="val 50000"/>
                </a:avLst>
              </a:prstGeom>
              <a:solidFill>
                <a:srgbClr val="0070C0"/>
              </a:solidFill>
              <a:ln w="3810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48" name="Google Shape;842;p25">
                <a:extLst>
                  <a:ext uri="{FF2B5EF4-FFF2-40B4-BE49-F238E27FC236}">
                    <a16:creationId xmlns:a16="http://schemas.microsoft.com/office/drawing/2014/main" id="{E46505EA-CEC9-B3ED-C116-0726DA8FD2E1}"/>
                  </a:ext>
                </a:extLst>
              </p:cNvPr>
              <p:cNvSpPr txBox="1"/>
              <p:nvPr/>
            </p:nvSpPr>
            <p:spPr>
              <a:xfrm>
                <a:off x="903701" y="1238646"/>
                <a:ext cx="1343433" cy="41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kumimoji="0" lang="e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TUJUAN</a:t>
                </a:r>
                <a:endParaRPr kumimoji="0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endParaRPr>
              </a:p>
            </p:txBody>
          </p:sp>
        </p:grpSp>
      </p:grpSp>
      <p:grpSp>
        <p:nvGrpSpPr>
          <p:cNvPr id="51" name="Google Shape;618;p45">
            <a:extLst>
              <a:ext uri="{FF2B5EF4-FFF2-40B4-BE49-F238E27FC236}">
                <a16:creationId xmlns:a16="http://schemas.microsoft.com/office/drawing/2014/main" id="{2631E2BE-0426-4521-6CAA-071AA524C7E9}"/>
              </a:ext>
            </a:extLst>
          </p:cNvPr>
          <p:cNvGrpSpPr/>
          <p:nvPr/>
        </p:nvGrpSpPr>
        <p:grpSpPr>
          <a:xfrm>
            <a:off x="7134515" y="5158620"/>
            <a:ext cx="315069" cy="308534"/>
            <a:chOff x="4187347" y="3996178"/>
            <a:chExt cx="315069" cy="308534"/>
          </a:xfrm>
        </p:grpSpPr>
        <p:sp>
          <p:nvSpPr>
            <p:cNvPr id="52" name="Google Shape;619;p45">
              <a:extLst>
                <a:ext uri="{FF2B5EF4-FFF2-40B4-BE49-F238E27FC236}">
                  <a16:creationId xmlns:a16="http://schemas.microsoft.com/office/drawing/2014/main" id="{B36125A2-B5DA-86C3-CEAF-350C39301528}"/>
                </a:ext>
              </a:extLst>
            </p:cNvPr>
            <p:cNvSpPr/>
            <p:nvPr/>
          </p:nvSpPr>
          <p:spPr>
            <a:xfrm>
              <a:off x="4399075" y="4112995"/>
              <a:ext cx="18363" cy="18762"/>
            </a:xfrm>
            <a:custGeom>
              <a:avLst/>
              <a:gdLst/>
              <a:ahLst/>
              <a:cxnLst/>
              <a:rect l="l" t="t" r="r" b="b"/>
              <a:pathLst>
                <a:path w="368" h="376" extrusionOk="0">
                  <a:moveTo>
                    <a:pt x="1" y="0"/>
                  </a:moveTo>
                  <a:lnTo>
                    <a:pt x="1" y="201"/>
                  </a:lnTo>
                  <a:cubicBezTo>
                    <a:pt x="1" y="297"/>
                    <a:pt x="71" y="375"/>
                    <a:pt x="176" y="375"/>
                  </a:cubicBezTo>
                  <a:lnTo>
                    <a:pt x="193" y="375"/>
                  </a:lnTo>
                  <a:cubicBezTo>
                    <a:pt x="298" y="375"/>
                    <a:pt x="368" y="297"/>
                    <a:pt x="368" y="201"/>
                  </a:cubicBezTo>
                  <a:lnTo>
                    <a:pt x="3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3" name="Google Shape;620;p45">
              <a:extLst>
                <a:ext uri="{FF2B5EF4-FFF2-40B4-BE49-F238E27FC236}">
                  <a16:creationId xmlns:a16="http://schemas.microsoft.com/office/drawing/2014/main" id="{36C632E9-AC64-6F6E-CFB5-4F7BD13885E5}"/>
                </a:ext>
              </a:extLst>
            </p:cNvPr>
            <p:cNvSpPr/>
            <p:nvPr/>
          </p:nvSpPr>
          <p:spPr>
            <a:xfrm>
              <a:off x="4287996" y="4112995"/>
              <a:ext cx="18363" cy="18762"/>
            </a:xfrm>
            <a:custGeom>
              <a:avLst/>
              <a:gdLst/>
              <a:ahLst/>
              <a:cxnLst/>
              <a:rect l="l" t="t" r="r" b="b"/>
              <a:pathLst>
                <a:path w="368" h="376" extrusionOk="0">
                  <a:moveTo>
                    <a:pt x="0" y="0"/>
                  </a:moveTo>
                  <a:lnTo>
                    <a:pt x="0" y="201"/>
                  </a:lnTo>
                  <a:cubicBezTo>
                    <a:pt x="0" y="297"/>
                    <a:pt x="79" y="375"/>
                    <a:pt x="175" y="375"/>
                  </a:cubicBezTo>
                  <a:lnTo>
                    <a:pt x="192" y="375"/>
                  </a:lnTo>
                  <a:cubicBezTo>
                    <a:pt x="297" y="375"/>
                    <a:pt x="367" y="297"/>
                    <a:pt x="367" y="201"/>
                  </a:cubicBezTo>
                  <a:lnTo>
                    <a:pt x="3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4" name="Google Shape;621;p45">
              <a:extLst>
                <a:ext uri="{FF2B5EF4-FFF2-40B4-BE49-F238E27FC236}">
                  <a16:creationId xmlns:a16="http://schemas.microsoft.com/office/drawing/2014/main" id="{CA12A18A-6136-A2C0-5D63-DBE8A50CC090}"/>
                </a:ext>
              </a:extLst>
            </p:cNvPr>
            <p:cNvSpPr/>
            <p:nvPr/>
          </p:nvSpPr>
          <p:spPr>
            <a:xfrm>
              <a:off x="4403466" y="4082057"/>
              <a:ext cx="9631" cy="13074"/>
            </a:xfrm>
            <a:custGeom>
              <a:avLst/>
              <a:gdLst/>
              <a:ahLst/>
              <a:cxnLst/>
              <a:rect l="l" t="t" r="r" b="b"/>
              <a:pathLst>
                <a:path w="193" h="262" extrusionOk="0">
                  <a:moveTo>
                    <a:pt x="96" y="0"/>
                  </a:moveTo>
                  <a:lnTo>
                    <a:pt x="0" y="262"/>
                  </a:lnTo>
                  <a:lnTo>
                    <a:pt x="192" y="262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5" name="Google Shape;622;p45">
              <a:extLst>
                <a:ext uri="{FF2B5EF4-FFF2-40B4-BE49-F238E27FC236}">
                  <a16:creationId xmlns:a16="http://schemas.microsoft.com/office/drawing/2014/main" id="{650DC5BA-3FBA-575E-0D87-ABFBB939DE48}"/>
                </a:ext>
              </a:extLst>
            </p:cNvPr>
            <p:cNvSpPr/>
            <p:nvPr/>
          </p:nvSpPr>
          <p:spPr>
            <a:xfrm>
              <a:off x="4292338" y="4082057"/>
              <a:ext cx="9631" cy="13074"/>
            </a:xfrm>
            <a:custGeom>
              <a:avLst/>
              <a:gdLst/>
              <a:ahLst/>
              <a:cxnLst/>
              <a:rect l="l" t="t" r="r" b="b"/>
              <a:pathLst>
                <a:path w="193" h="262" extrusionOk="0">
                  <a:moveTo>
                    <a:pt x="97" y="0"/>
                  </a:moveTo>
                  <a:lnTo>
                    <a:pt x="1" y="262"/>
                  </a:lnTo>
                  <a:lnTo>
                    <a:pt x="193" y="262"/>
                  </a:lnTo>
                  <a:lnTo>
                    <a:pt x="9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6" name="Google Shape;623;p45">
              <a:extLst>
                <a:ext uri="{FF2B5EF4-FFF2-40B4-BE49-F238E27FC236}">
                  <a16:creationId xmlns:a16="http://schemas.microsoft.com/office/drawing/2014/main" id="{BE9AC00F-56F4-D5CB-7CC7-7FF0B82681E2}"/>
                </a:ext>
              </a:extLst>
            </p:cNvPr>
            <p:cNvSpPr/>
            <p:nvPr/>
          </p:nvSpPr>
          <p:spPr>
            <a:xfrm>
              <a:off x="4187347" y="4205760"/>
              <a:ext cx="315069" cy="37126"/>
            </a:xfrm>
            <a:custGeom>
              <a:avLst/>
              <a:gdLst/>
              <a:ahLst/>
              <a:cxnLst/>
              <a:rect l="l" t="t" r="r" b="b"/>
              <a:pathLst>
                <a:path w="6314" h="744" extrusionOk="0">
                  <a:moveTo>
                    <a:pt x="0" y="1"/>
                  </a:moveTo>
                  <a:lnTo>
                    <a:pt x="0" y="560"/>
                  </a:lnTo>
                  <a:cubicBezTo>
                    <a:pt x="0" y="656"/>
                    <a:pt x="70" y="743"/>
                    <a:pt x="184" y="743"/>
                  </a:cubicBezTo>
                  <a:lnTo>
                    <a:pt x="6130" y="743"/>
                  </a:lnTo>
                  <a:cubicBezTo>
                    <a:pt x="6226" y="743"/>
                    <a:pt x="6313" y="656"/>
                    <a:pt x="6313" y="560"/>
                  </a:cubicBezTo>
                  <a:lnTo>
                    <a:pt x="63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7" name="Google Shape;624;p45">
              <a:extLst>
                <a:ext uri="{FF2B5EF4-FFF2-40B4-BE49-F238E27FC236}">
                  <a16:creationId xmlns:a16="http://schemas.microsoft.com/office/drawing/2014/main" id="{BAAA28F5-26EC-A18E-97B8-B0CED31F5D58}"/>
                </a:ext>
              </a:extLst>
            </p:cNvPr>
            <p:cNvSpPr/>
            <p:nvPr/>
          </p:nvSpPr>
          <p:spPr>
            <a:xfrm>
              <a:off x="4187347" y="3996178"/>
              <a:ext cx="315069" cy="191766"/>
            </a:xfrm>
            <a:custGeom>
              <a:avLst/>
              <a:gdLst/>
              <a:ahLst/>
              <a:cxnLst/>
              <a:rect l="l" t="t" r="r" b="b"/>
              <a:pathLst>
                <a:path w="6314" h="3843" extrusionOk="0">
                  <a:moveTo>
                    <a:pt x="3307" y="419"/>
                  </a:moveTo>
                  <a:cubicBezTo>
                    <a:pt x="3406" y="419"/>
                    <a:pt x="3502" y="504"/>
                    <a:pt x="3502" y="612"/>
                  </a:cubicBezTo>
                  <a:lnTo>
                    <a:pt x="3502" y="1014"/>
                  </a:lnTo>
                  <a:lnTo>
                    <a:pt x="4462" y="1014"/>
                  </a:lnTo>
                  <a:cubicBezTo>
                    <a:pt x="4523" y="1023"/>
                    <a:pt x="4576" y="1066"/>
                    <a:pt x="4602" y="1136"/>
                  </a:cubicBezTo>
                  <a:lnTo>
                    <a:pt x="4960" y="2097"/>
                  </a:lnTo>
                  <a:cubicBezTo>
                    <a:pt x="4969" y="2114"/>
                    <a:pt x="4969" y="2140"/>
                    <a:pt x="4969" y="2158"/>
                  </a:cubicBezTo>
                  <a:lnTo>
                    <a:pt x="4969" y="2551"/>
                  </a:lnTo>
                  <a:lnTo>
                    <a:pt x="4986" y="2551"/>
                  </a:lnTo>
                  <a:cubicBezTo>
                    <a:pt x="4986" y="2673"/>
                    <a:pt x="4951" y="2778"/>
                    <a:pt x="4873" y="2882"/>
                  </a:cubicBezTo>
                  <a:cubicBezTo>
                    <a:pt x="4763" y="3027"/>
                    <a:pt x="4602" y="3092"/>
                    <a:pt x="4441" y="3092"/>
                  </a:cubicBezTo>
                  <a:cubicBezTo>
                    <a:pt x="4155" y="3092"/>
                    <a:pt x="3868" y="2886"/>
                    <a:pt x="3868" y="2551"/>
                  </a:cubicBezTo>
                  <a:lnTo>
                    <a:pt x="3868" y="2166"/>
                  </a:lnTo>
                  <a:cubicBezTo>
                    <a:pt x="3868" y="2140"/>
                    <a:pt x="3877" y="2114"/>
                    <a:pt x="3895" y="2079"/>
                  </a:cubicBezTo>
                  <a:cubicBezTo>
                    <a:pt x="3895" y="2070"/>
                    <a:pt x="3895" y="2070"/>
                    <a:pt x="3903" y="2062"/>
                  </a:cubicBezTo>
                  <a:lnTo>
                    <a:pt x="4165" y="1381"/>
                  </a:lnTo>
                  <a:lnTo>
                    <a:pt x="3502" y="1381"/>
                  </a:lnTo>
                  <a:lnTo>
                    <a:pt x="3502" y="3083"/>
                  </a:lnTo>
                  <a:lnTo>
                    <a:pt x="3764" y="3083"/>
                  </a:lnTo>
                  <a:cubicBezTo>
                    <a:pt x="3860" y="3083"/>
                    <a:pt x="3938" y="3153"/>
                    <a:pt x="3947" y="3249"/>
                  </a:cubicBezTo>
                  <a:cubicBezTo>
                    <a:pt x="3956" y="3354"/>
                    <a:pt x="3868" y="3459"/>
                    <a:pt x="3764" y="3459"/>
                  </a:cubicBezTo>
                  <a:lnTo>
                    <a:pt x="2856" y="3459"/>
                  </a:lnTo>
                  <a:cubicBezTo>
                    <a:pt x="2760" y="3459"/>
                    <a:pt x="2681" y="3389"/>
                    <a:pt x="2672" y="3293"/>
                  </a:cubicBezTo>
                  <a:cubicBezTo>
                    <a:pt x="2655" y="3188"/>
                    <a:pt x="2751" y="3083"/>
                    <a:pt x="2856" y="3083"/>
                  </a:cubicBezTo>
                  <a:lnTo>
                    <a:pt x="3126" y="3083"/>
                  </a:lnTo>
                  <a:lnTo>
                    <a:pt x="3126" y="1381"/>
                  </a:lnTo>
                  <a:lnTo>
                    <a:pt x="2471" y="1381"/>
                  </a:lnTo>
                  <a:lnTo>
                    <a:pt x="2751" y="2097"/>
                  </a:lnTo>
                  <a:cubicBezTo>
                    <a:pt x="2760" y="2114"/>
                    <a:pt x="2760" y="2140"/>
                    <a:pt x="2760" y="2158"/>
                  </a:cubicBezTo>
                  <a:lnTo>
                    <a:pt x="2760" y="2542"/>
                  </a:lnTo>
                  <a:cubicBezTo>
                    <a:pt x="2760" y="2655"/>
                    <a:pt x="2716" y="2778"/>
                    <a:pt x="2637" y="2874"/>
                  </a:cubicBezTo>
                  <a:cubicBezTo>
                    <a:pt x="2529" y="3013"/>
                    <a:pt x="2372" y="3075"/>
                    <a:pt x="2215" y="3075"/>
                  </a:cubicBezTo>
                  <a:cubicBezTo>
                    <a:pt x="1929" y="3075"/>
                    <a:pt x="1642" y="2869"/>
                    <a:pt x="1642" y="2542"/>
                  </a:cubicBezTo>
                  <a:lnTo>
                    <a:pt x="1642" y="2158"/>
                  </a:lnTo>
                  <a:cubicBezTo>
                    <a:pt x="1642" y="2123"/>
                    <a:pt x="1659" y="2105"/>
                    <a:pt x="1668" y="2070"/>
                  </a:cubicBezTo>
                  <a:cubicBezTo>
                    <a:pt x="1668" y="2062"/>
                    <a:pt x="1668" y="2062"/>
                    <a:pt x="1677" y="2044"/>
                  </a:cubicBezTo>
                  <a:lnTo>
                    <a:pt x="2035" y="1119"/>
                  </a:lnTo>
                  <a:cubicBezTo>
                    <a:pt x="2061" y="1057"/>
                    <a:pt x="2113" y="1023"/>
                    <a:pt x="2175" y="1014"/>
                  </a:cubicBezTo>
                  <a:cubicBezTo>
                    <a:pt x="2192" y="1014"/>
                    <a:pt x="2209" y="1005"/>
                    <a:pt x="2218" y="1005"/>
                  </a:cubicBezTo>
                  <a:lnTo>
                    <a:pt x="3126" y="1005"/>
                  </a:lnTo>
                  <a:lnTo>
                    <a:pt x="3126" y="612"/>
                  </a:lnTo>
                  <a:cubicBezTo>
                    <a:pt x="3126" y="507"/>
                    <a:pt x="3196" y="438"/>
                    <a:pt x="3292" y="420"/>
                  </a:cubicBezTo>
                  <a:cubicBezTo>
                    <a:pt x="3297" y="420"/>
                    <a:pt x="3302" y="419"/>
                    <a:pt x="3307" y="419"/>
                  </a:cubicBezTo>
                  <a:close/>
                  <a:moveTo>
                    <a:pt x="184" y="1"/>
                  </a:moveTo>
                  <a:cubicBezTo>
                    <a:pt x="88" y="1"/>
                    <a:pt x="0" y="88"/>
                    <a:pt x="0" y="184"/>
                  </a:cubicBezTo>
                  <a:lnTo>
                    <a:pt x="0" y="3843"/>
                  </a:lnTo>
                  <a:lnTo>
                    <a:pt x="6313" y="3843"/>
                  </a:lnTo>
                  <a:lnTo>
                    <a:pt x="6313" y="176"/>
                  </a:lnTo>
                  <a:cubicBezTo>
                    <a:pt x="6313" y="71"/>
                    <a:pt x="6226" y="1"/>
                    <a:pt x="61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8" name="Google Shape;625;p45">
              <a:extLst>
                <a:ext uri="{FF2B5EF4-FFF2-40B4-BE49-F238E27FC236}">
                  <a16:creationId xmlns:a16="http://schemas.microsoft.com/office/drawing/2014/main" id="{34C69B73-F80C-E3D8-FE9E-70ED51B40441}"/>
                </a:ext>
              </a:extLst>
            </p:cNvPr>
            <p:cNvSpPr/>
            <p:nvPr/>
          </p:nvSpPr>
          <p:spPr>
            <a:xfrm>
              <a:off x="4261399" y="4261100"/>
              <a:ext cx="166915" cy="43613"/>
            </a:xfrm>
            <a:custGeom>
              <a:avLst/>
              <a:gdLst/>
              <a:ahLst/>
              <a:cxnLst/>
              <a:rect l="l" t="t" r="r" b="b"/>
              <a:pathLst>
                <a:path w="3345" h="874" extrusionOk="0">
                  <a:moveTo>
                    <a:pt x="551" y="1"/>
                  </a:moveTo>
                  <a:lnTo>
                    <a:pt x="551" y="507"/>
                  </a:lnTo>
                  <a:lnTo>
                    <a:pt x="193" y="507"/>
                  </a:lnTo>
                  <a:cubicBezTo>
                    <a:pt x="97" y="507"/>
                    <a:pt x="18" y="568"/>
                    <a:pt x="9" y="673"/>
                  </a:cubicBezTo>
                  <a:cubicBezTo>
                    <a:pt x="1" y="778"/>
                    <a:pt x="88" y="874"/>
                    <a:pt x="193" y="874"/>
                  </a:cubicBezTo>
                  <a:lnTo>
                    <a:pt x="3153" y="874"/>
                  </a:lnTo>
                  <a:cubicBezTo>
                    <a:pt x="3249" y="874"/>
                    <a:pt x="3327" y="813"/>
                    <a:pt x="3336" y="717"/>
                  </a:cubicBezTo>
                  <a:cubicBezTo>
                    <a:pt x="3345" y="603"/>
                    <a:pt x="3258" y="507"/>
                    <a:pt x="3153" y="507"/>
                  </a:cubicBezTo>
                  <a:lnTo>
                    <a:pt x="2777" y="507"/>
                  </a:lnTo>
                  <a:lnTo>
                    <a:pt x="27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pic>
        <p:nvPicPr>
          <p:cNvPr id="2" name="Picture 2" descr="Layanan - KPPN Kualatungkal| Kantor Pelayanan Perbendaharaan Negara - DJPb  Kemenkeu RI Perbendaharaan Kementerian Keuangan RI">
            <a:extLst>
              <a:ext uri="{FF2B5EF4-FFF2-40B4-BE49-F238E27FC236}">
                <a16:creationId xmlns:a16="http://schemas.microsoft.com/office/drawing/2014/main" id="{9B451666-3621-DFF0-7B6F-DE6AA37E0C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51"/>
          <a:stretch/>
        </p:blipFill>
        <p:spPr bwMode="auto">
          <a:xfrm>
            <a:off x="10810502" y="6254666"/>
            <a:ext cx="1051149" cy="51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F68BDB-9402-8AF9-6334-A6FBB08C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7A9826-C85A-43BB-9A4D-2C608D6018A0}" type="slidenum">
              <a:rPr kumimoji="0" lang="en-US" sz="1600" b="1" i="1" u="none" strike="noStrike" kern="1200" cap="none" spc="0" normalizeH="0" baseline="0" noProof="0" smtClean="0">
                <a:ln>
                  <a:noFill/>
                </a:ln>
                <a:solidFill>
                  <a:srgbClr val="005B8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600" b="1" i="1" u="none" strike="noStrike" kern="1200" cap="none" spc="0" normalizeH="0" baseline="0" noProof="0">
              <a:ln>
                <a:noFill/>
              </a:ln>
              <a:solidFill>
                <a:srgbClr val="005B8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47C11C-C09C-C617-E368-0078E8633B67}"/>
              </a:ext>
            </a:extLst>
          </p:cNvPr>
          <p:cNvSpPr/>
          <p:nvPr/>
        </p:nvSpPr>
        <p:spPr>
          <a:xfrm>
            <a:off x="869520" y="1348699"/>
            <a:ext cx="5343681" cy="1183170"/>
          </a:xfrm>
          <a:prstGeom prst="rect">
            <a:avLst/>
          </a:prstGeom>
          <a:noFill/>
          <a:ln w="1905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416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Rectangle 460">
            <a:extLst>
              <a:ext uri="{FF2B5EF4-FFF2-40B4-BE49-F238E27FC236}">
                <a16:creationId xmlns:a16="http://schemas.microsoft.com/office/drawing/2014/main" id="{C445FCD5-977B-AFE9-57A6-8CC5D67DB9B2}"/>
              </a:ext>
            </a:extLst>
          </p:cNvPr>
          <p:cNvSpPr/>
          <p:nvPr/>
        </p:nvSpPr>
        <p:spPr>
          <a:xfrm>
            <a:off x="5509031" y="931363"/>
            <a:ext cx="6412557" cy="392858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F328A2F9-FA25-C8F6-B4CF-5349D8D2BE59}"/>
              </a:ext>
            </a:extLst>
          </p:cNvPr>
          <p:cNvSpPr txBox="1">
            <a:spLocks/>
          </p:cNvSpPr>
          <p:nvPr/>
        </p:nvSpPr>
        <p:spPr>
          <a:xfrm>
            <a:off x="890623" y="251519"/>
            <a:ext cx="10515600" cy="7716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4870"/>
                </a:solidFill>
                <a:latin typeface="+mn-lt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4870"/>
                </a:solidFill>
                <a:effectLst/>
                <a:uLnTx/>
                <a:uFillTx/>
                <a:latin typeface="Fira Sans Extra Condensed" panose="020B0503050000020004" pitchFamily="34" charset="0"/>
                <a:ea typeface="Roboto" panose="02000000000000000000" pitchFamily="2" charset="0"/>
                <a:cs typeface="+mj-cs"/>
              </a:rPr>
              <a:t>SISTEMATIKA PENGATURAN</a:t>
            </a:r>
            <a:endParaRPr kumimoji="0" lang="id-ID" sz="3200" b="1" i="0" u="none" strike="noStrike" kern="1200" cap="none" spc="0" normalizeH="0" baseline="0" noProof="0" dirty="0">
              <a:ln>
                <a:noFill/>
              </a:ln>
              <a:solidFill>
                <a:srgbClr val="004870"/>
              </a:solidFill>
              <a:effectLst/>
              <a:uLnTx/>
              <a:uFillTx/>
              <a:latin typeface="Fira Sans Extra Condensed" panose="020B0503050000020004" pitchFamily="34" charset="0"/>
              <a:ea typeface="Roboto" panose="02000000000000000000" pitchFamily="2" charset="0"/>
              <a:cs typeface="+mj-cs"/>
            </a:endParaRPr>
          </a:p>
        </p:txBody>
      </p:sp>
      <p:sp>
        <p:nvSpPr>
          <p:cNvPr id="27" name="Google Shape;1334;p45">
            <a:extLst>
              <a:ext uri="{FF2B5EF4-FFF2-40B4-BE49-F238E27FC236}">
                <a16:creationId xmlns:a16="http://schemas.microsoft.com/office/drawing/2014/main" id="{C8876711-2B6E-9FAB-CCBA-193D8AFD579B}"/>
              </a:ext>
            </a:extLst>
          </p:cNvPr>
          <p:cNvSpPr/>
          <p:nvPr/>
        </p:nvSpPr>
        <p:spPr>
          <a:xfrm>
            <a:off x="3050333" y="1575959"/>
            <a:ext cx="4083424" cy="31096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I	Pendahuluan Kebijakan Akuntansi;</a:t>
            </a:r>
          </a:p>
        </p:txBody>
      </p:sp>
      <p:sp>
        <p:nvSpPr>
          <p:cNvPr id="28" name="Google Shape;1334;p45">
            <a:extLst>
              <a:ext uri="{FF2B5EF4-FFF2-40B4-BE49-F238E27FC236}">
                <a16:creationId xmlns:a16="http://schemas.microsoft.com/office/drawing/2014/main" id="{2B0305DA-39BE-BA54-0572-D579DDDAE201}"/>
              </a:ext>
            </a:extLst>
          </p:cNvPr>
          <p:cNvSpPr/>
          <p:nvPr/>
        </p:nvSpPr>
        <p:spPr>
          <a:xfrm>
            <a:off x="3050333" y="2059350"/>
            <a:ext cx="4083424" cy="31096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II	Kebijakan Pelaporan Keuangan;</a:t>
            </a:r>
          </a:p>
        </p:txBody>
      </p:sp>
      <p:sp>
        <p:nvSpPr>
          <p:cNvPr id="29" name="Google Shape;1334;p45">
            <a:extLst>
              <a:ext uri="{FF2B5EF4-FFF2-40B4-BE49-F238E27FC236}">
                <a16:creationId xmlns:a16="http://schemas.microsoft.com/office/drawing/2014/main" id="{18C026F8-7A24-29BF-21DC-BDA87C4A19CE}"/>
              </a:ext>
            </a:extLst>
          </p:cNvPr>
          <p:cNvSpPr/>
          <p:nvPr/>
        </p:nvSpPr>
        <p:spPr>
          <a:xfrm>
            <a:off x="3050333" y="2547080"/>
            <a:ext cx="4083424" cy="45048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III	Kebijakan Akuntansi Kas dan setara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	Kas;</a:t>
            </a:r>
          </a:p>
        </p:txBody>
      </p:sp>
      <p:sp>
        <p:nvSpPr>
          <p:cNvPr id="30" name="Google Shape;1334;p45">
            <a:extLst>
              <a:ext uri="{FF2B5EF4-FFF2-40B4-BE49-F238E27FC236}">
                <a16:creationId xmlns:a16="http://schemas.microsoft.com/office/drawing/2014/main" id="{478BF125-2EB1-A634-3B6A-3A0523E0F15A}"/>
              </a:ext>
            </a:extLst>
          </p:cNvPr>
          <p:cNvSpPr/>
          <p:nvPr/>
        </p:nvSpPr>
        <p:spPr>
          <a:xfrm>
            <a:off x="3050333" y="3174329"/>
            <a:ext cx="4083424" cy="31096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IV	Kebijakan Akuntansi Investasi;</a:t>
            </a:r>
          </a:p>
        </p:txBody>
      </p:sp>
      <p:sp>
        <p:nvSpPr>
          <p:cNvPr id="31" name="Google Shape;1334;p45">
            <a:extLst>
              <a:ext uri="{FF2B5EF4-FFF2-40B4-BE49-F238E27FC236}">
                <a16:creationId xmlns:a16="http://schemas.microsoft.com/office/drawing/2014/main" id="{7CB17999-84DE-45CD-CADC-76BA308969D6}"/>
              </a:ext>
            </a:extLst>
          </p:cNvPr>
          <p:cNvSpPr/>
          <p:nvPr/>
        </p:nvSpPr>
        <p:spPr>
          <a:xfrm>
            <a:off x="3050333" y="3662059"/>
            <a:ext cx="4083424" cy="31096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V	Kebijakan Akuntansi Piutang;</a:t>
            </a:r>
          </a:p>
        </p:txBody>
      </p:sp>
      <p:sp>
        <p:nvSpPr>
          <p:cNvPr id="32" name="Google Shape;1334;p45">
            <a:extLst>
              <a:ext uri="{FF2B5EF4-FFF2-40B4-BE49-F238E27FC236}">
                <a16:creationId xmlns:a16="http://schemas.microsoft.com/office/drawing/2014/main" id="{FA0AD16F-B298-E4E4-F2C3-C479445583CE}"/>
              </a:ext>
            </a:extLst>
          </p:cNvPr>
          <p:cNvSpPr/>
          <p:nvPr/>
        </p:nvSpPr>
        <p:spPr>
          <a:xfrm>
            <a:off x="3050333" y="4149789"/>
            <a:ext cx="4083424" cy="310964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VI	Kebijakan Akuntansi Persediaan;</a:t>
            </a:r>
          </a:p>
        </p:txBody>
      </p:sp>
      <p:sp>
        <p:nvSpPr>
          <p:cNvPr id="33" name="Google Shape;1334;p45">
            <a:extLst>
              <a:ext uri="{FF2B5EF4-FFF2-40B4-BE49-F238E27FC236}">
                <a16:creationId xmlns:a16="http://schemas.microsoft.com/office/drawing/2014/main" id="{FA300441-4F5F-23F0-C973-B97AB985F8C8}"/>
              </a:ext>
            </a:extLst>
          </p:cNvPr>
          <p:cNvSpPr/>
          <p:nvPr/>
        </p:nvSpPr>
        <p:spPr>
          <a:xfrm>
            <a:off x="3050333" y="5125249"/>
            <a:ext cx="4083424" cy="466164"/>
          </a:xfrm>
          <a:prstGeom prst="rect">
            <a:avLst/>
          </a:prstGeom>
          <a:solidFill>
            <a:srgbClr val="FC98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VIII	Kebijakan Akuntansi Perjanjian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	Konsesi Jasa;</a:t>
            </a:r>
          </a:p>
        </p:txBody>
      </p:sp>
      <p:sp>
        <p:nvSpPr>
          <p:cNvPr id="34" name="Google Shape;1334;p45">
            <a:extLst>
              <a:ext uri="{FF2B5EF4-FFF2-40B4-BE49-F238E27FC236}">
                <a16:creationId xmlns:a16="http://schemas.microsoft.com/office/drawing/2014/main" id="{06CFC4FE-1516-9878-5A0D-0EFDD2B6106F}"/>
              </a:ext>
            </a:extLst>
          </p:cNvPr>
          <p:cNvSpPr/>
          <p:nvPr/>
        </p:nvSpPr>
        <p:spPr>
          <a:xfrm>
            <a:off x="3050333" y="5768179"/>
            <a:ext cx="4083424" cy="466163"/>
          </a:xfrm>
          <a:prstGeom prst="rect">
            <a:avLst/>
          </a:prstGeom>
          <a:solidFill>
            <a:srgbClr val="FC98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IX	Kebijakan Akuntansi Persediaan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	Properti Investasi;</a:t>
            </a:r>
          </a:p>
        </p:txBody>
      </p:sp>
      <p:sp>
        <p:nvSpPr>
          <p:cNvPr id="37" name="Google Shape;1334;p45">
            <a:extLst>
              <a:ext uri="{FF2B5EF4-FFF2-40B4-BE49-F238E27FC236}">
                <a16:creationId xmlns:a16="http://schemas.microsoft.com/office/drawing/2014/main" id="{CEAA234B-94F8-8179-DA25-186E089D6BA1}"/>
              </a:ext>
            </a:extLst>
          </p:cNvPr>
          <p:cNvSpPr/>
          <p:nvPr/>
        </p:nvSpPr>
        <p:spPr>
          <a:xfrm>
            <a:off x="7564738" y="1573507"/>
            <a:ext cx="4083424" cy="31096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X	Kebijakan Akuntansi Aset Lainnya ;</a:t>
            </a:r>
          </a:p>
        </p:txBody>
      </p:sp>
      <p:sp>
        <p:nvSpPr>
          <p:cNvPr id="38" name="Google Shape;1334;p45">
            <a:extLst>
              <a:ext uri="{FF2B5EF4-FFF2-40B4-BE49-F238E27FC236}">
                <a16:creationId xmlns:a16="http://schemas.microsoft.com/office/drawing/2014/main" id="{4C712A20-2EDF-7326-CBE2-0A3D40DCFD98}"/>
              </a:ext>
            </a:extLst>
          </p:cNvPr>
          <p:cNvSpPr/>
          <p:nvPr/>
        </p:nvSpPr>
        <p:spPr>
          <a:xfrm>
            <a:off x="7564738" y="1960313"/>
            <a:ext cx="4083424" cy="45048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XI	Kebijakan Akuntansi Kewajiban 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	Utang;</a:t>
            </a:r>
          </a:p>
        </p:txBody>
      </p:sp>
      <p:sp>
        <p:nvSpPr>
          <p:cNvPr id="39" name="Google Shape;1334;p45">
            <a:extLst>
              <a:ext uri="{FF2B5EF4-FFF2-40B4-BE49-F238E27FC236}">
                <a16:creationId xmlns:a16="http://schemas.microsoft.com/office/drawing/2014/main" id="{583D7771-951E-7D02-EBAE-E4AAE4FF70AE}"/>
              </a:ext>
            </a:extLst>
          </p:cNvPr>
          <p:cNvSpPr/>
          <p:nvPr/>
        </p:nvSpPr>
        <p:spPr>
          <a:xfrm>
            <a:off x="7564738" y="2485884"/>
            <a:ext cx="4083424" cy="31096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XII	Kebijakan Akuntansi Ekuitas</a:t>
            </a:r>
          </a:p>
        </p:txBody>
      </p:sp>
      <p:sp>
        <p:nvSpPr>
          <p:cNvPr id="40" name="Google Shape;1334;p45">
            <a:extLst>
              <a:ext uri="{FF2B5EF4-FFF2-40B4-BE49-F238E27FC236}">
                <a16:creationId xmlns:a16="http://schemas.microsoft.com/office/drawing/2014/main" id="{CD99FB97-D4E8-A25D-86BB-EF8A7F313F99}"/>
              </a:ext>
            </a:extLst>
          </p:cNvPr>
          <p:cNvSpPr/>
          <p:nvPr/>
        </p:nvSpPr>
        <p:spPr>
          <a:xfrm>
            <a:off x="7564738" y="2873313"/>
            <a:ext cx="4083424" cy="31096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XIII	Kebijakan Akuntansi Pendapatan;</a:t>
            </a:r>
          </a:p>
        </p:txBody>
      </p:sp>
      <p:sp>
        <p:nvSpPr>
          <p:cNvPr id="41" name="Google Shape;1334;p45">
            <a:extLst>
              <a:ext uri="{FF2B5EF4-FFF2-40B4-BE49-F238E27FC236}">
                <a16:creationId xmlns:a16="http://schemas.microsoft.com/office/drawing/2014/main" id="{38EF205C-13EF-793C-1FFC-AD561E131876}"/>
              </a:ext>
            </a:extLst>
          </p:cNvPr>
          <p:cNvSpPr/>
          <p:nvPr/>
        </p:nvSpPr>
        <p:spPr>
          <a:xfrm>
            <a:off x="7564738" y="3303756"/>
            <a:ext cx="4083424" cy="457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XIV	Kebijakan Akuntansi Beban, Belanja,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	dan Transfer;</a:t>
            </a:r>
          </a:p>
        </p:txBody>
      </p:sp>
      <p:sp>
        <p:nvSpPr>
          <p:cNvPr id="42" name="Google Shape;1334;p45">
            <a:extLst>
              <a:ext uri="{FF2B5EF4-FFF2-40B4-BE49-F238E27FC236}">
                <a16:creationId xmlns:a16="http://schemas.microsoft.com/office/drawing/2014/main" id="{BB2EE042-E668-D9AC-C1FF-CBBE9D276F37}"/>
              </a:ext>
            </a:extLst>
          </p:cNvPr>
          <p:cNvSpPr/>
          <p:nvPr/>
        </p:nvSpPr>
        <p:spPr>
          <a:xfrm>
            <a:off x="7564738" y="3893146"/>
            <a:ext cx="4083424" cy="4570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XV	Kebijakan Akuntansi SILPA/ SIKPA/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	SAL;</a:t>
            </a:r>
          </a:p>
        </p:txBody>
      </p:sp>
      <p:sp>
        <p:nvSpPr>
          <p:cNvPr id="43" name="Google Shape;1334;p45">
            <a:extLst>
              <a:ext uri="{FF2B5EF4-FFF2-40B4-BE49-F238E27FC236}">
                <a16:creationId xmlns:a16="http://schemas.microsoft.com/office/drawing/2014/main" id="{DAC26D91-FF00-E3E5-CB88-C9D6C353F5B2}"/>
              </a:ext>
            </a:extLst>
          </p:cNvPr>
          <p:cNvSpPr/>
          <p:nvPr/>
        </p:nvSpPr>
        <p:spPr>
          <a:xfrm>
            <a:off x="7564738" y="5063161"/>
            <a:ext cx="4083424" cy="36508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XVII	Kebijakan Akuntansi Transitoris;</a:t>
            </a:r>
          </a:p>
        </p:txBody>
      </p:sp>
      <p:sp>
        <p:nvSpPr>
          <p:cNvPr id="44" name="Google Shape;1334;p45">
            <a:extLst>
              <a:ext uri="{FF2B5EF4-FFF2-40B4-BE49-F238E27FC236}">
                <a16:creationId xmlns:a16="http://schemas.microsoft.com/office/drawing/2014/main" id="{548D1E2E-8C01-AA32-81CE-BB7C7709FDAE}"/>
              </a:ext>
            </a:extLst>
          </p:cNvPr>
          <p:cNvSpPr/>
          <p:nvPr/>
        </p:nvSpPr>
        <p:spPr>
          <a:xfrm>
            <a:off x="7564738" y="5527884"/>
            <a:ext cx="4083424" cy="70400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XVIII	Kebijakan Akuntansi Pelaporan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	Penanganan Dampak Pandemi 	Covid-19 dan Program PEN;</a:t>
            </a:r>
          </a:p>
        </p:txBody>
      </p:sp>
      <p:sp>
        <p:nvSpPr>
          <p:cNvPr id="45" name="Google Shape;1334;p45">
            <a:extLst>
              <a:ext uri="{FF2B5EF4-FFF2-40B4-BE49-F238E27FC236}">
                <a16:creationId xmlns:a16="http://schemas.microsoft.com/office/drawing/2014/main" id="{15CD72D7-8E03-B258-496B-AA9BDA6651F3}"/>
              </a:ext>
            </a:extLst>
          </p:cNvPr>
          <p:cNvSpPr/>
          <p:nvPr/>
        </p:nvSpPr>
        <p:spPr>
          <a:xfrm>
            <a:off x="3050333" y="4637519"/>
            <a:ext cx="4083424" cy="31096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VII	Kebijakan Akuntansi Aset Tetap;</a:t>
            </a:r>
          </a:p>
        </p:txBody>
      </p:sp>
      <p:sp>
        <p:nvSpPr>
          <p:cNvPr id="49" name="Google Shape;854;p34">
            <a:extLst>
              <a:ext uri="{FF2B5EF4-FFF2-40B4-BE49-F238E27FC236}">
                <a16:creationId xmlns:a16="http://schemas.microsoft.com/office/drawing/2014/main" id="{A9A86392-5BD7-6086-5B56-9183829187F3}"/>
              </a:ext>
            </a:extLst>
          </p:cNvPr>
          <p:cNvSpPr txBox="1"/>
          <p:nvPr/>
        </p:nvSpPr>
        <p:spPr>
          <a:xfrm>
            <a:off x="429413" y="4742910"/>
            <a:ext cx="12240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" panose="02000000000000000000" pitchFamily="2" charset="0"/>
                <a:cs typeface="Roboto" panose="02000000000000000000" pitchFamily="2" charset="0"/>
                <a:sym typeface="Fira Sans Extra Condensed"/>
              </a:rPr>
              <a:t>Tetap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Roboto" panose="02000000000000000000" pitchFamily="2" charset="0"/>
              <a:cs typeface="Roboto" panose="02000000000000000000" pitchFamily="2" charset="0"/>
              <a:sym typeface="Fira Sans Extra Condensed"/>
            </a:endParaRPr>
          </a:p>
        </p:txBody>
      </p:sp>
      <p:sp>
        <p:nvSpPr>
          <p:cNvPr id="50" name="Google Shape;855;p34">
            <a:extLst>
              <a:ext uri="{FF2B5EF4-FFF2-40B4-BE49-F238E27FC236}">
                <a16:creationId xmlns:a16="http://schemas.microsoft.com/office/drawing/2014/main" id="{EE6C6FBD-0C4E-B324-04CE-464DF3D31378}"/>
              </a:ext>
            </a:extLst>
          </p:cNvPr>
          <p:cNvSpPr/>
          <p:nvPr/>
        </p:nvSpPr>
        <p:spPr>
          <a:xfrm>
            <a:off x="270413" y="4832310"/>
            <a:ext cx="159000" cy="159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1" name="Google Shape;856;p34">
            <a:extLst>
              <a:ext uri="{FF2B5EF4-FFF2-40B4-BE49-F238E27FC236}">
                <a16:creationId xmlns:a16="http://schemas.microsoft.com/office/drawing/2014/main" id="{C19D8F1F-763C-0D42-A128-ECC25EFFB581}"/>
              </a:ext>
            </a:extLst>
          </p:cNvPr>
          <p:cNvSpPr txBox="1"/>
          <p:nvPr/>
        </p:nvSpPr>
        <p:spPr>
          <a:xfrm>
            <a:off x="429413" y="5085576"/>
            <a:ext cx="12240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" panose="02000000000000000000" pitchFamily="2" charset="0"/>
                <a:cs typeface="Roboto" panose="02000000000000000000" pitchFamily="2" charset="0"/>
                <a:sym typeface="Fira Sans Extra Condensed"/>
              </a:rPr>
              <a:t>Berubah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Roboto" panose="02000000000000000000" pitchFamily="2" charset="0"/>
              <a:cs typeface="Roboto" panose="02000000000000000000" pitchFamily="2" charset="0"/>
              <a:sym typeface="Fira Sans Extra Condensed"/>
            </a:endParaRPr>
          </a:p>
        </p:txBody>
      </p:sp>
      <p:sp>
        <p:nvSpPr>
          <p:cNvPr id="52" name="Google Shape;857;p34">
            <a:extLst>
              <a:ext uri="{FF2B5EF4-FFF2-40B4-BE49-F238E27FC236}">
                <a16:creationId xmlns:a16="http://schemas.microsoft.com/office/drawing/2014/main" id="{2805F7B3-9182-2C84-5BB2-F09362034CB9}"/>
              </a:ext>
            </a:extLst>
          </p:cNvPr>
          <p:cNvSpPr/>
          <p:nvPr/>
        </p:nvSpPr>
        <p:spPr>
          <a:xfrm>
            <a:off x="270413" y="5174976"/>
            <a:ext cx="159000" cy="159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3" name="Google Shape;858;p34">
            <a:extLst>
              <a:ext uri="{FF2B5EF4-FFF2-40B4-BE49-F238E27FC236}">
                <a16:creationId xmlns:a16="http://schemas.microsoft.com/office/drawing/2014/main" id="{8C0229DE-2631-D34A-A5B0-441E6D23AC4C}"/>
              </a:ext>
            </a:extLst>
          </p:cNvPr>
          <p:cNvSpPr txBox="1"/>
          <p:nvPr/>
        </p:nvSpPr>
        <p:spPr>
          <a:xfrm>
            <a:off x="429413" y="5428242"/>
            <a:ext cx="1224000" cy="3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" panose="02000000000000000000" pitchFamily="2" charset="0"/>
                <a:cs typeface="Roboto" panose="02000000000000000000" pitchFamily="2" charset="0"/>
                <a:sym typeface="Fira Sans Extra Condensed"/>
              </a:rPr>
              <a:t>Baru</a:t>
            </a:r>
            <a:endParaRPr kumimoji="0" sz="1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Roboto" panose="02000000000000000000" pitchFamily="2" charset="0"/>
              <a:cs typeface="Roboto" panose="02000000000000000000" pitchFamily="2" charset="0"/>
              <a:sym typeface="Fira Sans Extra Condensed"/>
            </a:endParaRPr>
          </a:p>
        </p:txBody>
      </p:sp>
      <p:sp>
        <p:nvSpPr>
          <p:cNvPr id="54" name="Google Shape;859;p34">
            <a:extLst>
              <a:ext uri="{FF2B5EF4-FFF2-40B4-BE49-F238E27FC236}">
                <a16:creationId xmlns:a16="http://schemas.microsoft.com/office/drawing/2014/main" id="{9C6360A3-B85C-9F93-C1EA-10E2E575E037}"/>
              </a:ext>
            </a:extLst>
          </p:cNvPr>
          <p:cNvSpPr/>
          <p:nvPr/>
        </p:nvSpPr>
        <p:spPr>
          <a:xfrm>
            <a:off x="270413" y="5507769"/>
            <a:ext cx="159000" cy="159000"/>
          </a:xfrm>
          <a:prstGeom prst="rect">
            <a:avLst/>
          </a:prstGeom>
          <a:solidFill>
            <a:srgbClr val="FC980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A8BC9BD-F78C-AD94-CA55-5A04E1A400A0}"/>
              </a:ext>
            </a:extLst>
          </p:cNvPr>
          <p:cNvCxnSpPr/>
          <p:nvPr/>
        </p:nvCxnSpPr>
        <p:spPr>
          <a:xfrm flipH="1">
            <a:off x="7349247" y="1547162"/>
            <a:ext cx="0" cy="478800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48" name="Google Shape;2431;p44">
            <a:extLst>
              <a:ext uri="{FF2B5EF4-FFF2-40B4-BE49-F238E27FC236}">
                <a16:creationId xmlns:a16="http://schemas.microsoft.com/office/drawing/2014/main" id="{FC912F7E-8D83-70E6-B531-63F25C0E41E3}"/>
              </a:ext>
            </a:extLst>
          </p:cNvPr>
          <p:cNvGrpSpPr/>
          <p:nvPr/>
        </p:nvGrpSpPr>
        <p:grpSpPr>
          <a:xfrm>
            <a:off x="208894" y="2579386"/>
            <a:ext cx="1961451" cy="925238"/>
            <a:chOff x="4738096" y="1165382"/>
            <a:chExt cx="1961451" cy="925238"/>
          </a:xfrm>
        </p:grpSpPr>
        <p:sp>
          <p:nvSpPr>
            <p:cNvPr id="449" name="Google Shape;2432;p44">
              <a:extLst>
                <a:ext uri="{FF2B5EF4-FFF2-40B4-BE49-F238E27FC236}">
                  <a16:creationId xmlns:a16="http://schemas.microsoft.com/office/drawing/2014/main" id="{07685E5B-B78A-A5B9-2173-20D88BA48F31}"/>
                </a:ext>
              </a:extLst>
            </p:cNvPr>
            <p:cNvSpPr txBox="1"/>
            <p:nvPr/>
          </p:nvSpPr>
          <p:spPr>
            <a:xfrm flipH="1">
              <a:off x="4745035" y="1165382"/>
              <a:ext cx="1954512" cy="3141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D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Pengaturan</a:t>
              </a:r>
              <a:r>
                <a:rPr kumimoji="0" lang="en-ID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 </a:t>
              </a:r>
              <a:r>
                <a:rPr kumimoji="0" lang="en-ID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kebijakan</a:t>
              </a:r>
              <a:r>
                <a:rPr kumimoji="0" lang="en-ID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 </a:t>
              </a:r>
              <a:r>
                <a:rPr kumimoji="0" lang="en-ID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akuntansi</a:t>
              </a:r>
              <a:r>
                <a:rPr kumimoji="0" lang="en-ID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, </a:t>
              </a:r>
              <a:r>
                <a:rPr kumimoji="0" lang="en-ID" sz="14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memuat</a:t>
              </a:r>
              <a:r>
                <a:rPr kumimoji="0" lang="en-ID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 :</a:t>
              </a:r>
              <a:endPara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" panose="02000000000000000000" pitchFamily="2" charset="0"/>
                <a:cs typeface="Roboto" panose="02000000000000000000" pitchFamily="2" charset="0"/>
                <a:sym typeface="Fira Sans Extra Condensed"/>
              </a:endParaRPr>
            </a:p>
          </p:txBody>
        </p:sp>
        <p:sp>
          <p:nvSpPr>
            <p:cNvPr id="450" name="Google Shape;2433;p44">
              <a:extLst>
                <a:ext uri="{FF2B5EF4-FFF2-40B4-BE49-F238E27FC236}">
                  <a16:creationId xmlns:a16="http://schemas.microsoft.com/office/drawing/2014/main" id="{996216CF-814E-F296-8801-D9FAB2709E9E}"/>
                </a:ext>
              </a:extLst>
            </p:cNvPr>
            <p:cNvSpPr txBox="1"/>
            <p:nvPr/>
          </p:nvSpPr>
          <p:spPr>
            <a:xfrm flipH="1">
              <a:off x="4738096" y="1539220"/>
              <a:ext cx="1770529" cy="55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ID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Definisi</a:t>
              </a:r>
              <a:endPara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ID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Jenis-Jenis</a:t>
              </a:r>
              <a:endPara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ID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Pengakuan</a:t>
              </a:r>
              <a:endPara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ID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Pengukuran</a:t>
              </a:r>
              <a:endPara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ID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Penyajian</a:t>
              </a:r>
              <a:endPara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ID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Pengungkapan</a:t>
              </a:r>
              <a:endPara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ID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Perlakuan</a:t>
              </a:r>
              <a:r>
                <a:rPr kumimoji="0" lang="en-ID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  <a:r>
                <a:rPr kumimoji="0" lang="en-ID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Khusus</a:t>
              </a:r>
              <a:r>
                <a:rPr kumimoji="0" lang="en-ID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 </a:t>
              </a:r>
            </a:p>
          </p:txBody>
        </p:sp>
      </p:grpSp>
      <p:sp>
        <p:nvSpPr>
          <p:cNvPr id="452" name="Rectangle: Rounded Corners 451">
            <a:extLst>
              <a:ext uri="{FF2B5EF4-FFF2-40B4-BE49-F238E27FC236}">
                <a16:creationId xmlns:a16="http://schemas.microsoft.com/office/drawing/2014/main" id="{22CD097A-2E4E-192E-1132-F9D31A077A3E}"/>
              </a:ext>
            </a:extLst>
          </p:cNvPr>
          <p:cNvSpPr/>
          <p:nvPr/>
        </p:nvSpPr>
        <p:spPr>
          <a:xfrm>
            <a:off x="170076" y="2384406"/>
            <a:ext cx="1848166" cy="2354619"/>
          </a:xfrm>
          <a:prstGeom prst="roundRect">
            <a:avLst>
              <a:gd name="adj" fmla="val 6990"/>
            </a:avLst>
          </a:prstGeom>
          <a:noFill/>
          <a:ln w="28575">
            <a:solidFill>
              <a:srgbClr val="005FA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32000" rIns="72000" bIns="3600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3" name="Rectangle: Rounded Corners 452">
            <a:extLst>
              <a:ext uri="{FF2B5EF4-FFF2-40B4-BE49-F238E27FC236}">
                <a16:creationId xmlns:a16="http://schemas.microsoft.com/office/drawing/2014/main" id="{086DF012-8DE4-9ABE-ED23-6E9E54A9130C}"/>
              </a:ext>
            </a:extLst>
          </p:cNvPr>
          <p:cNvSpPr/>
          <p:nvPr/>
        </p:nvSpPr>
        <p:spPr>
          <a:xfrm>
            <a:off x="2746539" y="1443700"/>
            <a:ext cx="9175048" cy="4956240"/>
          </a:xfrm>
          <a:prstGeom prst="roundRect">
            <a:avLst>
              <a:gd name="adj" fmla="val 6990"/>
            </a:avLst>
          </a:prstGeom>
          <a:noFill/>
          <a:ln w="28575">
            <a:solidFill>
              <a:srgbClr val="005FAC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432000" rIns="72000" bIns="36000" rtlCol="0" anchor="t"/>
          <a:lstStyle/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4" name="Arrow: Right 453">
            <a:extLst>
              <a:ext uri="{FF2B5EF4-FFF2-40B4-BE49-F238E27FC236}">
                <a16:creationId xmlns:a16="http://schemas.microsoft.com/office/drawing/2014/main" id="{FC41080E-ECB4-6AB7-147E-A4E10E964B35}"/>
              </a:ext>
            </a:extLst>
          </p:cNvPr>
          <p:cNvSpPr/>
          <p:nvPr/>
        </p:nvSpPr>
        <p:spPr>
          <a:xfrm>
            <a:off x="2170345" y="3098007"/>
            <a:ext cx="475129" cy="10493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55" name="Google Shape;834;p25">
            <a:extLst>
              <a:ext uri="{FF2B5EF4-FFF2-40B4-BE49-F238E27FC236}">
                <a16:creationId xmlns:a16="http://schemas.microsoft.com/office/drawing/2014/main" id="{5D0D04E8-3380-65C8-FC62-9F3AD6127703}"/>
              </a:ext>
            </a:extLst>
          </p:cNvPr>
          <p:cNvGrpSpPr/>
          <p:nvPr/>
        </p:nvGrpSpPr>
        <p:grpSpPr>
          <a:xfrm>
            <a:off x="208894" y="944174"/>
            <a:ext cx="11712694" cy="359588"/>
            <a:chOff x="617312" y="1192515"/>
            <a:chExt cx="3307543" cy="433200"/>
          </a:xfrm>
        </p:grpSpPr>
        <p:sp>
          <p:nvSpPr>
            <p:cNvPr id="456" name="Google Shape;837;p25">
              <a:extLst>
                <a:ext uri="{FF2B5EF4-FFF2-40B4-BE49-F238E27FC236}">
                  <a16:creationId xmlns:a16="http://schemas.microsoft.com/office/drawing/2014/main" id="{C7ECA4C7-B160-58EC-B18E-309B8A882924}"/>
                </a:ext>
              </a:extLst>
            </p:cNvPr>
            <p:cNvSpPr txBox="1"/>
            <p:nvPr/>
          </p:nvSpPr>
          <p:spPr>
            <a:xfrm>
              <a:off x="2198619" y="1192515"/>
              <a:ext cx="1726236" cy="4208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-ID" sz="13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Substansi</a:t>
              </a:r>
              <a:r>
                <a:rPr kumimoji="0" lang="en-ID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 </a:t>
              </a:r>
              <a:r>
                <a:rPr kumimoji="0" lang="en-ID" sz="13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terdapat</a:t>
              </a:r>
              <a:r>
                <a:rPr kumimoji="0" lang="en-ID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 pada Lampiran yang </a:t>
              </a:r>
              <a:r>
                <a:rPr kumimoji="0" lang="en-ID" sz="13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merupakan</a:t>
              </a:r>
              <a:r>
                <a:rPr kumimoji="0" lang="en-ID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 </a:t>
              </a:r>
              <a:r>
                <a:rPr kumimoji="0" lang="en-ID" sz="13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kebijakan</a:t>
              </a:r>
              <a:r>
                <a:rPr kumimoji="0" lang="en-ID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 </a:t>
              </a:r>
              <a:r>
                <a:rPr kumimoji="0" lang="en-ID" sz="13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akuntansi</a:t>
              </a:r>
              <a:r>
                <a:rPr kumimoji="0" lang="en-ID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 </a:t>
              </a:r>
              <a:r>
                <a:rPr kumimoji="0" lang="en-ID" sz="13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atas</a:t>
              </a:r>
              <a:r>
                <a:rPr kumimoji="0" lang="en-ID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 </a:t>
              </a:r>
              <a:r>
                <a:rPr kumimoji="0" lang="en-ID" sz="13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pos-pos</a:t>
              </a:r>
              <a:r>
                <a:rPr kumimoji="0" lang="en-ID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 </a:t>
              </a:r>
              <a:r>
                <a:rPr kumimoji="0" lang="en-ID" sz="13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dalam</a:t>
              </a:r>
              <a:r>
                <a:rPr kumimoji="0" lang="en-ID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 </a:t>
              </a:r>
              <a:r>
                <a:rPr kumimoji="0" lang="en-ID" sz="13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Laporan</a:t>
              </a:r>
              <a:r>
                <a:rPr kumimoji="0" lang="en-ID" sz="13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 </a:t>
              </a:r>
              <a:r>
                <a:rPr kumimoji="0" lang="en-ID" sz="13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Keuangan</a:t>
              </a:r>
              <a:endParaRPr kumimoji="0" lang="en-ID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Fira Sans Extra Condensed"/>
              </a:endParaRPr>
            </a:p>
          </p:txBody>
        </p:sp>
        <p:grpSp>
          <p:nvGrpSpPr>
            <p:cNvPr id="457" name="Google Shape;840;p25">
              <a:extLst>
                <a:ext uri="{FF2B5EF4-FFF2-40B4-BE49-F238E27FC236}">
                  <a16:creationId xmlns:a16="http://schemas.microsoft.com/office/drawing/2014/main" id="{1C213C85-442C-D845-AEA9-EA880682CAD9}"/>
                </a:ext>
              </a:extLst>
            </p:cNvPr>
            <p:cNvGrpSpPr/>
            <p:nvPr/>
          </p:nvGrpSpPr>
          <p:grpSpPr>
            <a:xfrm>
              <a:off x="617312" y="1203315"/>
              <a:ext cx="1557634" cy="422400"/>
              <a:chOff x="617312" y="1203315"/>
              <a:chExt cx="1557634" cy="422400"/>
            </a:xfrm>
          </p:grpSpPr>
          <p:sp>
            <p:nvSpPr>
              <p:cNvPr id="458" name="Google Shape;841;p25">
                <a:extLst>
                  <a:ext uri="{FF2B5EF4-FFF2-40B4-BE49-F238E27FC236}">
                    <a16:creationId xmlns:a16="http://schemas.microsoft.com/office/drawing/2014/main" id="{5BE5996C-460F-A94B-854A-C5EF471B8575}"/>
                  </a:ext>
                </a:extLst>
              </p:cNvPr>
              <p:cNvSpPr/>
              <p:nvPr/>
            </p:nvSpPr>
            <p:spPr>
              <a:xfrm>
                <a:off x="617312" y="1203315"/>
                <a:ext cx="1557634" cy="422400"/>
              </a:xfrm>
              <a:prstGeom prst="homePlate">
                <a:avLst>
                  <a:gd name="adj" fmla="val 50000"/>
                </a:avLst>
              </a:prstGeom>
              <a:solidFill>
                <a:srgbClr val="0070C0"/>
              </a:solidFill>
              <a:ln w="38100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459" name="Google Shape;842;p25">
                <a:extLst>
                  <a:ext uri="{FF2B5EF4-FFF2-40B4-BE49-F238E27FC236}">
                    <a16:creationId xmlns:a16="http://schemas.microsoft.com/office/drawing/2014/main" id="{C7E28AF8-2672-AA22-348F-D1F77ED9BF45}"/>
                  </a:ext>
                </a:extLst>
              </p:cNvPr>
              <p:cNvSpPr txBox="1"/>
              <p:nvPr/>
            </p:nvSpPr>
            <p:spPr>
              <a:xfrm>
                <a:off x="634684" y="1207774"/>
                <a:ext cx="1463733" cy="3854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prstClr val="black"/>
                  </a:buClr>
                  <a:buSzPts val="1100"/>
                  <a:buFont typeface="Arial"/>
                  <a:buNone/>
                  <a:tabLst/>
                  <a:defRPr/>
                </a:pPr>
                <a:r>
                  <a:rPr kumimoji="0" lang="en-ID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  <a:sym typeface="Fira Sans Extra Condensed"/>
                  </a:rPr>
                  <a:t>STRUKTUR PMK TERDIRI DARI BATANG TUBUH &amp; LAMPIRAN</a:t>
                </a:r>
              </a:p>
            </p:txBody>
          </p:sp>
        </p:grpSp>
      </p:grpSp>
      <p:grpSp>
        <p:nvGrpSpPr>
          <p:cNvPr id="4" name="Google Shape;840;p25">
            <a:extLst>
              <a:ext uri="{FF2B5EF4-FFF2-40B4-BE49-F238E27FC236}">
                <a16:creationId xmlns:a16="http://schemas.microsoft.com/office/drawing/2014/main" id="{BFC4EE3E-F06B-9EF3-3F09-9289F1E58FD7}"/>
              </a:ext>
            </a:extLst>
          </p:cNvPr>
          <p:cNvGrpSpPr/>
          <p:nvPr/>
        </p:nvGrpSpPr>
        <p:grpSpPr>
          <a:xfrm>
            <a:off x="208894" y="1443700"/>
            <a:ext cx="2475857" cy="350623"/>
            <a:chOff x="617312" y="1203315"/>
            <a:chExt cx="1557634" cy="422400"/>
          </a:xfrm>
        </p:grpSpPr>
        <p:sp>
          <p:nvSpPr>
            <p:cNvPr id="6" name="Google Shape;841;p25">
              <a:extLst>
                <a:ext uri="{FF2B5EF4-FFF2-40B4-BE49-F238E27FC236}">
                  <a16:creationId xmlns:a16="http://schemas.microsoft.com/office/drawing/2014/main" id="{E8EC6FD8-32D7-86E3-A724-1062A785CD26}"/>
                </a:ext>
              </a:extLst>
            </p:cNvPr>
            <p:cNvSpPr/>
            <p:nvPr/>
          </p:nvSpPr>
          <p:spPr>
            <a:xfrm>
              <a:off x="617312" y="1203315"/>
              <a:ext cx="1557634" cy="422400"/>
            </a:xfrm>
            <a:prstGeom prst="homePlate">
              <a:avLst>
                <a:gd name="adj" fmla="val 50000"/>
              </a:avLst>
            </a:prstGeom>
            <a:solidFill>
              <a:srgbClr val="0070C0"/>
            </a:solidFill>
            <a:ln w="38100" cap="flat" cmpd="sng">
              <a:solidFill>
                <a:srgbClr val="0070C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7" name="Google Shape;842;p25">
              <a:extLst>
                <a:ext uri="{FF2B5EF4-FFF2-40B4-BE49-F238E27FC236}">
                  <a16:creationId xmlns:a16="http://schemas.microsoft.com/office/drawing/2014/main" id="{6A263001-DB8E-AAA1-34A5-401E8F014EF4}"/>
                </a:ext>
              </a:extLst>
            </p:cNvPr>
            <p:cNvSpPr txBox="1"/>
            <p:nvPr/>
          </p:nvSpPr>
          <p:spPr>
            <a:xfrm>
              <a:off x="634684" y="1207774"/>
              <a:ext cx="1463733" cy="3854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-ID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Fira Sans Extra Condensed"/>
                </a:rPr>
                <a:t>LAMPIRAN</a:t>
              </a:r>
            </a:p>
          </p:txBody>
        </p:sp>
      </p:grpSp>
      <p:pic>
        <p:nvPicPr>
          <p:cNvPr id="8" name="Picture 2" descr="Layanan - KPPN Kualatungkal| Kantor Pelayanan Perbendaharaan Negara - DJPb  Kemenkeu RI Perbendaharaan Kementerian Keuangan RI">
            <a:extLst>
              <a:ext uri="{FF2B5EF4-FFF2-40B4-BE49-F238E27FC236}">
                <a16:creationId xmlns:a16="http://schemas.microsoft.com/office/drawing/2014/main" id="{7E059A9D-F2E3-8D5F-0854-F0289855EE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651"/>
          <a:stretch/>
        </p:blipFill>
        <p:spPr bwMode="auto">
          <a:xfrm>
            <a:off x="92589" y="6251752"/>
            <a:ext cx="1100500" cy="54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F4F1B-4993-FD8A-D324-4BA2DEF63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7A9826-C85A-43BB-9A4D-2C608D6018A0}" type="slidenum">
              <a:rPr kumimoji="0" lang="en-US" sz="1600" b="1" i="1" u="none" strike="noStrike" kern="1200" cap="none" spc="0" normalizeH="0" baseline="0" noProof="0" smtClean="0">
                <a:ln>
                  <a:noFill/>
                </a:ln>
                <a:solidFill>
                  <a:srgbClr val="005B8E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600" b="1" i="1" u="none" strike="noStrike" kern="1200" cap="none" spc="0" normalizeH="0" baseline="0" noProof="0">
              <a:ln>
                <a:noFill/>
              </a:ln>
              <a:solidFill>
                <a:srgbClr val="005B8E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sp>
        <p:nvSpPr>
          <p:cNvPr id="2" name="Google Shape;1334;p45">
            <a:extLst>
              <a:ext uri="{FF2B5EF4-FFF2-40B4-BE49-F238E27FC236}">
                <a16:creationId xmlns:a16="http://schemas.microsoft.com/office/drawing/2014/main" id="{23382373-B0B0-3819-AFFE-A298590CB0FD}"/>
              </a:ext>
            </a:extLst>
          </p:cNvPr>
          <p:cNvSpPr/>
          <p:nvPr/>
        </p:nvSpPr>
        <p:spPr>
          <a:xfrm>
            <a:off x="7564738" y="4478464"/>
            <a:ext cx="4083424" cy="45703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fi-FI" sz="15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  <a:sym typeface="Arial"/>
              </a:rPr>
              <a:t>BAB XVI	Kebijakan Akuntansi Pembiayaan</a:t>
            </a:r>
          </a:p>
        </p:txBody>
      </p:sp>
    </p:spTree>
    <p:extLst>
      <p:ext uri="{BB962C8B-B14F-4D97-AF65-F5344CB8AC3E}">
        <p14:creationId xmlns:p14="http://schemas.microsoft.com/office/powerpoint/2010/main" val="1474785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40156A-C2C0-9F8F-986D-E85A4B61F682}"/>
              </a:ext>
            </a:extLst>
          </p:cNvPr>
          <p:cNvSpPr/>
          <p:nvPr/>
        </p:nvSpPr>
        <p:spPr>
          <a:xfrm>
            <a:off x="706173" y="1247340"/>
            <a:ext cx="10833073" cy="638847"/>
          </a:xfrm>
          <a:prstGeom prst="rect">
            <a:avLst/>
          </a:prstGeom>
          <a:solidFill>
            <a:schemeClr val="bg1"/>
          </a:solidFill>
          <a:ln w="1905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Sans Condensed Medium" panose="020B0603050000020004" pitchFamily="34" charset="0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F328A2F9-FA25-C8F6-B4CF-5349D8D2BE59}"/>
              </a:ext>
            </a:extLst>
          </p:cNvPr>
          <p:cNvSpPr txBox="1">
            <a:spLocks/>
          </p:cNvSpPr>
          <p:nvPr/>
        </p:nvSpPr>
        <p:spPr>
          <a:xfrm>
            <a:off x="865592" y="340529"/>
            <a:ext cx="10515600" cy="5735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4870"/>
                </a:solidFill>
                <a:latin typeface="+mn-lt"/>
                <a:ea typeface="Roboto" panose="02000000000000000000" pitchFamily="2" charset="0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4870"/>
                </a:solidFill>
                <a:effectLst/>
                <a:uLnTx/>
                <a:uFillTx/>
                <a:latin typeface="Fira Sans Extra Condensed" panose="020B0503050000020004" pitchFamily="34" charset="0"/>
                <a:ea typeface="Roboto" panose="02000000000000000000" pitchFamily="2" charset="0"/>
                <a:cs typeface="+mj-cs"/>
              </a:rPr>
              <a:t>KEBIJAKAN AKUNTANSI PERSEDIAAN</a:t>
            </a:r>
            <a:r>
              <a:rPr kumimoji="0" lang="id-ID" sz="2400" b="1" i="0" u="none" strike="noStrike" kern="1200" cap="none" spc="0" normalizeH="0" baseline="0" noProof="0" dirty="0">
                <a:ln>
                  <a:noFill/>
                </a:ln>
                <a:solidFill>
                  <a:srgbClr val="004870"/>
                </a:solidFill>
                <a:effectLst/>
                <a:uLnTx/>
                <a:uFillTx/>
                <a:latin typeface="Fira Sans Extra Condensed" panose="020B0503050000020004" pitchFamily="34" charset="0"/>
                <a:ea typeface="Roboto" panose="02000000000000000000" pitchFamily="2" charset="0"/>
                <a:cs typeface="+mj-cs"/>
              </a:rPr>
              <a:t> -PMK 231/2022</a:t>
            </a:r>
          </a:p>
        </p:txBody>
      </p:sp>
      <p:sp>
        <p:nvSpPr>
          <p:cNvPr id="30" name="Google Shape;837;p25">
            <a:extLst>
              <a:ext uri="{FF2B5EF4-FFF2-40B4-BE49-F238E27FC236}">
                <a16:creationId xmlns:a16="http://schemas.microsoft.com/office/drawing/2014/main" id="{8D5C7F16-DA14-76EE-DB3D-6BF1D9000650}"/>
              </a:ext>
            </a:extLst>
          </p:cNvPr>
          <p:cNvSpPr txBox="1"/>
          <p:nvPr/>
        </p:nvSpPr>
        <p:spPr>
          <a:xfrm>
            <a:off x="706173" y="1274566"/>
            <a:ext cx="10833073" cy="53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57188" marR="0" lvl="0" indent="-357188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Aset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lancar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bentuk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barang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atau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perlengkapan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</a:t>
            </a:r>
          </a:p>
          <a:p>
            <a:pPr marL="357188" marR="0" lvl="0" indent="-357188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Dimaksudkan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untuk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mendukung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kegiatan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operasional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pemerintah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untuk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dijual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dan/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diserahkan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rangka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pelayanan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kepada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masyarakat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DDB845A0-715E-521A-FEC0-3B59E71A2843}"/>
              </a:ext>
            </a:extLst>
          </p:cNvPr>
          <p:cNvSpPr txBox="1"/>
          <p:nvPr/>
        </p:nvSpPr>
        <p:spPr>
          <a:xfrm>
            <a:off x="682872" y="889127"/>
            <a:ext cx="10878818" cy="338554"/>
          </a:xfrm>
          <a:prstGeom prst="rect">
            <a:avLst/>
          </a:prstGeom>
          <a:solidFill>
            <a:srgbClr val="005FAC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 Condensed Medium" panose="020B06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endParaRPr kumimoji="0" lang="en-ID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Sans Condensed Medium" panose="020B06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065459F3-7A88-0D42-BCE0-FAED077D8703}"/>
              </a:ext>
            </a:extLst>
          </p:cNvPr>
          <p:cNvSpPr txBox="1"/>
          <p:nvPr/>
        </p:nvSpPr>
        <p:spPr>
          <a:xfrm>
            <a:off x="190733" y="1951395"/>
            <a:ext cx="5378305" cy="338554"/>
          </a:xfrm>
          <a:prstGeom prst="rect">
            <a:avLst/>
          </a:prstGeom>
          <a:solidFill>
            <a:srgbClr val="005FAC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 Condensed Medium" panose="020B06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JENIS-JENIS</a:t>
            </a:r>
            <a:endParaRPr kumimoji="0" lang="en-ID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Sans Condensed Medium" panose="020B06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Google Shape;467;gc01c456a24_0_1169">
            <a:extLst>
              <a:ext uri="{FF2B5EF4-FFF2-40B4-BE49-F238E27FC236}">
                <a16:creationId xmlns:a16="http://schemas.microsoft.com/office/drawing/2014/main" id="{DBB0B480-F770-2895-1DAE-EF094A638697}"/>
              </a:ext>
            </a:extLst>
          </p:cNvPr>
          <p:cNvSpPr/>
          <p:nvPr/>
        </p:nvSpPr>
        <p:spPr>
          <a:xfrm>
            <a:off x="2923537" y="2331601"/>
            <a:ext cx="2645507" cy="1097399"/>
          </a:xfrm>
          <a:prstGeom prst="roundRect">
            <a:avLst>
              <a:gd name="adj" fmla="val 412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52767" tIns="26367" rIns="52767" bIns="26367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Berdasarkan</a:t>
            </a:r>
            <a:r>
              <a:rPr kumimoji="0" lang="en-ID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Sifat </a:t>
            </a:r>
            <a:r>
              <a:rPr kumimoji="0" lang="en-ID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Pemakaian</a:t>
            </a:r>
            <a:endParaRPr kumimoji="0" lang="en-ID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barang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habis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pakai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barang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tak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habis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pakai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barang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bekas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pakai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kumimoji="0" lang="en-ID" sz="1300" b="1" i="0" u="none" strike="noStrike" kern="1200" cap="none" spc="0" normalizeH="0" baseline="0" noProof="0" dirty="0">
              <a:ln>
                <a:noFill/>
              </a:ln>
              <a:solidFill>
                <a:srgbClr val="FC9804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453" name="Straight Connector 452">
            <a:extLst>
              <a:ext uri="{FF2B5EF4-FFF2-40B4-BE49-F238E27FC236}">
                <a16:creationId xmlns:a16="http://schemas.microsoft.com/office/drawing/2014/main" id="{4C8C30E1-665E-96FE-EE52-A17F5FC18220}"/>
              </a:ext>
            </a:extLst>
          </p:cNvPr>
          <p:cNvCxnSpPr>
            <a:cxnSpLocks/>
          </p:cNvCxnSpPr>
          <p:nvPr/>
        </p:nvCxnSpPr>
        <p:spPr>
          <a:xfrm rot="5400000">
            <a:off x="2056676" y="2844915"/>
            <a:ext cx="4539420" cy="2805697"/>
          </a:xfrm>
          <a:prstGeom prst="bentConnector3">
            <a:avLst>
              <a:gd name="adj1" fmla="val 34950"/>
            </a:avLst>
          </a:prstGeom>
          <a:ln w="31750" cmpd="dbl">
            <a:solidFill>
              <a:srgbClr val="C00000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3">
            <a:extLst>
              <a:ext uri="{FF2B5EF4-FFF2-40B4-BE49-F238E27FC236}">
                <a16:creationId xmlns:a16="http://schemas.microsoft.com/office/drawing/2014/main" id="{60982308-6C68-8F6A-1311-34AE7E821719}"/>
              </a:ext>
            </a:extLst>
          </p:cNvPr>
          <p:cNvSpPr txBox="1"/>
          <p:nvPr/>
        </p:nvSpPr>
        <p:spPr>
          <a:xfrm>
            <a:off x="5828130" y="1973618"/>
            <a:ext cx="6036050" cy="338554"/>
          </a:xfrm>
          <a:prstGeom prst="rect">
            <a:avLst/>
          </a:prstGeom>
          <a:solidFill>
            <a:srgbClr val="005FAC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 Condensed Medium" panose="020B06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PENGAKUAN</a:t>
            </a:r>
            <a:endParaRPr kumimoji="0" lang="en-ID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Sans Condensed Medium" panose="020B06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55" name="Google Shape;467;gc01c456a24_0_1169">
            <a:extLst>
              <a:ext uri="{FF2B5EF4-FFF2-40B4-BE49-F238E27FC236}">
                <a16:creationId xmlns:a16="http://schemas.microsoft.com/office/drawing/2014/main" id="{D3E2624D-C9F5-B34D-9554-708BB468DDB9}"/>
              </a:ext>
            </a:extLst>
          </p:cNvPr>
          <p:cNvSpPr/>
          <p:nvPr/>
        </p:nvSpPr>
        <p:spPr>
          <a:xfrm>
            <a:off x="5819356" y="2384559"/>
            <a:ext cx="3072396" cy="2048384"/>
          </a:xfrm>
          <a:prstGeom prst="roundRect">
            <a:avLst>
              <a:gd name="adj" fmla="val 2137"/>
            </a:avLst>
          </a:prstGeom>
          <a:solidFill>
            <a:schemeClr val="accent3">
              <a:lumMod val="40000"/>
              <a:lumOff val="60000"/>
              <a:alpha val="40000"/>
            </a:schemeClr>
          </a:solidFill>
          <a:ln>
            <a:noFill/>
          </a:ln>
        </p:spPr>
        <p:txBody>
          <a:bodyPr spcFirstLastPara="1" wrap="square" lIns="52767" tIns="26367" rIns="52767" bIns="26367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Saat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potensi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manfaat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ekonomi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masa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diperoleh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mempunyai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nilai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/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biaya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yang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dapat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diukur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dengan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andal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Saat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diterima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atau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hak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kepemilikannya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dan/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atau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kepenguasaannya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berpindah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458" name="TextBox 3">
            <a:extLst>
              <a:ext uri="{FF2B5EF4-FFF2-40B4-BE49-F238E27FC236}">
                <a16:creationId xmlns:a16="http://schemas.microsoft.com/office/drawing/2014/main" id="{9FC23BF4-3C16-26DA-A79C-1FDA0071EC65}"/>
              </a:ext>
            </a:extLst>
          </p:cNvPr>
          <p:cNvSpPr txBox="1"/>
          <p:nvPr/>
        </p:nvSpPr>
        <p:spPr>
          <a:xfrm>
            <a:off x="263571" y="5965977"/>
            <a:ext cx="124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 Condensed Medium" panose="020B06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PENYAJIAN</a:t>
            </a:r>
            <a:endParaRPr kumimoji="0" lang="en-ID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Sans Condensed Medium" panose="020B06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Google Shape;467;gc01c456a24_0_1169">
            <a:extLst>
              <a:ext uri="{FF2B5EF4-FFF2-40B4-BE49-F238E27FC236}">
                <a16:creationId xmlns:a16="http://schemas.microsoft.com/office/drawing/2014/main" id="{DB5B27E3-AA9F-318D-EDEC-60A175D94BB7}"/>
              </a:ext>
            </a:extLst>
          </p:cNvPr>
          <p:cNvSpPr/>
          <p:nvPr/>
        </p:nvSpPr>
        <p:spPr>
          <a:xfrm>
            <a:off x="190741" y="2331601"/>
            <a:ext cx="2645507" cy="3664319"/>
          </a:xfrm>
          <a:prstGeom prst="roundRect">
            <a:avLst>
              <a:gd name="adj" fmla="val 4121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52767" tIns="26367" rIns="52767" bIns="26367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Berdasarkan</a:t>
            </a:r>
            <a:r>
              <a:rPr kumimoji="0" lang="en-ID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Bentuk</a:t>
            </a:r>
            <a:r>
              <a:rPr kumimoji="0" lang="en-ID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 </a:t>
            </a:r>
            <a:r>
              <a:rPr kumimoji="0" lang="en-ID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Jenis</a:t>
            </a:r>
            <a:endParaRPr kumimoji="0" lang="en-ID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barang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konsumsi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amunisi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bahan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untuk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pemeliharaan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suku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cadang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untuk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tujuan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strategis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berjaga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-jaga;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pita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cukai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 leges;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bahan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baku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barang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proses/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setengah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jadi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tanah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bangunan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peralatan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mesin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jalan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irigasi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dan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jaringan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aset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tetap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lainnya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hewan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tanaman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ATB,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lainnya</a:t>
            </a:r>
            <a:r>
              <a:rPr kumimoji="0" lang="en-ID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kumimoji="0" lang="en-ID" sz="1300" b="1" i="0" u="none" strike="noStrike" kern="1200" cap="none" spc="0" normalizeH="0" baseline="0" noProof="0" dirty="0">
              <a:ln>
                <a:noFill/>
              </a:ln>
              <a:solidFill>
                <a:srgbClr val="FC9804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73794B-DB72-59A5-EF0C-1F2EBE4AEBC4}"/>
              </a:ext>
            </a:extLst>
          </p:cNvPr>
          <p:cNvSpPr/>
          <p:nvPr/>
        </p:nvSpPr>
        <p:spPr>
          <a:xfrm>
            <a:off x="190734" y="4951920"/>
            <a:ext cx="2645507" cy="104400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0CEA72-374A-CAF3-CAAD-05D7719295FC}"/>
              </a:ext>
            </a:extLst>
          </p:cNvPr>
          <p:cNvSpPr txBox="1"/>
          <p:nvPr/>
        </p:nvSpPr>
        <p:spPr>
          <a:xfrm>
            <a:off x="523965" y="6037572"/>
            <a:ext cx="2312276" cy="492443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untuk</a:t>
            </a:r>
            <a:r>
              <a:rPr kumimoji="0" lang="en-ID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dijual</a:t>
            </a:r>
            <a:r>
              <a:rPr kumimoji="0" lang="en-ID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atau</a:t>
            </a:r>
            <a:r>
              <a:rPr kumimoji="0" lang="en-ID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diserahkan</a:t>
            </a:r>
            <a:r>
              <a:rPr kumimoji="0" lang="en-ID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kepada</a:t>
            </a:r>
            <a:r>
              <a:rPr kumimoji="0" lang="en-ID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masyarakat</a:t>
            </a:r>
            <a:r>
              <a:rPr kumimoji="0" lang="en-ID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 </a:t>
            </a:r>
            <a:r>
              <a:rPr kumimoji="0" lang="en-ID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pemda</a:t>
            </a:r>
            <a:r>
              <a:rPr kumimoji="0" lang="en-ID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F06D90C-E702-6D1A-C209-4C24219F72C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9061" y="6034531"/>
            <a:ext cx="324000" cy="21600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Google Shape;467;gc01c456a24_0_1169">
            <a:extLst>
              <a:ext uri="{FF2B5EF4-FFF2-40B4-BE49-F238E27FC236}">
                <a16:creationId xmlns:a16="http://schemas.microsoft.com/office/drawing/2014/main" id="{2ED0061A-B459-24F5-9568-EFD785FAF2D4}"/>
              </a:ext>
            </a:extLst>
          </p:cNvPr>
          <p:cNvSpPr/>
          <p:nvPr/>
        </p:nvSpPr>
        <p:spPr>
          <a:xfrm>
            <a:off x="8981873" y="2399603"/>
            <a:ext cx="2882307" cy="2033340"/>
          </a:xfrm>
          <a:prstGeom prst="roundRect">
            <a:avLst>
              <a:gd name="adj" fmla="val 2137"/>
            </a:avLst>
          </a:prstGeom>
          <a:solidFill>
            <a:schemeClr val="accent3">
              <a:lumMod val="40000"/>
              <a:lumOff val="60000"/>
              <a:alpha val="40000"/>
            </a:schemeClr>
          </a:solidFill>
          <a:ln>
            <a:noFill/>
          </a:ln>
        </p:spPr>
        <p:txBody>
          <a:bodyPr spcFirstLastPara="1" wrap="square" lIns="52767" tIns="26367" rIns="52767" bIns="26367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Beban 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Berdasarkan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perhitungan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transaksi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penggunaan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penyerahan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kepada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masyarakat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sebab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lain yang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mengakibatkan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berkurangnya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jumlah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ID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r>
              <a:rPr kumimoji="0" lang="en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2085A39-791C-6E24-7C9F-A31DACCB7AEC}"/>
              </a:ext>
            </a:extLst>
          </p:cNvPr>
          <p:cNvGrpSpPr/>
          <p:nvPr/>
        </p:nvGrpSpPr>
        <p:grpSpPr>
          <a:xfrm>
            <a:off x="8601777" y="3730747"/>
            <a:ext cx="540000" cy="540000"/>
            <a:chOff x="2913046" y="2334764"/>
            <a:chExt cx="539999" cy="62525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32B79A-8AC1-BE7F-6180-B9FB37C097BC}"/>
                </a:ext>
              </a:extLst>
            </p:cNvPr>
            <p:cNvSpPr/>
            <p:nvPr/>
          </p:nvSpPr>
          <p:spPr>
            <a:xfrm>
              <a:off x="2913046" y="2334764"/>
              <a:ext cx="539999" cy="6252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F2871C18-4A37-4794-CF5A-7157AC20E367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38848" y="2403192"/>
              <a:ext cx="488394" cy="488394"/>
            </a:xfrm>
            <a:prstGeom prst="rect">
              <a:avLst/>
            </a:prstGeom>
          </p:spPr>
        </p:pic>
      </p:grpSp>
      <p:sp>
        <p:nvSpPr>
          <p:cNvPr id="28" name="TextBox 3">
            <a:extLst>
              <a:ext uri="{FF2B5EF4-FFF2-40B4-BE49-F238E27FC236}">
                <a16:creationId xmlns:a16="http://schemas.microsoft.com/office/drawing/2014/main" id="{BA8D23FF-5887-C853-E977-7FEF07F3644B}"/>
              </a:ext>
            </a:extLst>
          </p:cNvPr>
          <p:cNvSpPr txBox="1"/>
          <p:nvPr/>
        </p:nvSpPr>
        <p:spPr>
          <a:xfrm>
            <a:off x="3077975" y="3661394"/>
            <a:ext cx="2645507" cy="338554"/>
          </a:xfrm>
          <a:prstGeom prst="rect">
            <a:avLst/>
          </a:prstGeom>
          <a:solidFill>
            <a:srgbClr val="005FAC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 Condensed Medium" panose="020B06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PENGUKURAN</a:t>
            </a:r>
            <a:endParaRPr kumimoji="0" lang="en-ID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Sans Condensed Medium" panose="020B06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Google Shape;467;gc01c456a24_0_1169">
            <a:extLst>
              <a:ext uri="{FF2B5EF4-FFF2-40B4-BE49-F238E27FC236}">
                <a16:creationId xmlns:a16="http://schemas.microsoft.com/office/drawing/2014/main" id="{A3D70D79-7AA3-89C1-581E-0B6EB59F70ED}"/>
              </a:ext>
            </a:extLst>
          </p:cNvPr>
          <p:cNvSpPr/>
          <p:nvPr/>
        </p:nvSpPr>
        <p:spPr>
          <a:xfrm>
            <a:off x="3077974" y="4049174"/>
            <a:ext cx="2645507" cy="859474"/>
          </a:xfrm>
          <a:prstGeom prst="roundRect">
            <a:avLst>
              <a:gd name="adj" fmla="val 2137"/>
            </a:avLst>
          </a:prstGeom>
          <a:solidFill>
            <a:schemeClr val="accent3">
              <a:lumMod val="40000"/>
              <a:lumOff val="60000"/>
              <a:alpha val="40000"/>
            </a:schemeClr>
          </a:solidFill>
          <a:ln>
            <a:noFill/>
          </a:ln>
        </p:spPr>
        <p:txBody>
          <a:bodyPr spcFirstLastPara="1" wrap="square" lIns="52767" tIns="26367" rIns="52767" bIns="26367" anchor="t" anchorCtr="0">
            <a:no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Biaya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Perolehan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Harga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Pokok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produksi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ilai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Wajar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E0434B6E-E0F6-4572-0E26-43DCDDCA32F0}"/>
              </a:ext>
            </a:extLst>
          </p:cNvPr>
          <p:cNvSpPr txBox="1"/>
          <p:nvPr/>
        </p:nvSpPr>
        <p:spPr>
          <a:xfrm>
            <a:off x="3077971" y="5103577"/>
            <a:ext cx="2645507" cy="338554"/>
          </a:xfrm>
          <a:prstGeom prst="rect">
            <a:avLst/>
          </a:prstGeom>
          <a:solidFill>
            <a:srgbClr val="005FAC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 Condensed Medium" panose="020B06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PENYAJIAN</a:t>
            </a:r>
            <a:endParaRPr kumimoji="0" lang="en-ID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Sans Condensed Medium" panose="020B06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Google Shape;467;gc01c456a24_0_1169">
            <a:extLst>
              <a:ext uri="{FF2B5EF4-FFF2-40B4-BE49-F238E27FC236}">
                <a16:creationId xmlns:a16="http://schemas.microsoft.com/office/drawing/2014/main" id="{2A4C585F-A898-9093-8F82-2B434AC8F8F7}"/>
              </a:ext>
            </a:extLst>
          </p:cNvPr>
          <p:cNvSpPr/>
          <p:nvPr/>
        </p:nvSpPr>
        <p:spPr>
          <a:xfrm>
            <a:off x="3077972" y="5488064"/>
            <a:ext cx="2645507" cy="1074762"/>
          </a:xfrm>
          <a:prstGeom prst="roundRect">
            <a:avLst>
              <a:gd name="adj" fmla="val 2137"/>
            </a:avLst>
          </a:prstGeom>
          <a:solidFill>
            <a:schemeClr val="accent3">
              <a:lumMod val="40000"/>
              <a:lumOff val="60000"/>
              <a:alpha val="40000"/>
            </a:schemeClr>
          </a:solidFill>
          <a:ln>
            <a:noFill/>
          </a:ln>
        </p:spPr>
        <p:txBody>
          <a:bodyPr spcFirstLastPara="1" wrap="square" lIns="52767" tIns="26367" rIns="52767" bIns="26367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Aset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Lancar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Neraca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Beban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pemakaian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LO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Penyesuaian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nilai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dari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hasil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inventarisasi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fisik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C24CEC6E-99BB-B6E8-E57A-AEBFBB1FE277}"/>
              </a:ext>
            </a:extLst>
          </p:cNvPr>
          <p:cNvSpPr txBox="1"/>
          <p:nvPr/>
        </p:nvSpPr>
        <p:spPr>
          <a:xfrm>
            <a:off x="5816524" y="4583104"/>
            <a:ext cx="2645507" cy="584775"/>
          </a:xfrm>
          <a:prstGeom prst="rect">
            <a:avLst/>
          </a:prstGeom>
          <a:solidFill>
            <a:srgbClr val="005FAC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 Condensed Medium" panose="020B06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PENGUNGKAPAN 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 Condensed Medium" panose="020B06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CALK</a:t>
            </a:r>
            <a:endParaRPr kumimoji="0" lang="en-ID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Sans Condensed Medium" panose="020B06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4" name="Google Shape;467;gc01c456a24_0_1169">
            <a:extLst>
              <a:ext uri="{FF2B5EF4-FFF2-40B4-BE49-F238E27FC236}">
                <a16:creationId xmlns:a16="http://schemas.microsoft.com/office/drawing/2014/main" id="{BCBBED33-73BD-D5AF-9908-A635C0034B84}"/>
              </a:ext>
            </a:extLst>
          </p:cNvPr>
          <p:cNvSpPr/>
          <p:nvPr/>
        </p:nvSpPr>
        <p:spPr>
          <a:xfrm>
            <a:off x="5828129" y="5220209"/>
            <a:ext cx="2645507" cy="1297262"/>
          </a:xfrm>
          <a:prstGeom prst="roundRect">
            <a:avLst>
              <a:gd name="adj" fmla="val 2137"/>
            </a:avLst>
          </a:prstGeom>
          <a:solidFill>
            <a:schemeClr val="accent3">
              <a:lumMod val="40000"/>
              <a:lumOff val="60000"/>
              <a:alpha val="40000"/>
            </a:schemeClr>
          </a:solidFill>
          <a:ln>
            <a:noFill/>
          </a:ln>
        </p:spPr>
        <p:txBody>
          <a:bodyPr spcFirstLastPara="1" wrap="square" lIns="52767" tIns="26367" rIns="52767" bIns="26367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Kebijakan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akuntansi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rusak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/uang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Penjelasan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selisih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antara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pencatatan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dan stock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opname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TextBox 3">
            <a:extLst>
              <a:ext uri="{FF2B5EF4-FFF2-40B4-BE49-F238E27FC236}">
                <a16:creationId xmlns:a16="http://schemas.microsoft.com/office/drawing/2014/main" id="{A56033C7-7924-F557-DC20-38E4B67D51EC}"/>
              </a:ext>
            </a:extLst>
          </p:cNvPr>
          <p:cNvSpPr txBox="1"/>
          <p:nvPr/>
        </p:nvSpPr>
        <p:spPr>
          <a:xfrm>
            <a:off x="8584093" y="4578323"/>
            <a:ext cx="3280086" cy="338554"/>
          </a:xfrm>
          <a:prstGeom prst="rect">
            <a:avLst/>
          </a:prstGeom>
          <a:solidFill>
            <a:srgbClr val="005FAC"/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ira Sans Condensed Medium" panose="020B0603050000020004" pitchFamily="34" charset="0"/>
                <a:ea typeface="Roboto" panose="02000000000000000000" pitchFamily="2" charset="0"/>
                <a:cs typeface="Roboto" panose="02000000000000000000" pitchFamily="2" charset="0"/>
              </a:rPr>
              <a:t>PERLAKUAN KHUSUS</a:t>
            </a:r>
            <a:endParaRPr kumimoji="0" lang="en-ID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ira Sans Condensed Medium" panose="020B06030500000200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6" name="Google Shape;467;gc01c456a24_0_1169">
            <a:extLst>
              <a:ext uri="{FF2B5EF4-FFF2-40B4-BE49-F238E27FC236}">
                <a16:creationId xmlns:a16="http://schemas.microsoft.com/office/drawing/2014/main" id="{AD1846A4-39AF-CC1D-9C6A-5C9321714D1E}"/>
              </a:ext>
            </a:extLst>
          </p:cNvPr>
          <p:cNvSpPr/>
          <p:nvPr/>
        </p:nvSpPr>
        <p:spPr>
          <a:xfrm>
            <a:off x="8584094" y="4962809"/>
            <a:ext cx="3280086" cy="1554661"/>
          </a:xfrm>
          <a:prstGeom prst="roundRect">
            <a:avLst>
              <a:gd name="adj" fmla="val 2137"/>
            </a:avLst>
          </a:prstGeom>
          <a:solidFill>
            <a:schemeClr val="accent3">
              <a:lumMod val="40000"/>
              <a:lumOff val="60000"/>
              <a:alpha val="40000"/>
            </a:schemeClr>
          </a:solidFill>
          <a:ln>
            <a:noFill/>
          </a:ln>
        </p:spPr>
        <p:txBody>
          <a:bodyPr spcFirstLastPara="1" wrap="square" lIns="52767" tIns="26367" rIns="52767" bIns="26367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Penyajian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untuk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diserahkan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kepada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masyarakat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/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pemda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yang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masih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dalam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proses.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Kebijakan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khusus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atas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persediaan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yang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bersifat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kumimoji="0" lang="en-U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spesifik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5030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5907"/>
            <a:ext cx="12192000" cy="876300"/>
            <a:chOff x="0" y="25907"/>
            <a:chExt cx="12192000" cy="876300"/>
          </a:xfrm>
        </p:grpSpPr>
        <p:sp>
          <p:nvSpPr>
            <p:cNvPr id="3" name="object 3"/>
            <p:cNvSpPr/>
            <p:nvPr/>
          </p:nvSpPr>
          <p:spPr>
            <a:xfrm>
              <a:off x="0" y="25907"/>
              <a:ext cx="12192000" cy="876300"/>
            </a:xfrm>
            <a:custGeom>
              <a:avLst/>
              <a:gdLst/>
              <a:ahLst/>
              <a:cxnLst/>
              <a:rect l="l" t="t" r="r" b="b"/>
              <a:pathLst>
                <a:path w="12192000" h="876300">
                  <a:moveTo>
                    <a:pt x="0" y="0"/>
                  </a:moveTo>
                  <a:lnTo>
                    <a:pt x="0" y="876300"/>
                  </a:lnTo>
                  <a:lnTo>
                    <a:pt x="12191999" y="876300"/>
                  </a:lnTo>
                  <a:lnTo>
                    <a:pt x="121919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4F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2504" y="150876"/>
              <a:ext cx="609600" cy="541020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8913876" y="5612891"/>
            <a:ext cx="3278504" cy="1245235"/>
            <a:chOff x="8913876" y="5612891"/>
            <a:chExt cx="3278504" cy="124523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45790" y="6241656"/>
              <a:ext cx="2846209" cy="61634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913876" y="5612891"/>
              <a:ext cx="1897380" cy="855344"/>
            </a:xfrm>
            <a:custGeom>
              <a:avLst/>
              <a:gdLst/>
              <a:ahLst/>
              <a:cxnLst/>
              <a:rect l="l" t="t" r="r" b="b"/>
              <a:pathLst>
                <a:path w="1897379" h="855345">
                  <a:moveTo>
                    <a:pt x="1754885" y="0"/>
                  </a:moveTo>
                  <a:lnTo>
                    <a:pt x="142494" y="0"/>
                  </a:lnTo>
                  <a:lnTo>
                    <a:pt x="97438" y="7263"/>
                  </a:lnTo>
                  <a:lnTo>
                    <a:pt x="58320" y="27491"/>
                  </a:lnTo>
                  <a:lnTo>
                    <a:pt x="27480" y="58336"/>
                  </a:lnTo>
                  <a:lnTo>
                    <a:pt x="7260" y="97453"/>
                  </a:lnTo>
                  <a:lnTo>
                    <a:pt x="0" y="142494"/>
                  </a:lnTo>
                  <a:lnTo>
                    <a:pt x="0" y="712470"/>
                  </a:lnTo>
                  <a:lnTo>
                    <a:pt x="7260" y="757510"/>
                  </a:lnTo>
                  <a:lnTo>
                    <a:pt x="27480" y="796627"/>
                  </a:lnTo>
                  <a:lnTo>
                    <a:pt x="58320" y="827472"/>
                  </a:lnTo>
                  <a:lnTo>
                    <a:pt x="97438" y="847700"/>
                  </a:lnTo>
                  <a:lnTo>
                    <a:pt x="142494" y="854964"/>
                  </a:lnTo>
                  <a:lnTo>
                    <a:pt x="1754885" y="854964"/>
                  </a:lnTo>
                  <a:lnTo>
                    <a:pt x="1799941" y="847700"/>
                  </a:lnTo>
                  <a:lnTo>
                    <a:pt x="1839059" y="827472"/>
                  </a:lnTo>
                  <a:lnTo>
                    <a:pt x="1869899" y="796627"/>
                  </a:lnTo>
                  <a:lnTo>
                    <a:pt x="1890119" y="757510"/>
                  </a:lnTo>
                  <a:lnTo>
                    <a:pt x="1897379" y="712470"/>
                  </a:lnTo>
                  <a:lnTo>
                    <a:pt x="1897379" y="142494"/>
                  </a:lnTo>
                  <a:lnTo>
                    <a:pt x="1890119" y="97453"/>
                  </a:lnTo>
                  <a:lnTo>
                    <a:pt x="1869899" y="58336"/>
                  </a:lnTo>
                  <a:lnTo>
                    <a:pt x="1839059" y="27491"/>
                  </a:lnTo>
                  <a:lnTo>
                    <a:pt x="1799941" y="7263"/>
                  </a:lnTo>
                  <a:lnTo>
                    <a:pt x="1754885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355091" y="1447800"/>
            <a:ext cx="1931035" cy="1169035"/>
          </a:xfrm>
          <a:custGeom>
            <a:avLst/>
            <a:gdLst/>
            <a:ahLst/>
            <a:cxnLst/>
            <a:rect l="l" t="t" r="r" b="b"/>
            <a:pathLst>
              <a:path w="1931035" h="1169035">
                <a:moveTo>
                  <a:pt x="1736089" y="0"/>
                </a:moveTo>
                <a:lnTo>
                  <a:pt x="194817" y="0"/>
                </a:lnTo>
                <a:lnTo>
                  <a:pt x="150148" y="5146"/>
                </a:lnTo>
                <a:lnTo>
                  <a:pt x="109142" y="19806"/>
                </a:lnTo>
                <a:lnTo>
                  <a:pt x="72969" y="42807"/>
                </a:lnTo>
                <a:lnTo>
                  <a:pt x="42799" y="72980"/>
                </a:lnTo>
                <a:lnTo>
                  <a:pt x="19801" y="109153"/>
                </a:lnTo>
                <a:lnTo>
                  <a:pt x="5145" y="150156"/>
                </a:lnTo>
                <a:lnTo>
                  <a:pt x="0" y="194817"/>
                </a:lnTo>
                <a:lnTo>
                  <a:pt x="0" y="974089"/>
                </a:lnTo>
                <a:lnTo>
                  <a:pt x="5145" y="1018751"/>
                </a:lnTo>
                <a:lnTo>
                  <a:pt x="19801" y="1059754"/>
                </a:lnTo>
                <a:lnTo>
                  <a:pt x="42799" y="1095927"/>
                </a:lnTo>
                <a:lnTo>
                  <a:pt x="72969" y="1126100"/>
                </a:lnTo>
                <a:lnTo>
                  <a:pt x="109142" y="1149101"/>
                </a:lnTo>
                <a:lnTo>
                  <a:pt x="150148" y="1163761"/>
                </a:lnTo>
                <a:lnTo>
                  <a:pt x="194817" y="1168908"/>
                </a:lnTo>
                <a:lnTo>
                  <a:pt x="1736089" y="1168908"/>
                </a:lnTo>
                <a:lnTo>
                  <a:pt x="1780751" y="1163761"/>
                </a:lnTo>
                <a:lnTo>
                  <a:pt x="1821754" y="1149101"/>
                </a:lnTo>
                <a:lnTo>
                  <a:pt x="1857927" y="1126100"/>
                </a:lnTo>
                <a:lnTo>
                  <a:pt x="1888100" y="1095927"/>
                </a:lnTo>
                <a:lnTo>
                  <a:pt x="1911101" y="1059754"/>
                </a:lnTo>
                <a:lnTo>
                  <a:pt x="1925761" y="1018751"/>
                </a:lnTo>
                <a:lnTo>
                  <a:pt x="1930908" y="974089"/>
                </a:lnTo>
                <a:lnTo>
                  <a:pt x="1930908" y="194817"/>
                </a:lnTo>
                <a:lnTo>
                  <a:pt x="1925761" y="150156"/>
                </a:lnTo>
                <a:lnTo>
                  <a:pt x="1911101" y="109153"/>
                </a:lnTo>
                <a:lnTo>
                  <a:pt x="1888100" y="72980"/>
                </a:lnTo>
                <a:lnTo>
                  <a:pt x="1857927" y="42807"/>
                </a:lnTo>
                <a:lnTo>
                  <a:pt x="1821754" y="19806"/>
                </a:lnTo>
                <a:lnTo>
                  <a:pt x="1780751" y="5146"/>
                </a:lnTo>
                <a:lnTo>
                  <a:pt x="1736089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90473" y="1729232"/>
            <a:ext cx="126047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 marR="5080" indent="-9525">
              <a:lnSpc>
                <a:spcPct val="101099"/>
              </a:lnSpc>
              <a:spcBef>
                <a:spcPts val="95"/>
              </a:spcBef>
            </a:pPr>
            <a:r>
              <a:rPr sz="1850" b="1" spc="5" dirty="0">
                <a:solidFill>
                  <a:srgbClr val="FFFFFF"/>
                </a:solidFill>
                <a:latin typeface="Microsoft PhagsPa"/>
                <a:cs typeface="Microsoft PhagsPa"/>
              </a:rPr>
              <a:t>Saldo</a:t>
            </a:r>
            <a:r>
              <a:rPr sz="1850" b="1" spc="-95" dirty="0">
                <a:solidFill>
                  <a:srgbClr val="FFFFFF"/>
                </a:solidFill>
                <a:latin typeface="Microsoft PhagsPa"/>
                <a:cs typeface="Microsoft PhagsPa"/>
              </a:rPr>
              <a:t> </a:t>
            </a:r>
            <a:r>
              <a:rPr sz="1850" b="1" spc="5" dirty="0">
                <a:solidFill>
                  <a:srgbClr val="FFFFFF"/>
                </a:solidFill>
                <a:latin typeface="Microsoft PhagsPa"/>
                <a:cs typeface="Microsoft PhagsPa"/>
              </a:rPr>
              <a:t>Awal </a:t>
            </a:r>
            <a:r>
              <a:rPr sz="1850" b="1" spc="-495" dirty="0">
                <a:solidFill>
                  <a:srgbClr val="FFFFFF"/>
                </a:solidFill>
                <a:latin typeface="Microsoft PhagsPa"/>
                <a:cs typeface="Microsoft PhagsPa"/>
              </a:rPr>
              <a:t> </a:t>
            </a:r>
            <a:r>
              <a:rPr sz="1850" b="1" spc="5" dirty="0">
                <a:solidFill>
                  <a:srgbClr val="FFFFFF"/>
                </a:solidFill>
                <a:latin typeface="Microsoft PhagsPa"/>
                <a:cs typeface="Microsoft PhagsPa"/>
              </a:rPr>
              <a:t>Persediaan</a:t>
            </a:r>
            <a:endParaRPr sz="1850">
              <a:latin typeface="Microsoft PhagsPa"/>
              <a:cs typeface="Microsoft PhagsP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098292" y="1441703"/>
            <a:ext cx="1931035" cy="1167765"/>
          </a:xfrm>
          <a:custGeom>
            <a:avLst/>
            <a:gdLst/>
            <a:ahLst/>
            <a:cxnLst/>
            <a:rect l="l" t="t" r="r" b="b"/>
            <a:pathLst>
              <a:path w="1931035" h="1167764">
                <a:moveTo>
                  <a:pt x="1736344" y="0"/>
                </a:moveTo>
                <a:lnTo>
                  <a:pt x="194563" y="0"/>
                </a:lnTo>
                <a:lnTo>
                  <a:pt x="149956" y="5139"/>
                </a:lnTo>
                <a:lnTo>
                  <a:pt x="109005" y="19777"/>
                </a:lnTo>
                <a:lnTo>
                  <a:pt x="72879" y="42747"/>
                </a:lnTo>
                <a:lnTo>
                  <a:pt x="42747" y="72879"/>
                </a:lnTo>
                <a:lnTo>
                  <a:pt x="19777" y="109005"/>
                </a:lnTo>
                <a:lnTo>
                  <a:pt x="5139" y="149956"/>
                </a:lnTo>
                <a:lnTo>
                  <a:pt x="0" y="194563"/>
                </a:lnTo>
                <a:lnTo>
                  <a:pt x="0" y="972820"/>
                </a:lnTo>
                <a:lnTo>
                  <a:pt x="5139" y="1017427"/>
                </a:lnTo>
                <a:lnTo>
                  <a:pt x="19777" y="1058378"/>
                </a:lnTo>
                <a:lnTo>
                  <a:pt x="42747" y="1094504"/>
                </a:lnTo>
                <a:lnTo>
                  <a:pt x="72879" y="1124636"/>
                </a:lnTo>
                <a:lnTo>
                  <a:pt x="109005" y="1147606"/>
                </a:lnTo>
                <a:lnTo>
                  <a:pt x="149956" y="1162244"/>
                </a:lnTo>
                <a:lnTo>
                  <a:pt x="194563" y="1167384"/>
                </a:lnTo>
                <a:lnTo>
                  <a:pt x="1736344" y="1167384"/>
                </a:lnTo>
                <a:lnTo>
                  <a:pt x="1780951" y="1162244"/>
                </a:lnTo>
                <a:lnTo>
                  <a:pt x="1821902" y="1147606"/>
                </a:lnTo>
                <a:lnTo>
                  <a:pt x="1858028" y="1124636"/>
                </a:lnTo>
                <a:lnTo>
                  <a:pt x="1888160" y="1094504"/>
                </a:lnTo>
                <a:lnTo>
                  <a:pt x="1911130" y="1058378"/>
                </a:lnTo>
                <a:lnTo>
                  <a:pt x="1925768" y="1017427"/>
                </a:lnTo>
                <a:lnTo>
                  <a:pt x="1930908" y="972820"/>
                </a:lnTo>
                <a:lnTo>
                  <a:pt x="1930908" y="194563"/>
                </a:lnTo>
                <a:lnTo>
                  <a:pt x="1925768" y="149956"/>
                </a:lnTo>
                <a:lnTo>
                  <a:pt x="1911130" y="109005"/>
                </a:lnTo>
                <a:lnTo>
                  <a:pt x="1888160" y="72879"/>
                </a:lnTo>
                <a:lnTo>
                  <a:pt x="1858028" y="42747"/>
                </a:lnTo>
                <a:lnTo>
                  <a:pt x="1821902" y="19777"/>
                </a:lnTo>
                <a:lnTo>
                  <a:pt x="1780951" y="5139"/>
                </a:lnTo>
                <a:lnTo>
                  <a:pt x="1736344" y="0"/>
                </a:lnTo>
                <a:close/>
              </a:path>
            </a:pathLst>
          </a:custGeom>
          <a:solidFill>
            <a:srgbClr val="7B7B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43096" y="1722501"/>
            <a:ext cx="124206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3365" marR="5080" indent="-241300">
              <a:lnSpc>
                <a:spcPct val="101099"/>
              </a:lnSpc>
              <a:spcBef>
                <a:spcPts val="95"/>
              </a:spcBef>
            </a:pPr>
            <a:r>
              <a:rPr sz="1850" b="1" spc="5" dirty="0">
                <a:solidFill>
                  <a:srgbClr val="FFFFFF"/>
                </a:solidFill>
                <a:latin typeface="Microsoft PhagsPa"/>
                <a:cs typeface="Microsoft PhagsPa"/>
              </a:rPr>
              <a:t>Persediaan  Masuk</a:t>
            </a:r>
            <a:endParaRPr sz="1850">
              <a:latin typeface="Microsoft PhagsPa"/>
              <a:cs typeface="Microsoft PhagsP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943600" y="1447800"/>
            <a:ext cx="1931035" cy="1169035"/>
          </a:xfrm>
          <a:custGeom>
            <a:avLst/>
            <a:gdLst/>
            <a:ahLst/>
            <a:cxnLst/>
            <a:rect l="l" t="t" r="r" b="b"/>
            <a:pathLst>
              <a:path w="1931034" h="1169035">
                <a:moveTo>
                  <a:pt x="1736090" y="0"/>
                </a:moveTo>
                <a:lnTo>
                  <a:pt x="194817" y="0"/>
                </a:lnTo>
                <a:lnTo>
                  <a:pt x="150156" y="5146"/>
                </a:lnTo>
                <a:lnTo>
                  <a:pt x="109153" y="19806"/>
                </a:lnTo>
                <a:lnTo>
                  <a:pt x="72980" y="42807"/>
                </a:lnTo>
                <a:lnTo>
                  <a:pt x="42807" y="72980"/>
                </a:lnTo>
                <a:lnTo>
                  <a:pt x="19806" y="109153"/>
                </a:lnTo>
                <a:lnTo>
                  <a:pt x="5146" y="150156"/>
                </a:lnTo>
                <a:lnTo>
                  <a:pt x="0" y="194817"/>
                </a:lnTo>
                <a:lnTo>
                  <a:pt x="0" y="974089"/>
                </a:lnTo>
                <a:lnTo>
                  <a:pt x="5146" y="1018751"/>
                </a:lnTo>
                <a:lnTo>
                  <a:pt x="19806" y="1059754"/>
                </a:lnTo>
                <a:lnTo>
                  <a:pt x="42807" y="1095927"/>
                </a:lnTo>
                <a:lnTo>
                  <a:pt x="72980" y="1126100"/>
                </a:lnTo>
                <a:lnTo>
                  <a:pt x="109153" y="1149101"/>
                </a:lnTo>
                <a:lnTo>
                  <a:pt x="150156" y="1163761"/>
                </a:lnTo>
                <a:lnTo>
                  <a:pt x="194817" y="1168908"/>
                </a:lnTo>
                <a:lnTo>
                  <a:pt x="1736090" y="1168908"/>
                </a:lnTo>
                <a:lnTo>
                  <a:pt x="1780751" y="1163761"/>
                </a:lnTo>
                <a:lnTo>
                  <a:pt x="1821754" y="1149101"/>
                </a:lnTo>
                <a:lnTo>
                  <a:pt x="1857927" y="1126100"/>
                </a:lnTo>
                <a:lnTo>
                  <a:pt x="1888100" y="1095927"/>
                </a:lnTo>
                <a:lnTo>
                  <a:pt x="1911101" y="1059754"/>
                </a:lnTo>
                <a:lnTo>
                  <a:pt x="1925761" y="1018751"/>
                </a:lnTo>
                <a:lnTo>
                  <a:pt x="1930907" y="974089"/>
                </a:lnTo>
                <a:lnTo>
                  <a:pt x="1930907" y="194817"/>
                </a:lnTo>
                <a:lnTo>
                  <a:pt x="1925761" y="150156"/>
                </a:lnTo>
                <a:lnTo>
                  <a:pt x="1911101" y="109153"/>
                </a:lnTo>
                <a:lnTo>
                  <a:pt x="1888100" y="72980"/>
                </a:lnTo>
                <a:lnTo>
                  <a:pt x="1857927" y="42807"/>
                </a:lnTo>
                <a:lnTo>
                  <a:pt x="1821754" y="19806"/>
                </a:lnTo>
                <a:lnTo>
                  <a:pt x="1780751" y="5146"/>
                </a:lnTo>
                <a:lnTo>
                  <a:pt x="1736090" y="0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288151" y="1729232"/>
            <a:ext cx="1242060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3525" marR="5080" indent="-251460">
              <a:lnSpc>
                <a:spcPct val="101099"/>
              </a:lnSpc>
              <a:spcBef>
                <a:spcPts val="95"/>
              </a:spcBef>
            </a:pPr>
            <a:r>
              <a:rPr sz="1850" b="1" spc="5" dirty="0">
                <a:solidFill>
                  <a:srgbClr val="FFFFFF"/>
                </a:solidFill>
                <a:latin typeface="Microsoft PhagsPa"/>
                <a:cs typeface="Microsoft PhagsPa"/>
              </a:rPr>
              <a:t>Persediaan  Keluar</a:t>
            </a:r>
            <a:endParaRPr sz="1850">
              <a:latin typeface="Microsoft PhagsPa"/>
              <a:cs typeface="Microsoft PhagsP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839200" y="1484375"/>
            <a:ext cx="1931035" cy="1167765"/>
          </a:xfrm>
          <a:custGeom>
            <a:avLst/>
            <a:gdLst/>
            <a:ahLst/>
            <a:cxnLst/>
            <a:rect l="l" t="t" r="r" b="b"/>
            <a:pathLst>
              <a:path w="1931034" h="1167764">
                <a:moveTo>
                  <a:pt x="1736344" y="0"/>
                </a:moveTo>
                <a:lnTo>
                  <a:pt x="194564" y="0"/>
                </a:lnTo>
                <a:lnTo>
                  <a:pt x="149956" y="5139"/>
                </a:lnTo>
                <a:lnTo>
                  <a:pt x="109005" y="19777"/>
                </a:lnTo>
                <a:lnTo>
                  <a:pt x="72879" y="42747"/>
                </a:lnTo>
                <a:lnTo>
                  <a:pt x="42747" y="72879"/>
                </a:lnTo>
                <a:lnTo>
                  <a:pt x="19777" y="109005"/>
                </a:lnTo>
                <a:lnTo>
                  <a:pt x="5139" y="149956"/>
                </a:lnTo>
                <a:lnTo>
                  <a:pt x="0" y="194563"/>
                </a:lnTo>
                <a:lnTo>
                  <a:pt x="0" y="972820"/>
                </a:lnTo>
                <a:lnTo>
                  <a:pt x="5139" y="1017427"/>
                </a:lnTo>
                <a:lnTo>
                  <a:pt x="19777" y="1058378"/>
                </a:lnTo>
                <a:lnTo>
                  <a:pt x="42747" y="1094504"/>
                </a:lnTo>
                <a:lnTo>
                  <a:pt x="72879" y="1124636"/>
                </a:lnTo>
                <a:lnTo>
                  <a:pt x="109005" y="1147606"/>
                </a:lnTo>
                <a:lnTo>
                  <a:pt x="149956" y="1162244"/>
                </a:lnTo>
                <a:lnTo>
                  <a:pt x="194564" y="1167384"/>
                </a:lnTo>
                <a:lnTo>
                  <a:pt x="1736344" y="1167384"/>
                </a:lnTo>
                <a:lnTo>
                  <a:pt x="1780951" y="1162244"/>
                </a:lnTo>
                <a:lnTo>
                  <a:pt x="1821902" y="1147606"/>
                </a:lnTo>
                <a:lnTo>
                  <a:pt x="1858028" y="1124636"/>
                </a:lnTo>
                <a:lnTo>
                  <a:pt x="1888160" y="1094504"/>
                </a:lnTo>
                <a:lnTo>
                  <a:pt x="1911130" y="1058378"/>
                </a:lnTo>
                <a:lnTo>
                  <a:pt x="1925768" y="1017427"/>
                </a:lnTo>
                <a:lnTo>
                  <a:pt x="1930907" y="972820"/>
                </a:lnTo>
                <a:lnTo>
                  <a:pt x="1930907" y="194563"/>
                </a:lnTo>
                <a:lnTo>
                  <a:pt x="1925768" y="149956"/>
                </a:lnTo>
                <a:lnTo>
                  <a:pt x="1911130" y="109005"/>
                </a:lnTo>
                <a:lnTo>
                  <a:pt x="1888160" y="72879"/>
                </a:lnTo>
                <a:lnTo>
                  <a:pt x="1858028" y="42747"/>
                </a:lnTo>
                <a:lnTo>
                  <a:pt x="1821902" y="19777"/>
                </a:lnTo>
                <a:lnTo>
                  <a:pt x="1780951" y="5139"/>
                </a:lnTo>
                <a:lnTo>
                  <a:pt x="1736344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148953" y="1765172"/>
            <a:ext cx="1313815" cy="596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25" marR="5080" indent="-35560">
              <a:lnSpc>
                <a:spcPct val="101099"/>
              </a:lnSpc>
              <a:spcBef>
                <a:spcPts val="95"/>
              </a:spcBef>
            </a:pPr>
            <a:r>
              <a:rPr sz="1850" b="1" spc="5" dirty="0">
                <a:solidFill>
                  <a:srgbClr val="FFFFFF"/>
                </a:solidFill>
                <a:latin typeface="Microsoft PhagsPa"/>
                <a:cs typeface="Microsoft PhagsPa"/>
              </a:rPr>
              <a:t>Saldo</a:t>
            </a:r>
            <a:r>
              <a:rPr sz="1850" b="1" spc="-95" dirty="0">
                <a:solidFill>
                  <a:srgbClr val="FFFFFF"/>
                </a:solidFill>
                <a:latin typeface="Microsoft PhagsPa"/>
                <a:cs typeface="Microsoft PhagsPa"/>
              </a:rPr>
              <a:t> </a:t>
            </a:r>
            <a:r>
              <a:rPr sz="1850" b="1" spc="5" dirty="0">
                <a:solidFill>
                  <a:srgbClr val="FFFFFF"/>
                </a:solidFill>
                <a:latin typeface="Microsoft PhagsPa"/>
                <a:cs typeface="Microsoft PhagsPa"/>
              </a:rPr>
              <a:t>Akhir </a:t>
            </a:r>
            <a:r>
              <a:rPr sz="1850" b="1" spc="-495" dirty="0">
                <a:solidFill>
                  <a:srgbClr val="FFFFFF"/>
                </a:solidFill>
                <a:latin typeface="Microsoft PhagsPa"/>
                <a:cs typeface="Microsoft PhagsPa"/>
              </a:rPr>
              <a:t> </a:t>
            </a:r>
            <a:r>
              <a:rPr sz="1850" b="1" spc="5" dirty="0">
                <a:solidFill>
                  <a:srgbClr val="FFFFFF"/>
                </a:solidFill>
                <a:latin typeface="Microsoft PhagsPa"/>
                <a:cs typeface="Microsoft PhagsPa"/>
              </a:rPr>
              <a:t>Persediaan</a:t>
            </a:r>
            <a:endParaRPr sz="1850">
              <a:latin typeface="Microsoft PhagsPa"/>
              <a:cs typeface="Microsoft PhagsP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063103" y="1855089"/>
            <a:ext cx="535940" cy="144145"/>
            <a:chOff x="8063103" y="1855089"/>
            <a:chExt cx="535940" cy="144145"/>
          </a:xfrm>
        </p:grpSpPr>
        <p:sp>
          <p:nvSpPr>
            <p:cNvPr id="17" name="object 17"/>
            <p:cNvSpPr/>
            <p:nvPr/>
          </p:nvSpPr>
          <p:spPr>
            <a:xfrm>
              <a:off x="8069453" y="1861439"/>
              <a:ext cx="523240" cy="131445"/>
            </a:xfrm>
            <a:custGeom>
              <a:avLst/>
              <a:gdLst/>
              <a:ahLst/>
              <a:cxnLst/>
              <a:rect l="l" t="t" r="r" b="b"/>
              <a:pathLst>
                <a:path w="523240" h="131444">
                  <a:moveTo>
                    <a:pt x="522986" y="0"/>
                  </a:moveTo>
                  <a:lnTo>
                    <a:pt x="0" y="0"/>
                  </a:lnTo>
                  <a:lnTo>
                    <a:pt x="0" y="131190"/>
                  </a:lnTo>
                  <a:lnTo>
                    <a:pt x="522986" y="131190"/>
                  </a:lnTo>
                  <a:lnTo>
                    <a:pt x="5229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69453" y="1861439"/>
              <a:ext cx="523240" cy="131445"/>
            </a:xfrm>
            <a:custGeom>
              <a:avLst/>
              <a:gdLst/>
              <a:ahLst/>
              <a:cxnLst/>
              <a:rect l="l" t="t" r="r" b="b"/>
              <a:pathLst>
                <a:path w="523240" h="131444">
                  <a:moveTo>
                    <a:pt x="0" y="0"/>
                  </a:moveTo>
                  <a:lnTo>
                    <a:pt x="522986" y="0"/>
                  </a:lnTo>
                  <a:lnTo>
                    <a:pt x="522986" y="131190"/>
                  </a:lnTo>
                  <a:lnTo>
                    <a:pt x="0" y="13119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8063103" y="2051811"/>
            <a:ext cx="535940" cy="144145"/>
            <a:chOff x="8063103" y="2051811"/>
            <a:chExt cx="535940" cy="144145"/>
          </a:xfrm>
        </p:grpSpPr>
        <p:sp>
          <p:nvSpPr>
            <p:cNvPr id="20" name="object 20"/>
            <p:cNvSpPr/>
            <p:nvPr/>
          </p:nvSpPr>
          <p:spPr>
            <a:xfrm>
              <a:off x="8069453" y="2058161"/>
              <a:ext cx="523240" cy="131445"/>
            </a:xfrm>
            <a:custGeom>
              <a:avLst/>
              <a:gdLst/>
              <a:ahLst/>
              <a:cxnLst/>
              <a:rect l="l" t="t" r="r" b="b"/>
              <a:pathLst>
                <a:path w="523240" h="131444">
                  <a:moveTo>
                    <a:pt x="522986" y="0"/>
                  </a:moveTo>
                  <a:lnTo>
                    <a:pt x="0" y="0"/>
                  </a:lnTo>
                  <a:lnTo>
                    <a:pt x="0" y="131190"/>
                  </a:lnTo>
                  <a:lnTo>
                    <a:pt x="522986" y="131190"/>
                  </a:lnTo>
                  <a:lnTo>
                    <a:pt x="5229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069453" y="2058161"/>
              <a:ext cx="523240" cy="131445"/>
            </a:xfrm>
            <a:custGeom>
              <a:avLst/>
              <a:gdLst/>
              <a:ahLst/>
              <a:cxnLst/>
              <a:rect l="l" t="t" r="r" b="b"/>
              <a:pathLst>
                <a:path w="523240" h="131444">
                  <a:moveTo>
                    <a:pt x="0" y="0"/>
                  </a:moveTo>
                  <a:lnTo>
                    <a:pt x="522986" y="0"/>
                  </a:lnTo>
                  <a:lnTo>
                    <a:pt x="522986" y="131190"/>
                  </a:lnTo>
                  <a:lnTo>
                    <a:pt x="0" y="13119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455672" y="1814067"/>
            <a:ext cx="422909" cy="422909"/>
            <a:chOff x="2455672" y="1814067"/>
            <a:chExt cx="422909" cy="422909"/>
          </a:xfrm>
        </p:grpSpPr>
        <p:sp>
          <p:nvSpPr>
            <p:cNvPr id="23" name="object 23"/>
            <p:cNvSpPr/>
            <p:nvPr/>
          </p:nvSpPr>
          <p:spPr>
            <a:xfrm>
              <a:off x="2462022" y="1819909"/>
              <a:ext cx="410209" cy="410209"/>
            </a:xfrm>
            <a:custGeom>
              <a:avLst/>
              <a:gdLst/>
              <a:ahLst/>
              <a:cxnLst/>
              <a:rect l="l" t="t" r="r" b="b"/>
              <a:pathLst>
                <a:path w="410210" h="410210">
                  <a:moveTo>
                    <a:pt x="409956" y="139700"/>
                  </a:moveTo>
                  <a:lnTo>
                    <a:pt x="270510" y="139700"/>
                  </a:lnTo>
                  <a:lnTo>
                    <a:pt x="270510" y="0"/>
                  </a:lnTo>
                  <a:lnTo>
                    <a:pt x="139446" y="0"/>
                  </a:lnTo>
                  <a:lnTo>
                    <a:pt x="139446" y="139700"/>
                  </a:lnTo>
                  <a:lnTo>
                    <a:pt x="0" y="139700"/>
                  </a:lnTo>
                  <a:lnTo>
                    <a:pt x="0" y="270510"/>
                  </a:lnTo>
                  <a:lnTo>
                    <a:pt x="139446" y="270510"/>
                  </a:lnTo>
                  <a:lnTo>
                    <a:pt x="139446" y="410210"/>
                  </a:lnTo>
                  <a:lnTo>
                    <a:pt x="270510" y="410210"/>
                  </a:lnTo>
                  <a:lnTo>
                    <a:pt x="270510" y="270510"/>
                  </a:lnTo>
                  <a:lnTo>
                    <a:pt x="409956" y="270510"/>
                  </a:lnTo>
                  <a:lnTo>
                    <a:pt x="409956" y="139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62022" y="1820417"/>
              <a:ext cx="410209" cy="410209"/>
            </a:xfrm>
            <a:custGeom>
              <a:avLst/>
              <a:gdLst/>
              <a:ahLst/>
              <a:cxnLst/>
              <a:rect l="l" t="t" r="r" b="b"/>
              <a:pathLst>
                <a:path w="410210" h="410210">
                  <a:moveTo>
                    <a:pt x="0" y="139319"/>
                  </a:moveTo>
                  <a:lnTo>
                    <a:pt x="139445" y="139319"/>
                  </a:lnTo>
                  <a:lnTo>
                    <a:pt x="139445" y="0"/>
                  </a:lnTo>
                  <a:lnTo>
                    <a:pt x="270509" y="0"/>
                  </a:lnTo>
                  <a:lnTo>
                    <a:pt x="270509" y="139319"/>
                  </a:lnTo>
                  <a:lnTo>
                    <a:pt x="409955" y="139319"/>
                  </a:lnTo>
                  <a:lnTo>
                    <a:pt x="409955" y="270510"/>
                  </a:lnTo>
                  <a:lnTo>
                    <a:pt x="270509" y="270510"/>
                  </a:lnTo>
                  <a:lnTo>
                    <a:pt x="270509" y="409956"/>
                  </a:lnTo>
                  <a:lnTo>
                    <a:pt x="139445" y="409956"/>
                  </a:lnTo>
                  <a:lnTo>
                    <a:pt x="139445" y="270510"/>
                  </a:lnTo>
                  <a:lnTo>
                    <a:pt x="0" y="270510"/>
                  </a:lnTo>
                  <a:lnTo>
                    <a:pt x="0" y="13931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5212460" y="1967376"/>
            <a:ext cx="497840" cy="116205"/>
            <a:chOff x="5212460" y="1967376"/>
            <a:chExt cx="497840" cy="116205"/>
          </a:xfrm>
        </p:grpSpPr>
        <p:sp>
          <p:nvSpPr>
            <p:cNvPr id="26" name="object 26"/>
            <p:cNvSpPr/>
            <p:nvPr/>
          </p:nvSpPr>
          <p:spPr>
            <a:xfrm>
              <a:off x="5218810" y="1973726"/>
              <a:ext cx="485140" cy="103505"/>
            </a:xfrm>
            <a:custGeom>
              <a:avLst/>
              <a:gdLst/>
              <a:ahLst/>
              <a:cxnLst/>
              <a:rect l="l" t="t" r="r" b="b"/>
              <a:pathLst>
                <a:path w="485139" h="103505">
                  <a:moveTo>
                    <a:pt x="484949" y="0"/>
                  </a:moveTo>
                  <a:lnTo>
                    <a:pt x="0" y="0"/>
                  </a:lnTo>
                  <a:lnTo>
                    <a:pt x="0" y="103231"/>
                  </a:lnTo>
                  <a:lnTo>
                    <a:pt x="484949" y="103231"/>
                  </a:lnTo>
                  <a:lnTo>
                    <a:pt x="4849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218810" y="1973726"/>
              <a:ext cx="485140" cy="103505"/>
            </a:xfrm>
            <a:custGeom>
              <a:avLst/>
              <a:gdLst/>
              <a:ahLst/>
              <a:cxnLst/>
              <a:rect l="l" t="t" r="r" b="b"/>
              <a:pathLst>
                <a:path w="485139" h="103505">
                  <a:moveTo>
                    <a:pt x="0" y="103231"/>
                  </a:moveTo>
                  <a:lnTo>
                    <a:pt x="484949" y="103231"/>
                  </a:lnTo>
                  <a:lnTo>
                    <a:pt x="484949" y="0"/>
                  </a:lnTo>
                  <a:lnTo>
                    <a:pt x="0" y="0"/>
                  </a:lnTo>
                  <a:lnTo>
                    <a:pt x="0" y="10323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148064" y="5880912"/>
            <a:ext cx="1433195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5" dirty="0">
                <a:latin typeface="Microsoft PhagsPa"/>
                <a:cs typeface="Microsoft PhagsPa"/>
                <a:hlinkClick r:id="rId4" action="ppaction://hlinksldjump"/>
              </a:rPr>
              <a:t>Koreksi</a:t>
            </a:r>
            <a:r>
              <a:rPr sz="1850" b="1" spc="-65" dirty="0">
                <a:latin typeface="Microsoft PhagsPa"/>
                <a:cs typeface="Microsoft PhagsPa"/>
                <a:hlinkClick r:id="rId4" action="ppaction://hlinksldjump"/>
              </a:rPr>
              <a:t> </a:t>
            </a:r>
            <a:r>
              <a:rPr sz="1850" b="1" dirty="0">
                <a:latin typeface="Microsoft PhagsPa"/>
                <a:cs typeface="Microsoft PhagsPa"/>
                <a:hlinkClick r:id="rId4" action="ppaction://hlinksldjump"/>
              </a:rPr>
              <a:t>Nilai</a:t>
            </a:r>
            <a:endParaRPr sz="1850">
              <a:latin typeface="Microsoft PhagsPa"/>
              <a:cs typeface="Microsoft PhagsP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889492" y="4648200"/>
            <a:ext cx="1922145" cy="855344"/>
          </a:xfrm>
          <a:custGeom>
            <a:avLst/>
            <a:gdLst/>
            <a:ahLst/>
            <a:cxnLst/>
            <a:rect l="l" t="t" r="r" b="b"/>
            <a:pathLst>
              <a:path w="1922145" h="855345">
                <a:moveTo>
                  <a:pt x="1779269" y="0"/>
                </a:moveTo>
                <a:lnTo>
                  <a:pt x="142493" y="0"/>
                </a:lnTo>
                <a:lnTo>
                  <a:pt x="97438" y="7260"/>
                </a:lnTo>
                <a:lnTo>
                  <a:pt x="58320" y="27480"/>
                </a:lnTo>
                <a:lnTo>
                  <a:pt x="27480" y="58320"/>
                </a:lnTo>
                <a:lnTo>
                  <a:pt x="7260" y="97438"/>
                </a:lnTo>
                <a:lnTo>
                  <a:pt x="0" y="142494"/>
                </a:lnTo>
                <a:lnTo>
                  <a:pt x="0" y="712469"/>
                </a:lnTo>
                <a:lnTo>
                  <a:pt x="7260" y="757525"/>
                </a:lnTo>
                <a:lnTo>
                  <a:pt x="27480" y="796643"/>
                </a:lnTo>
                <a:lnTo>
                  <a:pt x="58320" y="827483"/>
                </a:lnTo>
                <a:lnTo>
                  <a:pt x="97438" y="847703"/>
                </a:lnTo>
                <a:lnTo>
                  <a:pt x="142493" y="854963"/>
                </a:lnTo>
                <a:lnTo>
                  <a:pt x="1779269" y="854963"/>
                </a:lnTo>
                <a:lnTo>
                  <a:pt x="1824325" y="847703"/>
                </a:lnTo>
                <a:lnTo>
                  <a:pt x="1863443" y="827483"/>
                </a:lnTo>
                <a:lnTo>
                  <a:pt x="1894283" y="796643"/>
                </a:lnTo>
                <a:lnTo>
                  <a:pt x="1914503" y="757525"/>
                </a:lnTo>
                <a:lnTo>
                  <a:pt x="1921763" y="712469"/>
                </a:lnTo>
                <a:lnTo>
                  <a:pt x="1921763" y="142494"/>
                </a:lnTo>
                <a:lnTo>
                  <a:pt x="1914503" y="97438"/>
                </a:lnTo>
                <a:lnTo>
                  <a:pt x="1894283" y="58320"/>
                </a:lnTo>
                <a:lnTo>
                  <a:pt x="1863443" y="27480"/>
                </a:lnTo>
                <a:lnTo>
                  <a:pt x="1824325" y="7260"/>
                </a:lnTo>
                <a:lnTo>
                  <a:pt x="1779269" y="0"/>
                </a:lnTo>
                <a:close/>
              </a:path>
            </a:pathLst>
          </a:custGeom>
          <a:solidFill>
            <a:srgbClr val="6F2F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424796" y="4772609"/>
            <a:ext cx="852805" cy="5969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b="1" spc="15" dirty="0">
                <a:solidFill>
                  <a:srgbClr val="FFFFFF"/>
                </a:solidFill>
                <a:latin typeface="Microsoft PhagsPa"/>
                <a:cs typeface="Microsoft PhagsPa"/>
                <a:hlinkClick r:id="rId5" action="ppaction://hlinksldjump"/>
              </a:rPr>
              <a:t>K</a:t>
            </a:r>
            <a:r>
              <a:rPr sz="1850" b="1" dirty="0">
                <a:solidFill>
                  <a:srgbClr val="FFFFFF"/>
                </a:solidFill>
                <a:latin typeface="Microsoft PhagsPa"/>
                <a:cs typeface="Microsoft PhagsPa"/>
                <a:hlinkClick r:id="rId5" action="ppaction://hlinksldjump"/>
              </a:rPr>
              <a:t>o</a:t>
            </a:r>
            <a:r>
              <a:rPr sz="1850" b="1" spc="5" dirty="0">
                <a:solidFill>
                  <a:srgbClr val="FFFFFF"/>
                </a:solidFill>
                <a:latin typeface="Microsoft PhagsPa"/>
                <a:cs typeface="Microsoft PhagsPa"/>
                <a:hlinkClick r:id="rId5" action="ppaction://hlinksldjump"/>
              </a:rPr>
              <a:t>r</a:t>
            </a:r>
            <a:r>
              <a:rPr sz="1850" b="1" dirty="0">
                <a:solidFill>
                  <a:srgbClr val="FFFFFF"/>
                </a:solidFill>
                <a:latin typeface="Microsoft PhagsPa"/>
                <a:cs typeface="Microsoft PhagsPa"/>
                <a:hlinkClick r:id="rId5" action="ppaction://hlinksldjump"/>
              </a:rPr>
              <a:t>e</a:t>
            </a:r>
            <a:r>
              <a:rPr sz="1850" b="1" spc="5" dirty="0">
                <a:solidFill>
                  <a:srgbClr val="FFFFFF"/>
                </a:solidFill>
                <a:latin typeface="Microsoft PhagsPa"/>
                <a:cs typeface="Microsoft PhagsPa"/>
                <a:hlinkClick r:id="rId5" action="ppaction://hlinksldjump"/>
              </a:rPr>
              <a:t>ksi</a:t>
            </a:r>
            <a:endParaRPr sz="1850">
              <a:latin typeface="Microsoft PhagsPa"/>
              <a:cs typeface="Microsoft PhagsPa"/>
            </a:endParaRPr>
          </a:p>
          <a:p>
            <a:pPr marL="22860">
              <a:lnSpc>
                <a:spcPct val="100000"/>
              </a:lnSpc>
              <a:spcBef>
                <a:spcPts val="25"/>
              </a:spcBef>
            </a:pPr>
            <a:r>
              <a:rPr sz="1850" b="1" spc="5" dirty="0">
                <a:solidFill>
                  <a:srgbClr val="FFFFFF"/>
                </a:solidFill>
                <a:latin typeface="Microsoft PhagsPa"/>
                <a:cs typeface="Microsoft PhagsPa"/>
                <a:hlinkClick r:id="rId5" action="ppaction://hlinksldjump"/>
              </a:rPr>
              <a:t>Jumlah</a:t>
            </a:r>
            <a:endParaRPr sz="1850">
              <a:latin typeface="Microsoft PhagsPa"/>
              <a:cs typeface="Microsoft PhagsP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889492" y="3692652"/>
            <a:ext cx="1922145" cy="853440"/>
          </a:xfrm>
          <a:custGeom>
            <a:avLst/>
            <a:gdLst/>
            <a:ahLst/>
            <a:cxnLst/>
            <a:rect l="l" t="t" r="r" b="b"/>
            <a:pathLst>
              <a:path w="1922145" h="853439">
                <a:moveTo>
                  <a:pt x="1779524" y="0"/>
                </a:moveTo>
                <a:lnTo>
                  <a:pt x="142239" y="0"/>
                </a:lnTo>
                <a:lnTo>
                  <a:pt x="97259" y="7246"/>
                </a:lnTo>
                <a:lnTo>
                  <a:pt x="58210" y="27427"/>
                </a:lnTo>
                <a:lnTo>
                  <a:pt x="27427" y="58210"/>
                </a:lnTo>
                <a:lnTo>
                  <a:pt x="7246" y="97259"/>
                </a:lnTo>
                <a:lnTo>
                  <a:pt x="0" y="142240"/>
                </a:lnTo>
                <a:lnTo>
                  <a:pt x="0" y="711200"/>
                </a:lnTo>
                <a:lnTo>
                  <a:pt x="7246" y="756180"/>
                </a:lnTo>
                <a:lnTo>
                  <a:pt x="27427" y="795229"/>
                </a:lnTo>
                <a:lnTo>
                  <a:pt x="58210" y="826012"/>
                </a:lnTo>
                <a:lnTo>
                  <a:pt x="97259" y="846193"/>
                </a:lnTo>
                <a:lnTo>
                  <a:pt x="142239" y="853440"/>
                </a:lnTo>
                <a:lnTo>
                  <a:pt x="1779524" y="853440"/>
                </a:lnTo>
                <a:lnTo>
                  <a:pt x="1824504" y="846193"/>
                </a:lnTo>
                <a:lnTo>
                  <a:pt x="1863553" y="826012"/>
                </a:lnTo>
                <a:lnTo>
                  <a:pt x="1894336" y="795229"/>
                </a:lnTo>
                <a:lnTo>
                  <a:pt x="1914517" y="756180"/>
                </a:lnTo>
                <a:lnTo>
                  <a:pt x="1921763" y="711200"/>
                </a:lnTo>
                <a:lnTo>
                  <a:pt x="1921763" y="142240"/>
                </a:lnTo>
                <a:lnTo>
                  <a:pt x="1914517" y="97259"/>
                </a:lnTo>
                <a:lnTo>
                  <a:pt x="1894336" y="58210"/>
                </a:lnTo>
                <a:lnTo>
                  <a:pt x="1863553" y="27427"/>
                </a:lnTo>
                <a:lnTo>
                  <a:pt x="1824504" y="7246"/>
                </a:lnTo>
                <a:lnTo>
                  <a:pt x="1779524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086468" y="3959479"/>
            <a:ext cx="1529080" cy="3111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10" dirty="0">
                <a:latin typeface="Microsoft PhagsPa"/>
                <a:cs typeface="Microsoft PhagsPa"/>
                <a:hlinkClick r:id="rId6" action="ppaction://hlinksldjump"/>
              </a:rPr>
              <a:t>Opname</a:t>
            </a:r>
            <a:r>
              <a:rPr sz="1850" b="1" spc="-90" dirty="0">
                <a:latin typeface="Microsoft PhagsPa"/>
                <a:cs typeface="Microsoft PhagsPa"/>
                <a:hlinkClick r:id="rId6" action="ppaction://hlinksldjump"/>
              </a:rPr>
              <a:t> </a:t>
            </a:r>
            <a:r>
              <a:rPr sz="1850" b="1" spc="5" dirty="0">
                <a:latin typeface="Microsoft PhagsPa"/>
                <a:cs typeface="Microsoft PhagsPa"/>
                <a:hlinkClick r:id="rId6" action="ppaction://hlinksldjump"/>
              </a:rPr>
              <a:t>Fisik</a:t>
            </a:r>
            <a:endParaRPr sz="1850">
              <a:latin typeface="Microsoft PhagsPa"/>
              <a:cs typeface="Microsoft PhagsP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5343" y="2762199"/>
            <a:ext cx="191008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-180" dirty="0">
                <a:latin typeface="Microsoft Sans Serif"/>
                <a:cs typeface="Microsoft Sans Serif"/>
              </a:rPr>
              <a:t>Transaksi </a:t>
            </a:r>
            <a:r>
              <a:rPr sz="3200" spc="-175" dirty="0">
                <a:latin typeface="Microsoft Sans Serif"/>
                <a:cs typeface="Microsoft Sans Serif"/>
              </a:rPr>
              <a:t> </a:t>
            </a:r>
            <a:r>
              <a:rPr sz="3200" spc="-265" dirty="0">
                <a:latin typeface="Microsoft Sans Serif"/>
                <a:cs typeface="Microsoft Sans Serif"/>
              </a:rPr>
              <a:t>Per</a:t>
            </a:r>
            <a:r>
              <a:rPr sz="3200" spc="-245" dirty="0">
                <a:latin typeface="Microsoft Sans Serif"/>
                <a:cs typeface="Microsoft Sans Serif"/>
              </a:rPr>
              <a:t>s</a:t>
            </a:r>
            <a:r>
              <a:rPr sz="3200" spc="-65" dirty="0">
                <a:latin typeface="Microsoft Sans Serif"/>
                <a:cs typeface="Microsoft Sans Serif"/>
              </a:rPr>
              <a:t>ediaan</a:t>
            </a:r>
            <a:endParaRPr sz="3200">
              <a:latin typeface="Microsoft Sans Serif"/>
              <a:cs typeface="Microsoft Sans Serif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359392" y="2926588"/>
            <a:ext cx="422909" cy="422909"/>
            <a:chOff x="9359392" y="2926588"/>
            <a:chExt cx="422909" cy="422909"/>
          </a:xfrm>
        </p:grpSpPr>
        <p:sp>
          <p:nvSpPr>
            <p:cNvPr id="35" name="object 35"/>
            <p:cNvSpPr/>
            <p:nvPr/>
          </p:nvSpPr>
          <p:spPr>
            <a:xfrm>
              <a:off x="9365742" y="2932429"/>
              <a:ext cx="410209" cy="410209"/>
            </a:xfrm>
            <a:custGeom>
              <a:avLst/>
              <a:gdLst/>
              <a:ahLst/>
              <a:cxnLst/>
              <a:rect l="l" t="t" r="r" b="b"/>
              <a:pathLst>
                <a:path w="410209" h="410210">
                  <a:moveTo>
                    <a:pt x="409956" y="139700"/>
                  </a:moveTo>
                  <a:lnTo>
                    <a:pt x="270510" y="139700"/>
                  </a:lnTo>
                  <a:lnTo>
                    <a:pt x="270510" y="0"/>
                  </a:lnTo>
                  <a:lnTo>
                    <a:pt x="139446" y="0"/>
                  </a:lnTo>
                  <a:lnTo>
                    <a:pt x="139446" y="139700"/>
                  </a:lnTo>
                  <a:lnTo>
                    <a:pt x="0" y="139700"/>
                  </a:lnTo>
                  <a:lnTo>
                    <a:pt x="0" y="270510"/>
                  </a:lnTo>
                  <a:lnTo>
                    <a:pt x="139446" y="270510"/>
                  </a:lnTo>
                  <a:lnTo>
                    <a:pt x="139446" y="410210"/>
                  </a:lnTo>
                  <a:lnTo>
                    <a:pt x="270510" y="410210"/>
                  </a:lnTo>
                  <a:lnTo>
                    <a:pt x="270510" y="270510"/>
                  </a:lnTo>
                  <a:lnTo>
                    <a:pt x="409956" y="270510"/>
                  </a:lnTo>
                  <a:lnTo>
                    <a:pt x="409956" y="1397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365742" y="2932938"/>
              <a:ext cx="410209" cy="410209"/>
            </a:xfrm>
            <a:custGeom>
              <a:avLst/>
              <a:gdLst/>
              <a:ahLst/>
              <a:cxnLst/>
              <a:rect l="l" t="t" r="r" b="b"/>
              <a:pathLst>
                <a:path w="410209" h="410210">
                  <a:moveTo>
                    <a:pt x="0" y="139446"/>
                  </a:moveTo>
                  <a:lnTo>
                    <a:pt x="139446" y="139446"/>
                  </a:lnTo>
                  <a:lnTo>
                    <a:pt x="139446" y="0"/>
                  </a:lnTo>
                  <a:lnTo>
                    <a:pt x="270509" y="0"/>
                  </a:lnTo>
                  <a:lnTo>
                    <a:pt x="270509" y="139446"/>
                  </a:lnTo>
                  <a:lnTo>
                    <a:pt x="409955" y="139446"/>
                  </a:lnTo>
                  <a:lnTo>
                    <a:pt x="409955" y="270510"/>
                  </a:lnTo>
                  <a:lnTo>
                    <a:pt x="270509" y="270510"/>
                  </a:lnTo>
                  <a:lnTo>
                    <a:pt x="270509" y="409956"/>
                  </a:lnTo>
                  <a:lnTo>
                    <a:pt x="139446" y="409956"/>
                  </a:lnTo>
                  <a:lnTo>
                    <a:pt x="139446" y="270510"/>
                  </a:lnTo>
                  <a:lnTo>
                    <a:pt x="0" y="270510"/>
                  </a:lnTo>
                  <a:lnTo>
                    <a:pt x="0" y="13944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9924033" y="3079896"/>
            <a:ext cx="384810" cy="116205"/>
            <a:chOff x="9924033" y="3079896"/>
            <a:chExt cx="384810" cy="116205"/>
          </a:xfrm>
        </p:grpSpPr>
        <p:sp>
          <p:nvSpPr>
            <p:cNvPr id="38" name="object 38"/>
            <p:cNvSpPr/>
            <p:nvPr/>
          </p:nvSpPr>
          <p:spPr>
            <a:xfrm>
              <a:off x="9930383" y="3086246"/>
              <a:ext cx="372110" cy="103505"/>
            </a:xfrm>
            <a:custGeom>
              <a:avLst/>
              <a:gdLst/>
              <a:ahLst/>
              <a:cxnLst/>
              <a:rect l="l" t="t" r="r" b="b"/>
              <a:pathLst>
                <a:path w="372109" h="103505">
                  <a:moveTo>
                    <a:pt x="371830" y="0"/>
                  </a:moveTo>
                  <a:lnTo>
                    <a:pt x="0" y="0"/>
                  </a:lnTo>
                  <a:lnTo>
                    <a:pt x="0" y="103231"/>
                  </a:lnTo>
                  <a:lnTo>
                    <a:pt x="371830" y="103231"/>
                  </a:lnTo>
                  <a:lnTo>
                    <a:pt x="371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930383" y="3086246"/>
              <a:ext cx="372110" cy="103505"/>
            </a:xfrm>
            <a:custGeom>
              <a:avLst/>
              <a:gdLst/>
              <a:ahLst/>
              <a:cxnLst/>
              <a:rect l="l" t="t" r="r" b="b"/>
              <a:pathLst>
                <a:path w="372109" h="103505">
                  <a:moveTo>
                    <a:pt x="0" y="103231"/>
                  </a:moveTo>
                  <a:lnTo>
                    <a:pt x="371830" y="103231"/>
                  </a:lnTo>
                  <a:lnTo>
                    <a:pt x="371830" y="0"/>
                  </a:lnTo>
                  <a:lnTo>
                    <a:pt x="0" y="0"/>
                  </a:lnTo>
                  <a:lnTo>
                    <a:pt x="0" y="103231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9144000" y="2817876"/>
            <a:ext cx="101600" cy="609600"/>
          </a:xfrm>
          <a:custGeom>
            <a:avLst/>
            <a:gdLst/>
            <a:ahLst/>
            <a:cxnLst/>
            <a:rect l="l" t="t" r="r" b="b"/>
            <a:pathLst>
              <a:path w="101600" h="609600">
                <a:moveTo>
                  <a:pt x="101600" y="609600"/>
                </a:moveTo>
                <a:lnTo>
                  <a:pt x="62043" y="601618"/>
                </a:lnTo>
                <a:lnTo>
                  <a:pt x="29749" y="579850"/>
                </a:lnTo>
                <a:lnTo>
                  <a:pt x="7981" y="547556"/>
                </a:lnTo>
                <a:lnTo>
                  <a:pt x="0" y="508000"/>
                </a:lnTo>
                <a:lnTo>
                  <a:pt x="0" y="101600"/>
                </a:lnTo>
                <a:lnTo>
                  <a:pt x="7981" y="62043"/>
                </a:lnTo>
                <a:lnTo>
                  <a:pt x="29749" y="29749"/>
                </a:lnTo>
                <a:lnTo>
                  <a:pt x="62043" y="7981"/>
                </a:lnTo>
                <a:lnTo>
                  <a:pt x="101600" y="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0414000" y="2817876"/>
            <a:ext cx="101600" cy="609600"/>
          </a:xfrm>
          <a:custGeom>
            <a:avLst/>
            <a:gdLst/>
            <a:ahLst/>
            <a:cxnLst/>
            <a:rect l="l" t="t" r="r" b="b"/>
            <a:pathLst>
              <a:path w="101600" h="609600">
                <a:moveTo>
                  <a:pt x="0" y="0"/>
                </a:moveTo>
                <a:lnTo>
                  <a:pt x="39556" y="7981"/>
                </a:lnTo>
                <a:lnTo>
                  <a:pt x="71850" y="29749"/>
                </a:lnTo>
                <a:lnTo>
                  <a:pt x="93618" y="62043"/>
                </a:lnTo>
                <a:lnTo>
                  <a:pt x="101600" y="101600"/>
                </a:lnTo>
                <a:lnTo>
                  <a:pt x="101600" y="508000"/>
                </a:lnTo>
                <a:lnTo>
                  <a:pt x="93618" y="547556"/>
                </a:lnTo>
                <a:lnTo>
                  <a:pt x="71850" y="579850"/>
                </a:lnTo>
                <a:lnTo>
                  <a:pt x="39556" y="601618"/>
                </a:lnTo>
                <a:lnTo>
                  <a:pt x="0" y="609600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98292" y="3156204"/>
            <a:ext cx="1931035" cy="3168650"/>
          </a:xfrm>
          <a:custGeom>
            <a:avLst/>
            <a:gdLst/>
            <a:ahLst/>
            <a:cxnLst/>
            <a:rect l="l" t="t" r="r" b="b"/>
            <a:pathLst>
              <a:path w="1931035" h="3168650">
                <a:moveTo>
                  <a:pt x="0" y="321818"/>
                </a:moveTo>
                <a:lnTo>
                  <a:pt x="3490" y="274276"/>
                </a:lnTo>
                <a:lnTo>
                  <a:pt x="13630" y="228895"/>
                </a:lnTo>
                <a:lnTo>
                  <a:pt x="29920" y="186174"/>
                </a:lnTo>
                <a:lnTo>
                  <a:pt x="51862" y="146612"/>
                </a:lnTo>
                <a:lnTo>
                  <a:pt x="78957" y="110706"/>
                </a:lnTo>
                <a:lnTo>
                  <a:pt x="110706" y="78957"/>
                </a:lnTo>
                <a:lnTo>
                  <a:pt x="146612" y="51862"/>
                </a:lnTo>
                <a:lnTo>
                  <a:pt x="186174" y="29920"/>
                </a:lnTo>
                <a:lnTo>
                  <a:pt x="228895" y="13630"/>
                </a:lnTo>
                <a:lnTo>
                  <a:pt x="274276" y="3490"/>
                </a:lnTo>
                <a:lnTo>
                  <a:pt x="321818" y="0"/>
                </a:lnTo>
                <a:lnTo>
                  <a:pt x="1609090" y="0"/>
                </a:lnTo>
                <a:lnTo>
                  <a:pt x="1656631" y="3490"/>
                </a:lnTo>
                <a:lnTo>
                  <a:pt x="1702012" y="13630"/>
                </a:lnTo>
                <a:lnTo>
                  <a:pt x="1744733" y="29920"/>
                </a:lnTo>
                <a:lnTo>
                  <a:pt x="1784295" y="51862"/>
                </a:lnTo>
                <a:lnTo>
                  <a:pt x="1820201" y="78957"/>
                </a:lnTo>
                <a:lnTo>
                  <a:pt x="1851950" y="110706"/>
                </a:lnTo>
                <a:lnTo>
                  <a:pt x="1879045" y="146612"/>
                </a:lnTo>
                <a:lnTo>
                  <a:pt x="1900987" y="186174"/>
                </a:lnTo>
                <a:lnTo>
                  <a:pt x="1917277" y="228895"/>
                </a:lnTo>
                <a:lnTo>
                  <a:pt x="1927417" y="274276"/>
                </a:lnTo>
                <a:lnTo>
                  <a:pt x="1930908" y="321818"/>
                </a:lnTo>
                <a:lnTo>
                  <a:pt x="1930908" y="2846565"/>
                </a:lnTo>
                <a:lnTo>
                  <a:pt x="1927417" y="2894124"/>
                </a:lnTo>
                <a:lnTo>
                  <a:pt x="1917277" y="2939516"/>
                </a:lnTo>
                <a:lnTo>
                  <a:pt x="1900987" y="2982244"/>
                </a:lnTo>
                <a:lnTo>
                  <a:pt x="1879045" y="3021808"/>
                </a:lnTo>
                <a:lnTo>
                  <a:pt x="1851950" y="3057712"/>
                </a:lnTo>
                <a:lnTo>
                  <a:pt x="1820201" y="3089458"/>
                </a:lnTo>
                <a:lnTo>
                  <a:pt x="1784295" y="3116548"/>
                </a:lnTo>
                <a:lnTo>
                  <a:pt x="1744733" y="3138485"/>
                </a:lnTo>
                <a:lnTo>
                  <a:pt x="1702012" y="3154770"/>
                </a:lnTo>
                <a:lnTo>
                  <a:pt x="1656631" y="3164906"/>
                </a:lnTo>
                <a:lnTo>
                  <a:pt x="1609090" y="3168396"/>
                </a:lnTo>
                <a:lnTo>
                  <a:pt x="321818" y="3168396"/>
                </a:lnTo>
                <a:lnTo>
                  <a:pt x="274276" y="3164906"/>
                </a:lnTo>
                <a:lnTo>
                  <a:pt x="228895" y="3154770"/>
                </a:lnTo>
                <a:lnTo>
                  <a:pt x="186174" y="3138485"/>
                </a:lnTo>
                <a:lnTo>
                  <a:pt x="146612" y="3116548"/>
                </a:lnTo>
                <a:lnTo>
                  <a:pt x="110706" y="3089458"/>
                </a:lnTo>
                <a:lnTo>
                  <a:pt x="78957" y="3057712"/>
                </a:lnTo>
                <a:lnTo>
                  <a:pt x="51862" y="3021808"/>
                </a:lnTo>
                <a:lnTo>
                  <a:pt x="29920" y="2982244"/>
                </a:lnTo>
                <a:lnTo>
                  <a:pt x="13630" y="2939516"/>
                </a:lnTo>
                <a:lnTo>
                  <a:pt x="3490" y="2894124"/>
                </a:lnTo>
                <a:lnTo>
                  <a:pt x="0" y="2846565"/>
                </a:lnTo>
                <a:lnTo>
                  <a:pt x="0" y="321818"/>
                </a:lnTo>
                <a:close/>
              </a:path>
            </a:pathLst>
          </a:custGeom>
          <a:ln w="127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272154" y="3506470"/>
            <a:ext cx="157353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03200" algn="l"/>
              </a:tabLst>
            </a:pPr>
            <a:r>
              <a:rPr sz="1600" spc="-5" dirty="0">
                <a:latin typeface="Microsoft PhagsPa"/>
                <a:cs typeface="Microsoft PhagsPa"/>
              </a:rPr>
              <a:t>Saldo</a:t>
            </a:r>
            <a:r>
              <a:rPr sz="1600" spc="-95" dirty="0">
                <a:latin typeface="Microsoft PhagsPa"/>
                <a:cs typeface="Microsoft PhagsPa"/>
              </a:rPr>
              <a:t> </a:t>
            </a:r>
            <a:r>
              <a:rPr sz="1600" dirty="0">
                <a:latin typeface="Microsoft PhagsPa"/>
                <a:cs typeface="Microsoft PhagsPa"/>
              </a:rPr>
              <a:t>awal</a:t>
            </a:r>
            <a:endParaRPr sz="1600">
              <a:latin typeface="Microsoft PhagsPa"/>
              <a:cs typeface="Microsoft PhagsPa"/>
            </a:endParaRPr>
          </a:p>
          <a:p>
            <a:pPr marL="203200" indent="-190500">
              <a:lnSpc>
                <a:spcPct val="100000"/>
              </a:lnSpc>
              <a:buFont typeface="Arial MT"/>
              <a:buChar char="•"/>
              <a:tabLst>
                <a:tab pos="203200" algn="l"/>
              </a:tabLst>
            </a:pPr>
            <a:r>
              <a:rPr sz="1600" spc="-5" dirty="0">
                <a:latin typeface="Microsoft PhagsPa"/>
                <a:cs typeface="Microsoft PhagsPa"/>
              </a:rPr>
              <a:t>Pembelian</a:t>
            </a:r>
            <a:endParaRPr sz="1600">
              <a:latin typeface="Microsoft PhagsPa"/>
              <a:cs typeface="Microsoft PhagsPa"/>
            </a:endParaRPr>
          </a:p>
          <a:p>
            <a:pPr marL="203200" indent="-190500">
              <a:lnSpc>
                <a:spcPct val="100000"/>
              </a:lnSpc>
              <a:buFont typeface="Arial MT"/>
              <a:buChar char="•"/>
              <a:tabLst>
                <a:tab pos="203200" algn="l"/>
              </a:tabLst>
            </a:pPr>
            <a:r>
              <a:rPr sz="1600" spc="-5" dirty="0">
                <a:latin typeface="Microsoft PhagsPa"/>
                <a:cs typeface="Microsoft PhagsPa"/>
              </a:rPr>
              <a:t>Transfer</a:t>
            </a:r>
            <a:r>
              <a:rPr sz="1600" spc="-45" dirty="0">
                <a:latin typeface="Microsoft PhagsPa"/>
                <a:cs typeface="Microsoft PhagsPa"/>
              </a:rPr>
              <a:t> </a:t>
            </a:r>
            <a:r>
              <a:rPr sz="1600" spc="-5" dirty="0">
                <a:latin typeface="Microsoft PhagsPa"/>
                <a:cs typeface="Microsoft PhagsPa"/>
              </a:rPr>
              <a:t>masuk</a:t>
            </a:r>
            <a:endParaRPr sz="1600">
              <a:latin typeface="Microsoft PhagsPa"/>
              <a:cs typeface="Microsoft PhagsPa"/>
            </a:endParaRPr>
          </a:p>
          <a:p>
            <a:pPr marL="203200" indent="-190500">
              <a:lnSpc>
                <a:spcPct val="100000"/>
              </a:lnSpc>
              <a:buFont typeface="Arial MT"/>
              <a:buChar char="•"/>
              <a:tabLst>
                <a:tab pos="203200" algn="l"/>
              </a:tabLst>
            </a:pPr>
            <a:r>
              <a:rPr sz="1600" spc="-10" dirty="0">
                <a:latin typeface="Microsoft PhagsPa"/>
                <a:cs typeface="Microsoft PhagsPa"/>
              </a:rPr>
              <a:t>Hibah</a:t>
            </a:r>
            <a:r>
              <a:rPr sz="1600" spc="-35" dirty="0">
                <a:latin typeface="Microsoft PhagsPa"/>
                <a:cs typeface="Microsoft PhagsPa"/>
              </a:rPr>
              <a:t> </a:t>
            </a:r>
            <a:r>
              <a:rPr sz="1600" spc="-5" dirty="0">
                <a:latin typeface="Microsoft PhagsPa"/>
                <a:cs typeface="Microsoft PhagsPa"/>
              </a:rPr>
              <a:t>masuk</a:t>
            </a:r>
            <a:endParaRPr sz="1600">
              <a:latin typeface="Microsoft PhagsPa"/>
              <a:cs typeface="Microsoft PhagsPa"/>
            </a:endParaRPr>
          </a:p>
          <a:p>
            <a:pPr marL="203200" indent="-190500">
              <a:lnSpc>
                <a:spcPct val="100000"/>
              </a:lnSpc>
              <a:buFont typeface="Arial MT"/>
              <a:buChar char="•"/>
              <a:tabLst>
                <a:tab pos="203200" algn="l"/>
              </a:tabLst>
            </a:pPr>
            <a:r>
              <a:rPr sz="1600" spc="-5" dirty="0">
                <a:latin typeface="Microsoft PhagsPa"/>
                <a:cs typeface="Microsoft PhagsPa"/>
              </a:rPr>
              <a:t>Reklasifikasi</a:t>
            </a:r>
            <a:endParaRPr sz="1600">
              <a:latin typeface="Microsoft PhagsPa"/>
              <a:cs typeface="Microsoft PhagsPa"/>
            </a:endParaRPr>
          </a:p>
          <a:p>
            <a:pPr marL="203200">
              <a:lnSpc>
                <a:spcPct val="100000"/>
              </a:lnSpc>
            </a:pPr>
            <a:r>
              <a:rPr sz="1600" spc="-5" dirty="0">
                <a:latin typeface="Microsoft PhagsPa"/>
                <a:cs typeface="Microsoft PhagsPa"/>
              </a:rPr>
              <a:t>masuk</a:t>
            </a:r>
            <a:endParaRPr sz="1600">
              <a:latin typeface="Microsoft PhagsPa"/>
              <a:cs typeface="Microsoft PhagsPa"/>
            </a:endParaRPr>
          </a:p>
          <a:p>
            <a:pPr marL="203200" marR="464184" indent="-190500">
              <a:lnSpc>
                <a:spcPct val="100000"/>
              </a:lnSpc>
              <a:buFont typeface="Arial MT"/>
              <a:buChar char="•"/>
              <a:tabLst>
                <a:tab pos="203200" algn="l"/>
              </a:tabLst>
            </a:pPr>
            <a:r>
              <a:rPr sz="1600" spc="-15" dirty="0">
                <a:latin typeface="Microsoft PhagsPa"/>
                <a:cs typeface="Microsoft PhagsPa"/>
              </a:rPr>
              <a:t>P</a:t>
            </a:r>
            <a:r>
              <a:rPr sz="1600" spc="10" dirty="0">
                <a:latin typeface="Microsoft PhagsPa"/>
                <a:cs typeface="Microsoft PhagsPa"/>
              </a:rPr>
              <a:t>e</a:t>
            </a:r>
            <a:r>
              <a:rPr sz="1600" spc="-5" dirty="0">
                <a:latin typeface="Microsoft PhagsPa"/>
                <a:cs typeface="Microsoft PhagsPa"/>
              </a:rPr>
              <a:t>ro</a:t>
            </a:r>
            <a:r>
              <a:rPr sz="1600" spc="-10" dirty="0">
                <a:latin typeface="Microsoft PhagsPa"/>
                <a:cs typeface="Microsoft PhagsPa"/>
              </a:rPr>
              <a:t>l</a:t>
            </a:r>
            <a:r>
              <a:rPr sz="1600" spc="-5" dirty="0">
                <a:latin typeface="Microsoft PhagsPa"/>
                <a:cs typeface="Microsoft PhagsPa"/>
              </a:rPr>
              <a:t>ehan  </a:t>
            </a:r>
            <a:r>
              <a:rPr sz="1600" spc="-10" dirty="0">
                <a:latin typeface="Microsoft PhagsPa"/>
                <a:cs typeface="Microsoft PhagsPa"/>
              </a:rPr>
              <a:t>lainnya</a:t>
            </a:r>
            <a:endParaRPr sz="1600">
              <a:latin typeface="Microsoft PhagsPa"/>
              <a:cs typeface="Microsoft PhagsPa"/>
            </a:endParaRPr>
          </a:p>
          <a:p>
            <a:pPr marL="203200" indent="-190500">
              <a:lnSpc>
                <a:spcPct val="100000"/>
              </a:lnSpc>
              <a:buFont typeface="Arial MT"/>
              <a:buChar char="•"/>
              <a:tabLst>
                <a:tab pos="203200" algn="l"/>
              </a:tabLst>
            </a:pPr>
            <a:r>
              <a:rPr sz="1600" spc="-5" dirty="0">
                <a:latin typeface="Microsoft PhagsPa"/>
                <a:cs typeface="Microsoft PhagsPa"/>
              </a:rPr>
              <a:t>Rampasan</a:t>
            </a:r>
            <a:endParaRPr sz="1600">
              <a:latin typeface="Microsoft PhagsPa"/>
              <a:cs typeface="Microsoft PhagsP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5943600" y="3137916"/>
            <a:ext cx="1931035" cy="3168650"/>
          </a:xfrm>
          <a:custGeom>
            <a:avLst/>
            <a:gdLst/>
            <a:ahLst/>
            <a:cxnLst/>
            <a:rect l="l" t="t" r="r" b="b"/>
            <a:pathLst>
              <a:path w="1931034" h="3168650">
                <a:moveTo>
                  <a:pt x="0" y="321818"/>
                </a:moveTo>
                <a:lnTo>
                  <a:pt x="3490" y="274276"/>
                </a:lnTo>
                <a:lnTo>
                  <a:pt x="13630" y="228895"/>
                </a:lnTo>
                <a:lnTo>
                  <a:pt x="29920" y="186174"/>
                </a:lnTo>
                <a:lnTo>
                  <a:pt x="51862" y="146612"/>
                </a:lnTo>
                <a:lnTo>
                  <a:pt x="78957" y="110706"/>
                </a:lnTo>
                <a:lnTo>
                  <a:pt x="110706" y="78957"/>
                </a:lnTo>
                <a:lnTo>
                  <a:pt x="146612" y="51862"/>
                </a:lnTo>
                <a:lnTo>
                  <a:pt x="186174" y="29920"/>
                </a:lnTo>
                <a:lnTo>
                  <a:pt x="228895" y="13630"/>
                </a:lnTo>
                <a:lnTo>
                  <a:pt x="274276" y="3490"/>
                </a:lnTo>
                <a:lnTo>
                  <a:pt x="321817" y="0"/>
                </a:lnTo>
                <a:lnTo>
                  <a:pt x="1609090" y="0"/>
                </a:lnTo>
                <a:lnTo>
                  <a:pt x="1656631" y="3490"/>
                </a:lnTo>
                <a:lnTo>
                  <a:pt x="1702012" y="13630"/>
                </a:lnTo>
                <a:lnTo>
                  <a:pt x="1744733" y="29920"/>
                </a:lnTo>
                <a:lnTo>
                  <a:pt x="1784295" y="51862"/>
                </a:lnTo>
                <a:lnTo>
                  <a:pt x="1820201" y="78957"/>
                </a:lnTo>
                <a:lnTo>
                  <a:pt x="1851950" y="110706"/>
                </a:lnTo>
                <a:lnTo>
                  <a:pt x="1879045" y="146612"/>
                </a:lnTo>
                <a:lnTo>
                  <a:pt x="1900987" y="186174"/>
                </a:lnTo>
                <a:lnTo>
                  <a:pt x="1917277" y="228895"/>
                </a:lnTo>
                <a:lnTo>
                  <a:pt x="1927417" y="274276"/>
                </a:lnTo>
                <a:lnTo>
                  <a:pt x="1930907" y="321818"/>
                </a:lnTo>
                <a:lnTo>
                  <a:pt x="1930907" y="2846565"/>
                </a:lnTo>
                <a:lnTo>
                  <a:pt x="1927417" y="2894124"/>
                </a:lnTo>
                <a:lnTo>
                  <a:pt x="1917277" y="2939516"/>
                </a:lnTo>
                <a:lnTo>
                  <a:pt x="1900987" y="2982244"/>
                </a:lnTo>
                <a:lnTo>
                  <a:pt x="1879045" y="3021808"/>
                </a:lnTo>
                <a:lnTo>
                  <a:pt x="1851950" y="3057712"/>
                </a:lnTo>
                <a:lnTo>
                  <a:pt x="1820201" y="3089458"/>
                </a:lnTo>
                <a:lnTo>
                  <a:pt x="1784295" y="3116548"/>
                </a:lnTo>
                <a:lnTo>
                  <a:pt x="1744733" y="3138485"/>
                </a:lnTo>
                <a:lnTo>
                  <a:pt x="1702012" y="3154770"/>
                </a:lnTo>
                <a:lnTo>
                  <a:pt x="1656631" y="3164906"/>
                </a:lnTo>
                <a:lnTo>
                  <a:pt x="1609090" y="3168396"/>
                </a:lnTo>
                <a:lnTo>
                  <a:pt x="321817" y="3168396"/>
                </a:lnTo>
                <a:lnTo>
                  <a:pt x="274276" y="3164906"/>
                </a:lnTo>
                <a:lnTo>
                  <a:pt x="228895" y="3154770"/>
                </a:lnTo>
                <a:lnTo>
                  <a:pt x="186174" y="3138485"/>
                </a:lnTo>
                <a:lnTo>
                  <a:pt x="146612" y="3116548"/>
                </a:lnTo>
                <a:lnTo>
                  <a:pt x="110706" y="3089458"/>
                </a:lnTo>
                <a:lnTo>
                  <a:pt x="78957" y="3057712"/>
                </a:lnTo>
                <a:lnTo>
                  <a:pt x="51862" y="3021808"/>
                </a:lnTo>
                <a:lnTo>
                  <a:pt x="29920" y="2982244"/>
                </a:lnTo>
                <a:lnTo>
                  <a:pt x="13630" y="2939516"/>
                </a:lnTo>
                <a:lnTo>
                  <a:pt x="3490" y="2894124"/>
                </a:lnTo>
                <a:lnTo>
                  <a:pt x="0" y="2846565"/>
                </a:lnTo>
                <a:lnTo>
                  <a:pt x="0" y="321818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117463" y="3365754"/>
            <a:ext cx="1537335" cy="2707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03200" algn="l"/>
              </a:tabLst>
            </a:pPr>
            <a:r>
              <a:rPr sz="1600" spc="-5" dirty="0">
                <a:latin typeface="Microsoft PhagsPa"/>
                <a:cs typeface="Microsoft PhagsPa"/>
              </a:rPr>
              <a:t>Pemakaian</a:t>
            </a:r>
            <a:endParaRPr sz="1600">
              <a:latin typeface="Microsoft PhagsPa"/>
              <a:cs typeface="Microsoft PhagsPa"/>
            </a:endParaRPr>
          </a:p>
          <a:p>
            <a:pPr marL="203200" indent="-190500">
              <a:lnSpc>
                <a:spcPct val="100000"/>
              </a:lnSpc>
              <a:buFont typeface="Arial MT"/>
              <a:buChar char="•"/>
              <a:tabLst>
                <a:tab pos="203200" algn="l"/>
              </a:tabLst>
            </a:pPr>
            <a:r>
              <a:rPr sz="1600" spc="-5" dirty="0">
                <a:latin typeface="Microsoft PhagsPa"/>
                <a:cs typeface="Microsoft PhagsPa"/>
              </a:rPr>
              <a:t>Transfer</a:t>
            </a:r>
            <a:r>
              <a:rPr sz="1600" spc="-55" dirty="0">
                <a:latin typeface="Microsoft PhagsPa"/>
                <a:cs typeface="Microsoft PhagsPa"/>
              </a:rPr>
              <a:t> </a:t>
            </a:r>
            <a:r>
              <a:rPr sz="1600" spc="-5" dirty="0">
                <a:latin typeface="Microsoft PhagsPa"/>
                <a:cs typeface="Microsoft PhagsPa"/>
              </a:rPr>
              <a:t>keluar</a:t>
            </a:r>
            <a:endParaRPr sz="1600">
              <a:latin typeface="Microsoft PhagsPa"/>
              <a:cs typeface="Microsoft PhagsPa"/>
            </a:endParaRPr>
          </a:p>
          <a:p>
            <a:pPr marL="203200" indent="-190500">
              <a:lnSpc>
                <a:spcPct val="100000"/>
              </a:lnSpc>
              <a:buFont typeface="Arial MT"/>
              <a:buChar char="•"/>
              <a:tabLst>
                <a:tab pos="203200" algn="l"/>
              </a:tabLst>
            </a:pPr>
            <a:r>
              <a:rPr sz="1600" spc="-10" dirty="0">
                <a:latin typeface="Microsoft PhagsPa"/>
                <a:cs typeface="Microsoft PhagsPa"/>
              </a:rPr>
              <a:t>Hibah</a:t>
            </a:r>
            <a:r>
              <a:rPr sz="1600" spc="-30" dirty="0">
                <a:latin typeface="Microsoft PhagsPa"/>
                <a:cs typeface="Microsoft PhagsPa"/>
              </a:rPr>
              <a:t> </a:t>
            </a:r>
            <a:r>
              <a:rPr sz="1600" spc="-10" dirty="0">
                <a:latin typeface="Microsoft PhagsPa"/>
                <a:cs typeface="Microsoft PhagsPa"/>
              </a:rPr>
              <a:t>keluar</a:t>
            </a:r>
            <a:endParaRPr sz="1600">
              <a:latin typeface="Microsoft PhagsPa"/>
              <a:cs typeface="Microsoft PhagsPa"/>
            </a:endParaRPr>
          </a:p>
          <a:p>
            <a:pPr marL="203200" marR="257810" indent="-190500">
              <a:lnSpc>
                <a:spcPct val="100000"/>
              </a:lnSpc>
              <a:buFont typeface="Arial MT"/>
              <a:buChar char="•"/>
              <a:tabLst>
                <a:tab pos="203200" algn="l"/>
              </a:tabLst>
            </a:pPr>
            <a:r>
              <a:rPr sz="1600" spc="-5" dirty="0">
                <a:latin typeface="Microsoft PhagsPa"/>
                <a:cs typeface="Microsoft PhagsPa"/>
              </a:rPr>
              <a:t>Re</a:t>
            </a:r>
            <a:r>
              <a:rPr sz="1600" spc="-10" dirty="0">
                <a:latin typeface="Microsoft PhagsPa"/>
                <a:cs typeface="Microsoft PhagsPa"/>
              </a:rPr>
              <a:t>klas</a:t>
            </a:r>
            <a:r>
              <a:rPr sz="1600" spc="-15" dirty="0">
                <a:latin typeface="Microsoft PhagsPa"/>
                <a:cs typeface="Microsoft PhagsPa"/>
              </a:rPr>
              <a:t>i</a:t>
            </a:r>
            <a:r>
              <a:rPr sz="1600" spc="-5" dirty="0">
                <a:latin typeface="Microsoft PhagsPa"/>
                <a:cs typeface="Microsoft PhagsPa"/>
              </a:rPr>
              <a:t>f</a:t>
            </a:r>
            <a:r>
              <a:rPr sz="1600" spc="5" dirty="0">
                <a:latin typeface="Microsoft PhagsPa"/>
                <a:cs typeface="Microsoft PhagsPa"/>
              </a:rPr>
              <a:t>i</a:t>
            </a:r>
            <a:r>
              <a:rPr sz="1600" spc="-10" dirty="0">
                <a:latin typeface="Microsoft PhagsPa"/>
                <a:cs typeface="Microsoft PhagsPa"/>
              </a:rPr>
              <a:t>kasi  keluar</a:t>
            </a:r>
            <a:endParaRPr sz="1600">
              <a:latin typeface="Microsoft PhagsPa"/>
              <a:cs typeface="Microsoft PhagsPa"/>
            </a:endParaRPr>
          </a:p>
          <a:p>
            <a:pPr marL="203200" indent="-190500">
              <a:lnSpc>
                <a:spcPct val="100000"/>
              </a:lnSpc>
              <a:buFont typeface="Arial MT"/>
              <a:buChar char="•"/>
              <a:tabLst>
                <a:tab pos="203200" algn="l"/>
              </a:tabLst>
            </a:pPr>
            <a:r>
              <a:rPr sz="1600" spc="-5" dirty="0">
                <a:latin typeface="Microsoft PhagsPa"/>
                <a:cs typeface="Microsoft PhagsPa"/>
              </a:rPr>
              <a:t>Penyerahan</a:t>
            </a:r>
            <a:endParaRPr sz="1600">
              <a:latin typeface="Microsoft PhagsPa"/>
              <a:cs typeface="Microsoft PhagsPa"/>
            </a:endParaRPr>
          </a:p>
          <a:p>
            <a:pPr marL="203200" indent="-190500">
              <a:lnSpc>
                <a:spcPct val="100000"/>
              </a:lnSpc>
              <a:buFont typeface="Arial MT"/>
              <a:buChar char="•"/>
              <a:tabLst>
                <a:tab pos="203200" algn="l"/>
              </a:tabLst>
            </a:pPr>
            <a:r>
              <a:rPr sz="1600" spc="-5" dirty="0">
                <a:latin typeface="Microsoft PhagsPa"/>
                <a:cs typeface="Microsoft PhagsPa"/>
              </a:rPr>
              <a:t>Rusak</a:t>
            </a:r>
            <a:endParaRPr sz="1600">
              <a:latin typeface="Microsoft PhagsPa"/>
              <a:cs typeface="Microsoft PhagsPa"/>
            </a:endParaRPr>
          </a:p>
          <a:p>
            <a:pPr marL="203200" indent="-1905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03200" algn="l"/>
              </a:tabLst>
            </a:pPr>
            <a:r>
              <a:rPr sz="1600" spc="-5" dirty="0">
                <a:latin typeface="Microsoft PhagsPa"/>
                <a:cs typeface="Microsoft PhagsPa"/>
              </a:rPr>
              <a:t>Usang</a:t>
            </a:r>
            <a:endParaRPr sz="1600">
              <a:latin typeface="Microsoft PhagsPa"/>
              <a:cs typeface="Microsoft PhagsPa"/>
            </a:endParaRPr>
          </a:p>
          <a:p>
            <a:pPr marL="203200" marR="105410" indent="-190500">
              <a:lnSpc>
                <a:spcPct val="100000"/>
              </a:lnSpc>
              <a:buFont typeface="Arial MT"/>
              <a:buChar char="•"/>
              <a:tabLst>
                <a:tab pos="203200" algn="l"/>
              </a:tabLst>
            </a:pPr>
            <a:r>
              <a:rPr sz="1600" spc="-10" dirty="0">
                <a:latin typeface="Microsoft PhagsPa"/>
                <a:cs typeface="Microsoft PhagsPa"/>
              </a:rPr>
              <a:t>Pengusulan </a:t>
            </a:r>
            <a:r>
              <a:rPr sz="1600" spc="-5" dirty="0">
                <a:latin typeface="Microsoft PhagsPa"/>
                <a:cs typeface="Microsoft PhagsPa"/>
              </a:rPr>
              <a:t> persediaan </a:t>
            </a:r>
            <a:r>
              <a:rPr sz="1600" dirty="0">
                <a:latin typeface="Microsoft PhagsPa"/>
                <a:cs typeface="Microsoft PhagsPa"/>
              </a:rPr>
              <a:t> </a:t>
            </a:r>
            <a:r>
              <a:rPr sz="1600" spc="-5" dirty="0">
                <a:latin typeface="Microsoft PhagsPa"/>
                <a:cs typeface="Microsoft PhagsPa"/>
              </a:rPr>
              <a:t>tidak</a:t>
            </a:r>
            <a:r>
              <a:rPr sz="1600" spc="-55" dirty="0">
                <a:latin typeface="Microsoft PhagsPa"/>
                <a:cs typeface="Microsoft PhagsPa"/>
              </a:rPr>
              <a:t> </a:t>
            </a:r>
            <a:r>
              <a:rPr sz="1600" spc="-10" dirty="0">
                <a:latin typeface="Microsoft PhagsPa"/>
                <a:cs typeface="Microsoft PhagsPa"/>
              </a:rPr>
              <a:t>dikuasai</a:t>
            </a:r>
            <a:endParaRPr sz="1600">
              <a:latin typeface="Microsoft PhagsPa"/>
              <a:cs typeface="Microsoft PhagsP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011" y="4762498"/>
            <a:ext cx="2602992" cy="2026920"/>
          </a:xfrm>
          <a:prstGeom prst="rect">
            <a:avLst/>
          </a:prstGeom>
        </p:spPr>
      </p:pic>
      <p:grpSp>
        <p:nvGrpSpPr>
          <p:cNvPr id="47" name="object 47"/>
          <p:cNvGrpSpPr/>
          <p:nvPr/>
        </p:nvGrpSpPr>
        <p:grpSpPr>
          <a:xfrm>
            <a:off x="4387341" y="118618"/>
            <a:ext cx="7597775" cy="1233805"/>
            <a:chOff x="4387341" y="118618"/>
            <a:chExt cx="7597775" cy="1233805"/>
          </a:xfrm>
        </p:grpSpPr>
        <p:sp>
          <p:nvSpPr>
            <p:cNvPr id="48" name="object 48"/>
            <p:cNvSpPr/>
            <p:nvPr/>
          </p:nvSpPr>
          <p:spPr>
            <a:xfrm>
              <a:off x="4393691" y="124968"/>
              <a:ext cx="7585075" cy="1221105"/>
            </a:xfrm>
            <a:custGeom>
              <a:avLst/>
              <a:gdLst/>
              <a:ahLst/>
              <a:cxnLst/>
              <a:rect l="l" t="t" r="r" b="b"/>
              <a:pathLst>
                <a:path w="7585075" h="1221105">
                  <a:moveTo>
                    <a:pt x="7381494" y="0"/>
                  </a:moveTo>
                  <a:lnTo>
                    <a:pt x="203454" y="0"/>
                  </a:lnTo>
                  <a:lnTo>
                    <a:pt x="156794" y="5371"/>
                  </a:lnTo>
                  <a:lnTo>
                    <a:pt x="113966" y="20673"/>
                  </a:lnTo>
                  <a:lnTo>
                    <a:pt x="76191" y="44686"/>
                  </a:lnTo>
                  <a:lnTo>
                    <a:pt x="44686" y="76191"/>
                  </a:lnTo>
                  <a:lnTo>
                    <a:pt x="20673" y="113966"/>
                  </a:lnTo>
                  <a:lnTo>
                    <a:pt x="5371" y="156794"/>
                  </a:lnTo>
                  <a:lnTo>
                    <a:pt x="0" y="203453"/>
                  </a:lnTo>
                  <a:lnTo>
                    <a:pt x="0" y="1017269"/>
                  </a:lnTo>
                  <a:lnTo>
                    <a:pt x="5371" y="1063929"/>
                  </a:lnTo>
                  <a:lnTo>
                    <a:pt x="20673" y="1106757"/>
                  </a:lnTo>
                  <a:lnTo>
                    <a:pt x="44686" y="1144532"/>
                  </a:lnTo>
                  <a:lnTo>
                    <a:pt x="76191" y="1176037"/>
                  </a:lnTo>
                  <a:lnTo>
                    <a:pt x="113966" y="1200050"/>
                  </a:lnTo>
                  <a:lnTo>
                    <a:pt x="156794" y="1215352"/>
                  </a:lnTo>
                  <a:lnTo>
                    <a:pt x="203454" y="1220723"/>
                  </a:lnTo>
                  <a:lnTo>
                    <a:pt x="7381494" y="1220723"/>
                  </a:lnTo>
                  <a:lnTo>
                    <a:pt x="7428153" y="1215352"/>
                  </a:lnTo>
                  <a:lnTo>
                    <a:pt x="7470981" y="1200050"/>
                  </a:lnTo>
                  <a:lnTo>
                    <a:pt x="7508756" y="1176037"/>
                  </a:lnTo>
                  <a:lnTo>
                    <a:pt x="7540261" y="1144532"/>
                  </a:lnTo>
                  <a:lnTo>
                    <a:pt x="7564274" y="1106757"/>
                  </a:lnTo>
                  <a:lnTo>
                    <a:pt x="7579576" y="1063929"/>
                  </a:lnTo>
                  <a:lnTo>
                    <a:pt x="7584948" y="1017269"/>
                  </a:lnTo>
                  <a:lnTo>
                    <a:pt x="7584948" y="203453"/>
                  </a:lnTo>
                  <a:lnTo>
                    <a:pt x="7579576" y="156794"/>
                  </a:lnTo>
                  <a:lnTo>
                    <a:pt x="7564274" y="113966"/>
                  </a:lnTo>
                  <a:lnTo>
                    <a:pt x="7540261" y="76191"/>
                  </a:lnTo>
                  <a:lnTo>
                    <a:pt x="7508756" y="44686"/>
                  </a:lnTo>
                  <a:lnTo>
                    <a:pt x="7470981" y="20673"/>
                  </a:lnTo>
                  <a:lnTo>
                    <a:pt x="7428153" y="5371"/>
                  </a:lnTo>
                  <a:lnTo>
                    <a:pt x="73814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393691" y="124968"/>
              <a:ext cx="7585075" cy="1221105"/>
            </a:xfrm>
            <a:custGeom>
              <a:avLst/>
              <a:gdLst/>
              <a:ahLst/>
              <a:cxnLst/>
              <a:rect l="l" t="t" r="r" b="b"/>
              <a:pathLst>
                <a:path w="7585075" h="1221105">
                  <a:moveTo>
                    <a:pt x="0" y="203453"/>
                  </a:moveTo>
                  <a:lnTo>
                    <a:pt x="5371" y="156794"/>
                  </a:lnTo>
                  <a:lnTo>
                    <a:pt x="20673" y="113966"/>
                  </a:lnTo>
                  <a:lnTo>
                    <a:pt x="44686" y="76191"/>
                  </a:lnTo>
                  <a:lnTo>
                    <a:pt x="76191" y="44686"/>
                  </a:lnTo>
                  <a:lnTo>
                    <a:pt x="113966" y="20673"/>
                  </a:lnTo>
                  <a:lnTo>
                    <a:pt x="156794" y="5371"/>
                  </a:lnTo>
                  <a:lnTo>
                    <a:pt x="203454" y="0"/>
                  </a:lnTo>
                  <a:lnTo>
                    <a:pt x="7381494" y="0"/>
                  </a:lnTo>
                  <a:lnTo>
                    <a:pt x="7428153" y="5371"/>
                  </a:lnTo>
                  <a:lnTo>
                    <a:pt x="7470981" y="20673"/>
                  </a:lnTo>
                  <a:lnTo>
                    <a:pt x="7508756" y="44686"/>
                  </a:lnTo>
                  <a:lnTo>
                    <a:pt x="7540261" y="76191"/>
                  </a:lnTo>
                  <a:lnTo>
                    <a:pt x="7564274" y="113966"/>
                  </a:lnTo>
                  <a:lnTo>
                    <a:pt x="7579576" y="156794"/>
                  </a:lnTo>
                  <a:lnTo>
                    <a:pt x="7584948" y="203453"/>
                  </a:lnTo>
                  <a:lnTo>
                    <a:pt x="7584948" y="1017269"/>
                  </a:lnTo>
                  <a:lnTo>
                    <a:pt x="7579576" y="1063929"/>
                  </a:lnTo>
                  <a:lnTo>
                    <a:pt x="7564274" y="1106757"/>
                  </a:lnTo>
                  <a:lnTo>
                    <a:pt x="7540261" y="1144532"/>
                  </a:lnTo>
                  <a:lnTo>
                    <a:pt x="7508756" y="1176037"/>
                  </a:lnTo>
                  <a:lnTo>
                    <a:pt x="7470981" y="1200050"/>
                  </a:lnTo>
                  <a:lnTo>
                    <a:pt x="7428153" y="1215352"/>
                  </a:lnTo>
                  <a:lnTo>
                    <a:pt x="7381494" y="1220723"/>
                  </a:lnTo>
                  <a:lnTo>
                    <a:pt x="203454" y="1220723"/>
                  </a:lnTo>
                  <a:lnTo>
                    <a:pt x="156794" y="1215352"/>
                  </a:lnTo>
                  <a:lnTo>
                    <a:pt x="113966" y="1200050"/>
                  </a:lnTo>
                  <a:lnTo>
                    <a:pt x="76191" y="1176037"/>
                  </a:lnTo>
                  <a:lnTo>
                    <a:pt x="44686" y="1144532"/>
                  </a:lnTo>
                  <a:lnTo>
                    <a:pt x="20673" y="1106757"/>
                  </a:lnTo>
                  <a:lnTo>
                    <a:pt x="5371" y="1063929"/>
                  </a:lnTo>
                  <a:lnTo>
                    <a:pt x="0" y="1017269"/>
                  </a:lnTo>
                  <a:lnTo>
                    <a:pt x="0" y="203453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532503" y="824864"/>
            <a:ext cx="882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•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532503" y="184226"/>
            <a:ext cx="7309484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200">
              <a:lnSpc>
                <a:spcPts val="1655"/>
              </a:lnSpc>
              <a:spcBef>
                <a:spcPts val="10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400" dirty="0">
                <a:latin typeface="Microsoft PhagsPa"/>
                <a:cs typeface="Microsoft PhagsPa"/>
              </a:rPr>
              <a:t>Persediaan</a:t>
            </a:r>
            <a:r>
              <a:rPr sz="1400" spc="-5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yang</a:t>
            </a:r>
            <a:r>
              <a:rPr sz="1400" spc="-20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pertama</a:t>
            </a:r>
            <a:r>
              <a:rPr sz="1400" spc="-20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masuk</a:t>
            </a:r>
            <a:r>
              <a:rPr sz="1400" spc="-5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dianggap</a:t>
            </a:r>
            <a:r>
              <a:rPr sz="1400" spc="-10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sebagai persediaan</a:t>
            </a:r>
            <a:r>
              <a:rPr sz="1400" spc="-10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yang</a:t>
            </a:r>
            <a:r>
              <a:rPr sz="1400" spc="-15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pertama</a:t>
            </a:r>
            <a:r>
              <a:rPr sz="1400" spc="-10" dirty="0">
                <a:latin typeface="Microsoft PhagsPa"/>
                <a:cs typeface="Microsoft PhagsPa"/>
              </a:rPr>
              <a:t> </a:t>
            </a:r>
            <a:r>
              <a:rPr sz="1400" spc="-5" dirty="0">
                <a:latin typeface="Microsoft PhagsPa"/>
                <a:cs typeface="Microsoft PhagsPa"/>
              </a:rPr>
              <a:t>keluar.</a:t>
            </a:r>
            <a:endParaRPr sz="1400">
              <a:latin typeface="Microsoft PhagsPa"/>
              <a:cs typeface="Microsoft PhagsPa"/>
            </a:endParaRPr>
          </a:p>
          <a:p>
            <a:pPr marL="469900" marR="5080" indent="-457200">
              <a:lnSpc>
                <a:spcPts val="1680"/>
              </a:lnSpc>
              <a:spcBef>
                <a:spcPts val="80"/>
              </a:spcBef>
              <a:buFont typeface="Arial MT"/>
              <a:buChar char="•"/>
              <a:tabLst>
                <a:tab pos="469265" algn="l"/>
                <a:tab pos="469900" algn="l"/>
                <a:tab pos="1353820" algn="l"/>
                <a:tab pos="2501265" algn="l"/>
                <a:tab pos="3521075" algn="l"/>
                <a:tab pos="4217670" algn="l"/>
                <a:tab pos="4859020" algn="l"/>
                <a:tab pos="5534660" algn="l"/>
                <a:tab pos="6609080" algn="l"/>
              </a:tabLst>
            </a:pPr>
            <a:r>
              <a:rPr sz="1400" dirty="0">
                <a:latin typeface="Microsoft PhagsPa"/>
                <a:cs typeface="Microsoft PhagsPa"/>
              </a:rPr>
              <a:t>Tran</a:t>
            </a:r>
            <a:r>
              <a:rPr sz="1400" spc="-10" dirty="0">
                <a:latin typeface="Microsoft PhagsPa"/>
                <a:cs typeface="Microsoft PhagsPa"/>
              </a:rPr>
              <a:t>s</a:t>
            </a:r>
            <a:r>
              <a:rPr sz="1400" dirty="0">
                <a:latin typeface="Microsoft PhagsPa"/>
                <a:cs typeface="Microsoft PhagsPa"/>
              </a:rPr>
              <a:t>a</a:t>
            </a:r>
            <a:r>
              <a:rPr sz="1400" spc="-5" dirty="0">
                <a:latin typeface="Microsoft PhagsPa"/>
                <a:cs typeface="Microsoft PhagsPa"/>
              </a:rPr>
              <a:t>ks</a:t>
            </a:r>
            <a:r>
              <a:rPr sz="1400" dirty="0">
                <a:latin typeface="Microsoft PhagsPa"/>
                <a:cs typeface="Microsoft PhagsPa"/>
              </a:rPr>
              <a:t>i	penge</a:t>
            </a:r>
            <a:r>
              <a:rPr sz="1400" spc="-10" dirty="0">
                <a:latin typeface="Microsoft PhagsPa"/>
                <a:cs typeface="Microsoft PhagsPa"/>
              </a:rPr>
              <a:t>l</a:t>
            </a:r>
            <a:r>
              <a:rPr sz="1400" dirty="0">
                <a:latin typeface="Microsoft PhagsPa"/>
                <a:cs typeface="Microsoft PhagsPa"/>
              </a:rPr>
              <a:t>ua</a:t>
            </a:r>
            <a:r>
              <a:rPr sz="1400" spc="-10" dirty="0">
                <a:latin typeface="Microsoft PhagsPa"/>
                <a:cs typeface="Microsoft PhagsPa"/>
              </a:rPr>
              <a:t>r</a:t>
            </a:r>
            <a:r>
              <a:rPr sz="1400" dirty="0">
                <a:latin typeface="Microsoft PhagsPa"/>
                <a:cs typeface="Microsoft PhagsPa"/>
              </a:rPr>
              <a:t>an	per</a:t>
            </a:r>
            <a:r>
              <a:rPr sz="1400" spc="5" dirty="0">
                <a:latin typeface="Microsoft PhagsPa"/>
                <a:cs typeface="Microsoft PhagsPa"/>
              </a:rPr>
              <a:t>s</a:t>
            </a:r>
            <a:r>
              <a:rPr sz="1400" dirty="0">
                <a:latin typeface="Microsoft PhagsPa"/>
                <a:cs typeface="Microsoft PhagsPa"/>
              </a:rPr>
              <a:t>ed</a:t>
            </a:r>
            <a:r>
              <a:rPr sz="1400" spc="-20" dirty="0">
                <a:latin typeface="Microsoft PhagsPa"/>
                <a:cs typeface="Microsoft PhagsPa"/>
              </a:rPr>
              <a:t>i</a:t>
            </a:r>
            <a:r>
              <a:rPr sz="1400" dirty="0">
                <a:latin typeface="Microsoft PhagsPa"/>
                <a:cs typeface="Microsoft PhagsPa"/>
              </a:rPr>
              <a:t>a</a:t>
            </a:r>
            <a:r>
              <a:rPr sz="1400" spc="-10" dirty="0">
                <a:latin typeface="Microsoft PhagsPa"/>
                <a:cs typeface="Microsoft PhagsPa"/>
              </a:rPr>
              <a:t>a</a:t>
            </a:r>
            <a:r>
              <a:rPr sz="1400" dirty="0">
                <a:latin typeface="Microsoft PhagsPa"/>
                <a:cs typeface="Microsoft PhagsPa"/>
              </a:rPr>
              <a:t>n	dica</a:t>
            </a:r>
            <a:r>
              <a:rPr sz="1400" spc="-10" dirty="0">
                <a:latin typeface="Microsoft PhagsPa"/>
                <a:cs typeface="Microsoft PhagsPa"/>
              </a:rPr>
              <a:t>t</a:t>
            </a:r>
            <a:r>
              <a:rPr sz="1400" dirty="0">
                <a:latin typeface="Microsoft PhagsPa"/>
                <a:cs typeface="Microsoft PhagsPa"/>
              </a:rPr>
              <a:t>at	ses</a:t>
            </a:r>
            <a:r>
              <a:rPr sz="1400" spc="-15" dirty="0">
                <a:latin typeface="Microsoft PhagsPa"/>
                <a:cs typeface="Microsoft PhagsPa"/>
              </a:rPr>
              <a:t>u</a:t>
            </a:r>
            <a:r>
              <a:rPr sz="1400" dirty="0">
                <a:latin typeface="Microsoft PhagsPa"/>
                <a:cs typeface="Microsoft PhagsPa"/>
              </a:rPr>
              <a:t>ai	</a:t>
            </a:r>
            <a:r>
              <a:rPr sz="1400" spc="-15" dirty="0">
                <a:latin typeface="Microsoft PhagsPa"/>
                <a:cs typeface="Microsoft PhagsPa"/>
              </a:rPr>
              <a:t>u</a:t>
            </a:r>
            <a:r>
              <a:rPr sz="1400" spc="-10" dirty="0">
                <a:latin typeface="Microsoft PhagsPa"/>
                <a:cs typeface="Microsoft PhagsPa"/>
              </a:rPr>
              <a:t>r</a:t>
            </a:r>
            <a:r>
              <a:rPr sz="1400" dirty="0">
                <a:latin typeface="Microsoft PhagsPa"/>
                <a:cs typeface="Microsoft PhagsPa"/>
              </a:rPr>
              <a:t>ut</a:t>
            </a:r>
            <a:r>
              <a:rPr sz="1400" spc="-10" dirty="0">
                <a:latin typeface="Microsoft PhagsPa"/>
                <a:cs typeface="Microsoft PhagsPa"/>
              </a:rPr>
              <a:t>a</a:t>
            </a:r>
            <a:r>
              <a:rPr sz="1400" dirty="0">
                <a:latin typeface="Microsoft PhagsPa"/>
                <a:cs typeface="Microsoft PhagsPa"/>
              </a:rPr>
              <a:t>n	</a:t>
            </a:r>
            <a:r>
              <a:rPr sz="1450" spc="-25" dirty="0">
                <a:latin typeface="Microsoft PhagsPa"/>
                <a:cs typeface="Microsoft PhagsPa"/>
              </a:rPr>
              <a:t>(sequ</a:t>
            </a:r>
            <a:r>
              <a:rPr sz="1450" spc="-35" dirty="0">
                <a:latin typeface="Microsoft PhagsPa"/>
                <a:cs typeface="Microsoft PhagsPa"/>
              </a:rPr>
              <a:t>e</a:t>
            </a:r>
            <a:r>
              <a:rPr sz="1450" spc="-25" dirty="0">
                <a:latin typeface="Microsoft PhagsPa"/>
                <a:cs typeface="Microsoft PhagsPa"/>
              </a:rPr>
              <a:t>nt</a:t>
            </a:r>
            <a:r>
              <a:rPr sz="1450" spc="-30" dirty="0">
                <a:latin typeface="Microsoft PhagsPa"/>
                <a:cs typeface="Microsoft PhagsPa"/>
              </a:rPr>
              <a:t>i</a:t>
            </a:r>
            <a:r>
              <a:rPr sz="1450" spc="-25" dirty="0">
                <a:latin typeface="Microsoft PhagsPa"/>
                <a:cs typeface="Microsoft PhagsPa"/>
              </a:rPr>
              <a:t>a</a:t>
            </a:r>
            <a:r>
              <a:rPr sz="1450" spc="-20" dirty="0">
                <a:latin typeface="Microsoft PhagsPa"/>
                <a:cs typeface="Microsoft PhagsPa"/>
              </a:rPr>
              <a:t>l</a:t>
            </a:r>
            <a:r>
              <a:rPr sz="1450" spc="-15" dirty="0">
                <a:latin typeface="Microsoft PhagsPa"/>
                <a:cs typeface="Microsoft PhagsPa"/>
              </a:rPr>
              <a:t>)</a:t>
            </a:r>
            <a:r>
              <a:rPr sz="1450" dirty="0">
                <a:latin typeface="Microsoft PhagsPa"/>
                <a:cs typeface="Microsoft PhagsPa"/>
              </a:rPr>
              <a:t>	</a:t>
            </a:r>
            <a:r>
              <a:rPr sz="1400" dirty="0">
                <a:latin typeface="Microsoft PhagsPa"/>
                <a:cs typeface="Microsoft PhagsPa"/>
              </a:rPr>
              <a:t>t</a:t>
            </a:r>
            <a:r>
              <a:rPr sz="1400" spc="-5" dirty="0">
                <a:latin typeface="Microsoft PhagsPa"/>
                <a:cs typeface="Microsoft PhagsPa"/>
              </a:rPr>
              <a:t>r</a:t>
            </a:r>
            <a:r>
              <a:rPr sz="1400" dirty="0">
                <a:latin typeface="Microsoft PhagsPa"/>
                <a:cs typeface="Microsoft PhagsPa"/>
              </a:rPr>
              <a:t>an</a:t>
            </a:r>
            <a:r>
              <a:rPr sz="1400" spc="-10" dirty="0">
                <a:latin typeface="Microsoft PhagsPa"/>
                <a:cs typeface="Microsoft PhagsPa"/>
              </a:rPr>
              <a:t>s</a:t>
            </a:r>
            <a:r>
              <a:rPr sz="1400" dirty="0">
                <a:latin typeface="Microsoft PhagsPa"/>
                <a:cs typeface="Microsoft PhagsPa"/>
              </a:rPr>
              <a:t>a</a:t>
            </a:r>
            <a:r>
              <a:rPr sz="1400" spc="-5" dirty="0">
                <a:latin typeface="Microsoft PhagsPa"/>
                <a:cs typeface="Microsoft PhagsPa"/>
              </a:rPr>
              <a:t>ksi  </a:t>
            </a:r>
            <a:r>
              <a:rPr sz="1400" dirty="0">
                <a:latin typeface="Microsoft PhagsPa"/>
                <a:cs typeface="Microsoft PhagsPa"/>
              </a:rPr>
              <a:t>persediaan</a:t>
            </a:r>
            <a:r>
              <a:rPr sz="1400" spc="-15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masuknya.</a:t>
            </a:r>
            <a:endParaRPr sz="1400">
              <a:latin typeface="Microsoft PhagsPa"/>
              <a:cs typeface="Microsoft PhagsPa"/>
            </a:endParaRPr>
          </a:p>
          <a:p>
            <a:pPr marL="469900">
              <a:lnSpc>
                <a:spcPts val="1625"/>
              </a:lnSpc>
            </a:pPr>
            <a:r>
              <a:rPr sz="1400" spc="-5" dirty="0">
                <a:latin typeface="Microsoft PhagsPa"/>
                <a:cs typeface="Microsoft PhagsPa"/>
              </a:rPr>
              <a:t>Diterapkan</a:t>
            </a:r>
            <a:r>
              <a:rPr sz="1400" spc="560" dirty="0">
                <a:latin typeface="Microsoft PhagsPa"/>
                <a:cs typeface="Microsoft PhagsPa"/>
              </a:rPr>
              <a:t> </a:t>
            </a:r>
            <a:r>
              <a:rPr sz="1400" spc="-5" dirty="0">
                <a:latin typeface="Microsoft PhagsPa"/>
                <a:cs typeface="Microsoft PhagsPa"/>
              </a:rPr>
              <a:t>untuk</a:t>
            </a:r>
            <a:r>
              <a:rPr sz="1400" spc="560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seluruh</a:t>
            </a:r>
            <a:r>
              <a:rPr sz="1400" spc="555" dirty="0">
                <a:latin typeface="Microsoft PhagsPa"/>
                <a:cs typeface="Microsoft PhagsPa"/>
              </a:rPr>
              <a:t> </a:t>
            </a:r>
            <a:r>
              <a:rPr sz="1400" spc="-5" dirty="0">
                <a:latin typeface="Microsoft PhagsPa"/>
                <a:cs typeface="Microsoft PhagsPa"/>
              </a:rPr>
              <a:t>jenis</a:t>
            </a:r>
            <a:r>
              <a:rPr sz="1400" spc="565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persediaan</a:t>
            </a:r>
            <a:r>
              <a:rPr sz="1400" spc="550" dirty="0">
                <a:latin typeface="Microsoft PhagsPa"/>
                <a:cs typeface="Microsoft PhagsPa"/>
              </a:rPr>
              <a:t> </a:t>
            </a:r>
            <a:r>
              <a:rPr sz="1400" spc="-5" dirty="0">
                <a:latin typeface="Microsoft PhagsPa"/>
                <a:cs typeface="Microsoft PhagsPa"/>
              </a:rPr>
              <a:t>(masing-masing</a:t>
            </a:r>
            <a:r>
              <a:rPr sz="1400" spc="565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persediaan</a:t>
            </a:r>
            <a:r>
              <a:rPr sz="1400" spc="560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per</a:t>
            </a:r>
            <a:r>
              <a:rPr sz="1400" spc="565" dirty="0">
                <a:latin typeface="Microsoft PhagsPa"/>
                <a:cs typeface="Microsoft PhagsPa"/>
              </a:rPr>
              <a:t> </a:t>
            </a:r>
            <a:r>
              <a:rPr sz="1400" spc="-5" dirty="0">
                <a:latin typeface="Microsoft PhagsPa"/>
                <a:cs typeface="Microsoft PhagsPa"/>
              </a:rPr>
              <a:t>kode</a:t>
            </a:r>
            <a:endParaRPr sz="1400">
              <a:latin typeface="Microsoft PhagsPa"/>
              <a:cs typeface="Microsoft PhagsP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989703" y="1038225"/>
            <a:ext cx="42164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icrosoft PhagsPa"/>
                <a:cs typeface="Microsoft PhagsPa"/>
              </a:rPr>
              <a:t>barang)</a:t>
            </a:r>
            <a:r>
              <a:rPr sz="1400" spc="-30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dan</a:t>
            </a:r>
            <a:r>
              <a:rPr sz="1400" spc="-10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seluruh </a:t>
            </a:r>
            <a:r>
              <a:rPr sz="1400" spc="-5" dirty="0">
                <a:latin typeface="Microsoft PhagsPa"/>
                <a:cs typeface="Microsoft PhagsPa"/>
              </a:rPr>
              <a:t>jenis</a:t>
            </a:r>
            <a:r>
              <a:rPr sz="1400" spc="5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transaksi</a:t>
            </a:r>
            <a:r>
              <a:rPr sz="1400" spc="-5" dirty="0">
                <a:latin typeface="Microsoft PhagsPa"/>
                <a:cs typeface="Microsoft PhagsPa"/>
              </a:rPr>
              <a:t> </a:t>
            </a:r>
            <a:r>
              <a:rPr sz="1400" dirty="0">
                <a:latin typeface="Microsoft PhagsPa"/>
                <a:cs typeface="Microsoft PhagsPa"/>
              </a:rPr>
              <a:t>persediaan</a:t>
            </a:r>
            <a:r>
              <a:rPr sz="1400" spc="-30" dirty="0">
                <a:latin typeface="Microsoft PhagsPa"/>
                <a:cs typeface="Microsoft PhagsPa"/>
              </a:rPr>
              <a:t> </a:t>
            </a:r>
            <a:r>
              <a:rPr sz="1400" spc="-5" dirty="0">
                <a:latin typeface="Microsoft PhagsPa"/>
                <a:cs typeface="Microsoft PhagsPa"/>
              </a:rPr>
              <a:t>keluar.</a:t>
            </a:r>
            <a:endParaRPr sz="1400">
              <a:latin typeface="Microsoft PhagsPa"/>
              <a:cs typeface="Microsoft PhagsP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20724" y="198120"/>
            <a:ext cx="2956560" cy="1127759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11773916" y="6563741"/>
            <a:ext cx="12827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sz="1600" b="1" spc="-5" dirty="0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5823" y="42748"/>
            <a:ext cx="96450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45" dirty="0">
                <a:solidFill>
                  <a:srgbClr val="006FC0"/>
                </a:solidFill>
              </a:rPr>
              <a:t>Ilustrasi</a:t>
            </a:r>
            <a:r>
              <a:rPr sz="3200" spc="-55" dirty="0">
                <a:solidFill>
                  <a:srgbClr val="006FC0"/>
                </a:solidFill>
              </a:rPr>
              <a:t> </a:t>
            </a:r>
            <a:r>
              <a:rPr sz="3200" spc="-100" dirty="0">
                <a:solidFill>
                  <a:srgbClr val="006FC0"/>
                </a:solidFill>
              </a:rPr>
              <a:t>Metode</a:t>
            </a:r>
            <a:r>
              <a:rPr sz="3200" spc="-45" dirty="0">
                <a:solidFill>
                  <a:srgbClr val="006FC0"/>
                </a:solidFill>
              </a:rPr>
              <a:t> </a:t>
            </a:r>
            <a:r>
              <a:rPr sz="3200" spc="-80" dirty="0">
                <a:solidFill>
                  <a:srgbClr val="006FC0"/>
                </a:solidFill>
              </a:rPr>
              <a:t>Penilaian</a:t>
            </a:r>
            <a:r>
              <a:rPr sz="3200" spc="-90" dirty="0">
                <a:solidFill>
                  <a:srgbClr val="006FC0"/>
                </a:solidFill>
              </a:rPr>
              <a:t> </a:t>
            </a:r>
            <a:r>
              <a:rPr sz="3200" spc="-204" dirty="0">
                <a:solidFill>
                  <a:srgbClr val="006FC0"/>
                </a:solidFill>
              </a:rPr>
              <a:t>FIFO</a:t>
            </a:r>
            <a:r>
              <a:rPr sz="3200" spc="-10" dirty="0">
                <a:solidFill>
                  <a:srgbClr val="006FC0"/>
                </a:solidFill>
              </a:rPr>
              <a:t> </a:t>
            </a:r>
            <a:r>
              <a:rPr sz="3200" spc="869" dirty="0">
                <a:solidFill>
                  <a:srgbClr val="006FC0"/>
                </a:solidFill>
              </a:rPr>
              <a:t>–</a:t>
            </a:r>
            <a:r>
              <a:rPr sz="3200" spc="-50" dirty="0">
                <a:solidFill>
                  <a:srgbClr val="006FC0"/>
                </a:solidFill>
              </a:rPr>
              <a:t> </a:t>
            </a:r>
            <a:r>
              <a:rPr sz="3200" spc="-110" dirty="0">
                <a:solidFill>
                  <a:srgbClr val="006FC0"/>
                </a:solidFill>
              </a:rPr>
              <a:t>Mutasi</a:t>
            </a:r>
            <a:r>
              <a:rPr sz="3200" spc="-45" dirty="0">
                <a:solidFill>
                  <a:srgbClr val="006FC0"/>
                </a:solidFill>
              </a:rPr>
              <a:t> </a:t>
            </a:r>
            <a:r>
              <a:rPr sz="3200" spc="-135" dirty="0">
                <a:solidFill>
                  <a:srgbClr val="006FC0"/>
                </a:solidFill>
              </a:rPr>
              <a:t>Masuk</a:t>
            </a:r>
            <a:r>
              <a:rPr sz="3200" spc="-55" dirty="0">
                <a:solidFill>
                  <a:srgbClr val="006FC0"/>
                </a:solidFill>
              </a:rPr>
              <a:t> </a:t>
            </a:r>
            <a:r>
              <a:rPr sz="3200" spc="70" dirty="0">
                <a:solidFill>
                  <a:srgbClr val="006FC0"/>
                </a:solidFill>
              </a:rPr>
              <a:t>&amp;</a:t>
            </a:r>
            <a:r>
              <a:rPr sz="3200" spc="-50" dirty="0">
                <a:solidFill>
                  <a:srgbClr val="006FC0"/>
                </a:solidFill>
              </a:rPr>
              <a:t> </a:t>
            </a:r>
            <a:r>
              <a:rPr sz="3200" spc="-90" dirty="0">
                <a:solidFill>
                  <a:srgbClr val="006FC0"/>
                </a:solidFill>
              </a:rPr>
              <a:t>Keluar</a:t>
            </a:r>
            <a:endParaRPr sz="32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2171109"/>
              </p:ext>
            </p:extLst>
          </p:nvPr>
        </p:nvGraphicFramePr>
        <p:xfrm>
          <a:off x="400050" y="516127"/>
          <a:ext cx="10333983" cy="51511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11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95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81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07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11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54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643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92429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975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3245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108839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47269">
                <a:tc rowSpan="2"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Tgl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Transaksi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Masuk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lu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</a:t>
                      </a:r>
                      <a:r>
                        <a:rPr sz="12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26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381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0576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Uraian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Unit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Harga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Jumlah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Harga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Jumlah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Unit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84455" marR="2159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Harga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Jumlah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Unit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Harga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Jumlah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R w="381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1590" marB="0">
                    <a:lnL w="381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R="11557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(1)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(2)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7048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(3)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714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(4)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(5)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5334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(6)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(7)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(8)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159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(9)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3144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(10)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63830" marR="215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(11)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(12)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113664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(13)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(14)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(15)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(16)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141">
                <a:tc>
                  <a:txBody>
                    <a:bodyPr/>
                    <a:lstStyle/>
                    <a:p>
                      <a:pPr marR="14795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Jan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lang="en-US" sz="1200" dirty="0">
                          <a:latin typeface="Calibri"/>
                          <a:cs typeface="Calibri"/>
                        </a:rPr>
                        <a:t>2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70"/>
                        </a:spcBef>
                        <a:tabLst>
                          <a:tab pos="5757545" algn="l"/>
                          <a:tab pos="6335395" algn="l"/>
                        </a:tabLst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Saldo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awal	</a:t>
                      </a:r>
                      <a:r>
                        <a:rPr sz="1200" u="sng" spc="-10" dirty="0">
                          <a:uFill>
                            <a:solidFill>
                              <a:srgbClr val="41709C"/>
                            </a:solidFill>
                          </a:uFill>
                          <a:latin typeface="Calibri"/>
                          <a:cs typeface="Calibri"/>
                        </a:rPr>
                        <a:t> 	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1.650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5" dirty="0">
                          <a:latin typeface="Calibri"/>
                          <a:cs typeface="Calibri"/>
                        </a:rPr>
                        <a:t>ba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269">
                <a:tc>
                  <a:txBody>
                    <a:bodyPr/>
                    <a:lstStyle/>
                    <a:p>
                      <a:pPr marR="14795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12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Jan</a:t>
                      </a:r>
                      <a:r>
                        <a:rPr sz="12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Pembelian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9271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4127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1.000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1.650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5" dirty="0">
                          <a:latin typeface="Calibri"/>
                          <a:cs typeface="Calibri"/>
                        </a:rPr>
                        <a:t>ba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2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5" dirty="0">
                          <a:latin typeface="Calibri"/>
                          <a:cs typeface="Calibri"/>
                        </a:rPr>
                        <a:t>ba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R="14795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17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Jan</a:t>
                      </a:r>
                      <a:r>
                        <a:rPr sz="1200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Pemakaian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61620" marR="215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509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1.650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bat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1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1620" marR="215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400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7269">
                <a:tc>
                  <a:txBody>
                    <a:bodyPr/>
                    <a:lstStyle/>
                    <a:p>
                      <a:pPr marR="14795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20</a:t>
                      </a:r>
                      <a:r>
                        <a:rPr sz="12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Jan</a:t>
                      </a:r>
                      <a:r>
                        <a:rPr sz="12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Pembelian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9271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1.250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125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4127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1.250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5" dirty="0">
                          <a:latin typeface="Calibri"/>
                          <a:cs typeface="Calibri"/>
                        </a:rPr>
                        <a:t>ba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2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1.250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5" dirty="0">
                          <a:latin typeface="Calibri"/>
                          <a:cs typeface="Calibri"/>
                        </a:rPr>
                        <a:t>ba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141">
                <a:tc>
                  <a:txBody>
                    <a:bodyPr/>
                    <a:lstStyle/>
                    <a:p>
                      <a:pPr marR="14795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30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Jan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Rusak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61620" marR="2159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400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5" dirty="0">
                          <a:latin typeface="Calibri"/>
                          <a:cs typeface="Calibri"/>
                        </a:rPr>
                        <a:t>ba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159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72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1.250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5" dirty="0">
                          <a:latin typeface="Calibri"/>
                          <a:cs typeface="Calibri"/>
                        </a:rPr>
                        <a:t>ba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7269">
                <a:tc>
                  <a:txBody>
                    <a:bodyPr/>
                    <a:lstStyle/>
                    <a:p>
                      <a:pPr marR="14795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3</a:t>
                      </a:r>
                      <a:r>
                        <a:rPr sz="12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Feb</a:t>
                      </a:r>
                      <a:r>
                        <a:rPr sz="1200" spc="-4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7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sz="1200" spc="-2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200" spc="-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1200" spc="-2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f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mas</a:t>
                      </a:r>
                      <a:r>
                        <a:rPr sz="1200" spc="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9271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4127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1.000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400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5" dirty="0">
                          <a:latin typeface="Calibri"/>
                          <a:cs typeface="Calibri"/>
                        </a:rPr>
                        <a:t>ba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71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1.250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bat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72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1.000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5" dirty="0">
                          <a:latin typeface="Calibri"/>
                          <a:cs typeface="Calibri"/>
                        </a:rPr>
                        <a:t>ba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7269">
                <a:tc>
                  <a:txBody>
                    <a:bodyPr/>
                    <a:lstStyle/>
                    <a:p>
                      <a:pPr marR="14795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Feb</a:t>
                      </a:r>
                      <a:r>
                        <a:rPr sz="12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Pemakaian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1620" marR="215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400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800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5" dirty="0">
                          <a:latin typeface="Calibri"/>
                          <a:cs typeface="Calibri"/>
                        </a:rPr>
                        <a:t>ba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714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61620" marR="215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125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572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1.250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72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1620" marR="215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3839">
                <a:tc>
                  <a:txBody>
                    <a:bodyPr/>
                    <a:lstStyle/>
                    <a:p>
                      <a:pPr marR="14795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17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Feb</a:t>
                      </a:r>
                      <a:r>
                        <a:rPr sz="12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Transfer</a:t>
                      </a:r>
                      <a:r>
                        <a:rPr sz="1200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keluar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61620" marR="215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600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5" dirty="0">
                          <a:latin typeface="Calibri"/>
                          <a:cs typeface="Calibri"/>
                        </a:rPr>
                        <a:t>ba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7269">
                <a:tc>
                  <a:txBody>
                    <a:bodyPr/>
                    <a:lstStyle/>
                    <a:p>
                      <a:pPr marR="14795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22</a:t>
                      </a:r>
                      <a:r>
                        <a:rPr sz="1200" spc="-2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Feb</a:t>
                      </a:r>
                      <a:r>
                        <a:rPr sz="1200" spc="-4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lang="en-US"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Pembelian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882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9271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1.500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150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41275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1.500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5" dirty="0">
                          <a:latin typeface="Calibri"/>
                          <a:cs typeface="Calibri"/>
                        </a:rPr>
                        <a:t>ba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119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R w="28575">
                      <a:solidFill>
                        <a:srgbClr val="41709C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1709C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598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12">
                  <a:txBody>
                    <a:bodyPr/>
                    <a:lstStyle/>
                    <a:p>
                      <a:pPr marR="76835" algn="r">
                        <a:lnSpc>
                          <a:spcPts val="665"/>
                        </a:lnSpc>
                        <a:tabLst>
                          <a:tab pos="577850" algn="l"/>
                          <a:tab pos="767080" algn="l"/>
                        </a:tabLst>
                      </a:pPr>
                      <a:r>
                        <a:rPr sz="1200" u="sng" dirty="0">
                          <a:uFill>
                            <a:solidFill>
                              <a:srgbClr val="41709C"/>
                            </a:solidFill>
                          </a:uFill>
                          <a:latin typeface="Calibri"/>
                          <a:cs typeface="Calibri"/>
                        </a:rPr>
                        <a:t> 	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	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ts val="66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150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R="52705" algn="r">
                        <a:lnSpc>
                          <a:spcPts val="66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1.500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ts val="665"/>
                        </a:lnSpc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200" i="1" spc="-10" dirty="0">
                          <a:latin typeface="Calibri"/>
                          <a:cs typeface="Calibri"/>
                        </a:rPr>
                        <a:t>bat</a:t>
                      </a:r>
                      <a:r>
                        <a:rPr sz="1200" i="1" dirty="0">
                          <a:latin typeface="Calibri"/>
                          <a:cs typeface="Calibri"/>
                        </a:rPr>
                        <a:t>ch</a:t>
                      </a:r>
                      <a:r>
                        <a:rPr sz="1200" i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0" marB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1643760" y="516127"/>
            <a:ext cx="9063355" cy="5164455"/>
          </a:xfrm>
          <a:custGeom>
            <a:avLst/>
            <a:gdLst/>
            <a:ahLst/>
            <a:cxnLst/>
            <a:rect l="l" t="t" r="r" b="b"/>
            <a:pathLst>
              <a:path w="9063355" h="5164455">
                <a:moveTo>
                  <a:pt x="0" y="519938"/>
                </a:moveTo>
                <a:lnTo>
                  <a:pt x="0" y="5163858"/>
                </a:lnTo>
              </a:path>
              <a:path w="9063355" h="5164455">
                <a:moveTo>
                  <a:pt x="1222628" y="234569"/>
                </a:moveTo>
                <a:lnTo>
                  <a:pt x="1222628" y="5163858"/>
                </a:lnTo>
              </a:path>
              <a:path w="9063355" h="5164455">
                <a:moveTo>
                  <a:pt x="1657730" y="234569"/>
                </a:moveTo>
                <a:lnTo>
                  <a:pt x="1657730" y="5163858"/>
                </a:lnTo>
              </a:path>
              <a:path w="9063355" h="5164455">
                <a:moveTo>
                  <a:pt x="2236851" y="234569"/>
                </a:moveTo>
                <a:lnTo>
                  <a:pt x="2236851" y="5163858"/>
                </a:lnTo>
              </a:path>
              <a:path w="9063355" h="5164455">
                <a:moveTo>
                  <a:pt x="2892171" y="0"/>
                </a:moveTo>
                <a:lnTo>
                  <a:pt x="2892171" y="5163858"/>
                </a:lnTo>
              </a:path>
              <a:path w="9063355" h="5164455">
                <a:moveTo>
                  <a:pt x="3437509" y="234569"/>
                </a:moveTo>
                <a:lnTo>
                  <a:pt x="3437509" y="5163858"/>
                </a:lnTo>
              </a:path>
              <a:path w="9063355" h="5164455">
                <a:moveTo>
                  <a:pt x="4016629" y="234569"/>
                </a:moveTo>
                <a:lnTo>
                  <a:pt x="4016629" y="5163858"/>
                </a:lnTo>
              </a:path>
              <a:path w="9063355" h="5164455">
                <a:moveTo>
                  <a:pt x="4671949" y="0"/>
                </a:moveTo>
                <a:lnTo>
                  <a:pt x="4671949" y="5163858"/>
                </a:lnTo>
              </a:path>
              <a:path w="9063355" h="5164455">
                <a:moveTo>
                  <a:pt x="5107050" y="234569"/>
                </a:moveTo>
                <a:lnTo>
                  <a:pt x="5107050" y="5163858"/>
                </a:lnTo>
              </a:path>
              <a:path w="9063355" h="5164455">
                <a:moveTo>
                  <a:pt x="5686170" y="234569"/>
                </a:moveTo>
                <a:lnTo>
                  <a:pt x="5686170" y="5163858"/>
                </a:lnTo>
              </a:path>
              <a:path w="9063355" h="5164455">
                <a:moveTo>
                  <a:pt x="6341491" y="0"/>
                </a:moveTo>
                <a:lnTo>
                  <a:pt x="6341491" y="5163858"/>
                </a:lnTo>
              </a:path>
              <a:path w="9063355" h="5164455">
                <a:moveTo>
                  <a:pt x="6741794" y="234569"/>
                </a:moveTo>
                <a:lnTo>
                  <a:pt x="6741794" y="5163858"/>
                </a:lnTo>
              </a:path>
              <a:path w="9063355" h="5164455">
                <a:moveTo>
                  <a:pt x="7320915" y="234569"/>
                </a:moveTo>
                <a:lnTo>
                  <a:pt x="7320915" y="5163858"/>
                </a:lnTo>
              </a:path>
              <a:path w="9063355" h="5164455">
                <a:moveTo>
                  <a:pt x="7976234" y="519938"/>
                </a:moveTo>
                <a:lnTo>
                  <a:pt x="7976234" y="5163858"/>
                </a:lnTo>
              </a:path>
              <a:path w="9063355" h="5164455">
                <a:moveTo>
                  <a:pt x="9063355" y="0"/>
                </a:moveTo>
                <a:lnTo>
                  <a:pt x="9063355" y="5163858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0287" y="5733288"/>
            <a:ext cx="1229995" cy="425450"/>
          </a:xfrm>
          <a:custGeom>
            <a:avLst/>
            <a:gdLst/>
            <a:ahLst/>
            <a:cxnLst/>
            <a:rect l="l" t="t" r="r" b="b"/>
            <a:pathLst>
              <a:path w="1229995" h="425450">
                <a:moveTo>
                  <a:pt x="1159002" y="0"/>
                </a:moveTo>
                <a:lnTo>
                  <a:pt x="70865" y="0"/>
                </a:lnTo>
                <a:lnTo>
                  <a:pt x="43280" y="5568"/>
                </a:lnTo>
                <a:lnTo>
                  <a:pt x="20754" y="20754"/>
                </a:lnTo>
                <a:lnTo>
                  <a:pt x="5568" y="43280"/>
                </a:lnTo>
                <a:lnTo>
                  <a:pt x="0" y="70865"/>
                </a:lnTo>
                <a:lnTo>
                  <a:pt x="0" y="354330"/>
                </a:lnTo>
                <a:lnTo>
                  <a:pt x="5568" y="381915"/>
                </a:lnTo>
                <a:lnTo>
                  <a:pt x="20754" y="404441"/>
                </a:lnTo>
                <a:lnTo>
                  <a:pt x="43280" y="419627"/>
                </a:lnTo>
                <a:lnTo>
                  <a:pt x="70865" y="425196"/>
                </a:lnTo>
                <a:lnTo>
                  <a:pt x="1159002" y="425196"/>
                </a:lnTo>
                <a:lnTo>
                  <a:pt x="1186576" y="419627"/>
                </a:lnTo>
                <a:lnTo>
                  <a:pt x="1209103" y="404441"/>
                </a:lnTo>
                <a:lnTo>
                  <a:pt x="1224295" y="381915"/>
                </a:lnTo>
                <a:lnTo>
                  <a:pt x="1229868" y="354330"/>
                </a:lnTo>
                <a:lnTo>
                  <a:pt x="1229868" y="70865"/>
                </a:lnTo>
                <a:lnTo>
                  <a:pt x="1224295" y="43280"/>
                </a:lnTo>
                <a:lnTo>
                  <a:pt x="1209103" y="20754"/>
                </a:lnTo>
                <a:lnTo>
                  <a:pt x="1186576" y="5568"/>
                </a:lnTo>
                <a:lnTo>
                  <a:pt x="115900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33983" y="5771184"/>
            <a:ext cx="72072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 marR="5080" indent="-508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latin typeface="Microsoft PhagsPa"/>
                <a:cs typeface="Microsoft PhagsPa"/>
              </a:rPr>
              <a:t>Sal</a:t>
            </a:r>
            <a:r>
              <a:rPr sz="1050" b="1" spc="-10" dirty="0">
                <a:latin typeface="Microsoft PhagsPa"/>
                <a:cs typeface="Microsoft PhagsPa"/>
              </a:rPr>
              <a:t>d</a:t>
            </a:r>
            <a:r>
              <a:rPr sz="1050" b="1" dirty="0">
                <a:latin typeface="Microsoft PhagsPa"/>
                <a:cs typeface="Microsoft PhagsPa"/>
              </a:rPr>
              <a:t>o</a:t>
            </a:r>
            <a:r>
              <a:rPr sz="1050" b="1" spc="-10" dirty="0">
                <a:latin typeface="Microsoft PhagsPa"/>
                <a:cs typeface="Microsoft PhagsPa"/>
              </a:rPr>
              <a:t> </a:t>
            </a:r>
            <a:r>
              <a:rPr sz="1050" b="1" spc="-5" dirty="0">
                <a:latin typeface="Microsoft PhagsPa"/>
                <a:cs typeface="Microsoft PhagsPa"/>
              </a:rPr>
              <a:t>Awa</a:t>
            </a:r>
            <a:r>
              <a:rPr sz="1050" b="1" dirty="0">
                <a:latin typeface="Microsoft PhagsPa"/>
                <a:cs typeface="Microsoft PhagsPa"/>
              </a:rPr>
              <a:t>l  </a:t>
            </a:r>
            <a:r>
              <a:rPr sz="1050" b="1" spc="-5" dirty="0">
                <a:latin typeface="Microsoft PhagsPa"/>
                <a:cs typeface="Microsoft PhagsPa"/>
              </a:rPr>
              <a:t>P</a:t>
            </a:r>
            <a:r>
              <a:rPr sz="1050" b="1" dirty="0">
                <a:latin typeface="Microsoft PhagsPa"/>
                <a:cs typeface="Microsoft PhagsPa"/>
              </a:rPr>
              <a:t>ers</a:t>
            </a:r>
            <a:r>
              <a:rPr sz="1050" b="1" spc="5" dirty="0">
                <a:latin typeface="Microsoft PhagsPa"/>
                <a:cs typeface="Microsoft PhagsPa"/>
              </a:rPr>
              <a:t>e</a:t>
            </a:r>
            <a:r>
              <a:rPr sz="1050" b="1" spc="-10" dirty="0">
                <a:latin typeface="Microsoft PhagsPa"/>
                <a:cs typeface="Microsoft PhagsPa"/>
              </a:rPr>
              <a:t>d</a:t>
            </a:r>
            <a:r>
              <a:rPr sz="1050" b="1" spc="-5" dirty="0">
                <a:latin typeface="Microsoft PhagsPa"/>
                <a:cs typeface="Microsoft PhagsPa"/>
              </a:rPr>
              <a:t>iaa</a:t>
            </a:r>
            <a:r>
              <a:rPr sz="1050" b="1" dirty="0">
                <a:latin typeface="Microsoft PhagsPa"/>
                <a:cs typeface="Microsoft PhagsPa"/>
              </a:rPr>
              <a:t>n</a:t>
            </a:r>
            <a:endParaRPr sz="1050">
              <a:latin typeface="Microsoft PhagsPa"/>
              <a:cs typeface="Microsoft PhagsP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23488" y="5727191"/>
            <a:ext cx="1229995" cy="424180"/>
          </a:xfrm>
          <a:custGeom>
            <a:avLst/>
            <a:gdLst/>
            <a:ahLst/>
            <a:cxnLst/>
            <a:rect l="l" t="t" r="r" b="b"/>
            <a:pathLst>
              <a:path w="1229995" h="424179">
                <a:moveTo>
                  <a:pt x="1159256" y="0"/>
                </a:moveTo>
                <a:lnTo>
                  <a:pt x="70612" y="0"/>
                </a:lnTo>
                <a:lnTo>
                  <a:pt x="43130" y="5548"/>
                </a:lnTo>
                <a:lnTo>
                  <a:pt x="20685" y="20680"/>
                </a:lnTo>
                <a:lnTo>
                  <a:pt x="5550" y="43125"/>
                </a:lnTo>
                <a:lnTo>
                  <a:pt x="0" y="70612"/>
                </a:lnTo>
                <a:lnTo>
                  <a:pt x="0" y="353060"/>
                </a:lnTo>
                <a:lnTo>
                  <a:pt x="5550" y="380546"/>
                </a:lnTo>
                <a:lnTo>
                  <a:pt x="20685" y="402991"/>
                </a:lnTo>
                <a:lnTo>
                  <a:pt x="43130" y="418123"/>
                </a:lnTo>
                <a:lnTo>
                  <a:pt x="70612" y="423672"/>
                </a:lnTo>
                <a:lnTo>
                  <a:pt x="1159256" y="423672"/>
                </a:lnTo>
                <a:lnTo>
                  <a:pt x="1186737" y="418123"/>
                </a:lnTo>
                <a:lnTo>
                  <a:pt x="1209182" y="402991"/>
                </a:lnTo>
                <a:lnTo>
                  <a:pt x="1224317" y="380546"/>
                </a:lnTo>
                <a:lnTo>
                  <a:pt x="1229867" y="353060"/>
                </a:lnTo>
                <a:lnTo>
                  <a:pt x="1229867" y="70612"/>
                </a:lnTo>
                <a:lnTo>
                  <a:pt x="1224317" y="43125"/>
                </a:lnTo>
                <a:lnTo>
                  <a:pt x="1209182" y="20680"/>
                </a:lnTo>
                <a:lnTo>
                  <a:pt x="1186737" y="5548"/>
                </a:lnTo>
                <a:lnTo>
                  <a:pt x="1159256" y="0"/>
                </a:lnTo>
                <a:close/>
              </a:path>
            </a:pathLst>
          </a:custGeom>
          <a:solidFill>
            <a:srgbClr val="7B7B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82059" y="5764479"/>
            <a:ext cx="71183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7955" marR="5080" indent="-13589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latin typeface="Microsoft PhagsPa"/>
                <a:cs typeface="Microsoft PhagsPa"/>
              </a:rPr>
              <a:t>P</a:t>
            </a:r>
            <a:r>
              <a:rPr sz="1050" b="1" spc="5" dirty="0">
                <a:latin typeface="Microsoft PhagsPa"/>
                <a:cs typeface="Microsoft PhagsPa"/>
              </a:rPr>
              <a:t>e</a:t>
            </a:r>
            <a:r>
              <a:rPr sz="1050" b="1" dirty="0">
                <a:latin typeface="Microsoft PhagsPa"/>
                <a:cs typeface="Microsoft PhagsPa"/>
              </a:rPr>
              <a:t>rs</a:t>
            </a:r>
            <a:r>
              <a:rPr sz="1050" b="1" spc="5" dirty="0">
                <a:latin typeface="Microsoft PhagsPa"/>
                <a:cs typeface="Microsoft PhagsPa"/>
              </a:rPr>
              <a:t>e</a:t>
            </a:r>
            <a:r>
              <a:rPr sz="1050" b="1" spc="-5" dirty="0">
                <a:latin typeface="Microsoft PhagsPa"/>
                <a:cs typeface="Microsoft PhagsPa"/>
              </a:rPr>
              <a:t>diaa</a:t>
            </a:r>
            <a:r>
              <a:rPr sz="1050" b="1" dirty="0">
                <a:latin typeface="Microsoft PhagsPa"/>
                <a:cs typeface="Microsoft PhagsPa"/>
              </a:rPr>
              <a:t>n  Masuk</a:t>
            </a:r>
            <a:endParaRPr sz="1050">
              <a:latin typeface="Microsoft PhagsPa"/>
              <a:cs typeface="Microsoft PhagsP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68796" y="5733288"/>
            <a:ext cx="1229995" cy="425450"/>
          </a:xfrm>
          <a:custGeom>
            <a:avLst/>
            <a:gdLst/>
            <a:ahLst/>
            <a:cxnLst/>
            <a:rect l="l" t="t" r="r" b="b"/>
            <a:pathLst>
              <a:path w="1229995" h="425450">
                <a:moveTo>
                  <a:pt x="1159002" y="0"/>
                </a:moveTo>
                <a:lnTo>
                  <a:pt x="70865" y="0"/>
                </a:lnTo>
                <a:lnTo>
                  <a:pt x="43291" y="5568"/>
                </a:lnTo>
                <a:lnTo>
                  <a:pt x="20764" y="20754"/>
                </a:lnTo>
                <a:lnTo>
                  <a:pt x="5572" y="43280"/>
                </a:lnTo>
                <a:lnTo>
                  <a:pt x="0" y="70865"/>
                </a:lnTo>
                <a:lnTo>
                  <a:pt x="0" y="354330"/>
                </a:lnTo>
                <a:lnTo>
                  <a:pt x="5572" y="381915"/>
                </a:lnTo>
                <a:lnTo>
                  <a:pt x="20764" y="404441"/>
                </a:lnTo>
                <a:lnTo>
                  <a:pt x="43291" y="419627"/>
                </a:lnTo>
                <a:lnTo>
                  <a:pt x="70865" y="425196"/>
                </a:lnTo>
                <a:lnTo>
                  <a:pt x="1159002" y="425196"/>
                </a:lnTo>
                <a:lnTo>
                  <a:pt x="1186576" y="419627"/>
                </a:lnTo>
                <a:lnTo>
                  <a:pt x="1209103" y="404441"/>
                </a:lnTo>
                <a:lnTo>
                  <a:pt x="1224295" y="381915"/>
                </a:lnTo>
                <a:lnTo>
                  <a:pt x="1229868" y="354330"/>
                </a:lnTo>
                <a:lnTo>
                  <a:pt x="1229868" y="70865"/>
                </a:lnTo>
                <a:lnTo>
                  <a:pt x="1224295" y="43280"/>
                </a:lnTo>
                <a:lnTo>
                  <a:pt x="1209103" y="20754"/>
                </a:lnTo>
                <a:lnTo>
                  <a:pt x="1186576" y="5568"/>
                </a:lnTo>
                <a:lnTo>
                  <a:pt x="1159002" y="0"/>
                </a:lnTo>
                <a:close/>
              </a:path>
            </a:pathLst>
          </a:custGeom>
          <a:solidFill>
            <a:srgbClr val="BE9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627368" y="5771184"/>
            <a:ext cx="71183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305" marR="5080" indent="-14224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solidFill>
                  <a:srgbClr val="FFFFFF"/>
                </a:solidFill>
                <a:latin typeface="Microsoft PhagsPa"/>
                <a:cs typeface="Microsoft PhagsPa"/>
              </a:rPr>
              <a:t>P</a:t>
            </a:r>
            <a:r>
              <a:rPr sz="1050" b="1" dirty="0">
                <a:solidFill>
                  <a:srgbClr val="FFFFFF"/>
                </a:solidFill>
                <a:latin typeface="Microsoft PhagsPa"/>
                <a:cs typeface="Microsoft PhagsPa"/>
              </a:rPr>
              <a:t>ers</a:t>
            </a:r>
            <a:r>
              <a:rPr sz="1050" b="1" spc="5" dirty="0">
                <a:solidFill>
                  <a:srgbClr val="FFFFFF"/>
                </a:solidFill>
                <a:latin typeface="Microsoft PhagsPa"/>
                <a:cs typeface="Microsoft PhagsPa"/>
              </a:rPr>
              <a:t>e</a:t>
            </a:r>
            <a:r>
              <a:rPr sz="1050" b="1" spc="-10" dirty="0">
                <a:solidFill>
                  <a:srgbClr val="FFFFFF"/>
                </a:solidFill>
                <a:latin typeface="Microsoft PhagsPa"/>
                <a:cs typeface="Microsoft PhagsPa"/>
              </a:rPr>
              <a:t>d</a:t>
            </a:r>
            <a:r>
              <a:rPr sz="1050" b="1" spc="-5" dirty="0">
                <a:solidFill>
                  <a:srgbClr val="FFFFFF"/>
                </a:solidFill>
                <a:latin typeface="Microsoft PhagsPa"/>
                <a:cs typeface="Microsoft PhagsPa"/>
              </a:rPr>
              <a:t>iaa</a:t>
            </a:r>
            <a:r>
              <a:rPr sz="1050" b="1" dirty="0">
                <a:solidFill>
                  <a:srgbClr val="FFFFFF"/>
                </a:solidFill>
                <a:latin typeface="Microsoft PhagsPa"/>
                <a:cs typeface="Microsoft PhagsPa"/>
              </a:rPr>
              <a:t>n  </a:t>
            </a:r>
            <a:r>
              <a:rPr sz="1050" b="1" spc="-5" dirty="0">
                <a:solidFill>
                  <a:srgbClr val="FFFFFF"/>
                </a:solidFill>
                <a:latin typeface="Microsoft PhagsPa"/>
                <a:cs typeface="Microsoft PhagsPa"/>
              </a:rPr>
              <a:t>Keluar</a:t>
            </a:r>
            <a:endParaRPr sz="1050">
              <a:latin typeface="Microsoft PhagsPa"/>
              <a:cs typeface="Microsoft PhagsP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264395" y="5769864"/>
            <a:ext cx="1229995" cy="424180"/>
          </a:xfrm>
          <a:custGeom>
            <a:avLst/>
            <a:gdLst/>
            <a:ahLst/>
            <a:cxnLst/>
            <a:rect l="l" t="t" r="r" b="b"/>
            <a:pathLst>
              <a:path w="1229995" h="424179">
                <a:moveTo>
                  <a:pt x="1159255" y="0"/>
                </a:moveTo>
                <a:lnTo>
                  <a:pt x="70611" y="0"/>
                </a:lnTo>
                <a:lnTo>
                  <a:pt x="43130" y="5548"/>
                </a:lnTo>
                <a:lnTo>
                  <a:pt x="20685" y="20680"/>
                </a:lnTo>
                <a:lnTo>
                  <a:pt x="5550" y="43125"/>
                </a:lnTo>
                <a:lnTo>
                  <a:pt x="0" y="70612"/>
                </a:lnTo>
                <a:lnTo>
                  <a:pt x="0" y="353060"/>
                </a:lnTo>
                <a:lnTo>
                  <a:pt x="5550" y="380546"/>
                </a:lnTo>
                <a:lnTo>
                  <a:pt x="20685" y="402991"/>
                </a:lnTo>
                <a:lnTo>
                  <a:pt x="43130" y="418123"/>
                </a:lnTo>
                <a:lnTo>
                  <a:pt x="70611" y="423672"/>
                </a:lnTo>
                <a:lnTo>
                  <a:pt x="1159255" y="423672"/>
                </a:lnTo>
                <a:lnTo>
                  <a:pt x="1186737" y="418123"/>
                </a:lnTo>
                <a:lnTo>
                  <a:pt x="1209182" y="402991"/>
                </a:lnTo>
                <a:lnTo>
                  <a:pt x="1224317" y="380546"/>
                </a:lnTo>
                <a:lnTo>
                  <a:pt x="1229868" y="353060"/>
                </a:lnTo>
                <a:lnTo>
                  <a:pt x="1229868" y="70612"/>
                </a:lnTo>
                <a:lnTo>
                  <a:pt x="1224317" y="43125"/>
                </a:lnTo>
                <a:lnTo>
                  <a:pt x="1209182" y="20680"/>
                </a:lnTo>
                <a:lnTo>
                  <a:pt x="1186737" y="5548"/>
                </a:lnTo>
                <a:lnTo>
                  <a:pt x="1159255" y="0"/>
                </a:lnTo>
                <a:close/>
              </a:path>
            </a:pathLst>
          </a:custGeom>
          <a:solidFill>
            <a:srgbClr val="538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503409" y="5806846"/>
            <a:ext cx="751840" cy="3473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5" dirty="0">
                <a:solidFill>
                  <a:srgbClr val="FFFFFF"/>
                </a:solidFill>
                <a:latin typeface="Microsoft PhagsPa"/>
                <a:cs typeface="Microsoft PhagsPa"/>
              </a:rPr>
              <a:t>S</a:t>
            </a:r>
            <a:r>
              <a:rPr sz="1050" b="1" spc="-10" dirty="0">
                <a:solidFill>
                  <a:srgbClr val="FFFFFF"/>
                </a:solidFill>
                <a:latin typeface="Microsoft PhagsPa"/>
                <a:cs typeface="Microsoft PhagsPa"/>
              </a:rPr>
              <a:t>a</a:t>
            </a:r>
            <a:r>
              <a:rPr sz="1050" b="1" spc="-5" dirty="0">
                <a:solidFill>
                  <a:srgbClr val="FFFFFF"/>
                </a:solidFill>
                <a:latin typeface="Microsoft PhagsPa"/>
                <a:cs typeface="Microsoft PhagsPa"/>
              </a:rPr>
              <a:t>ld</a:t>
            </a:r>
            <a:r>
              <a:rPr sz="1050" b="1" spc="5" dirty="0">
                <a:solidFill>
                  <a:srgbClr val="FFFFFF"/>
                </a:solidFill>
                <a:latin typeface="Microsoft PhagsPa"/>
                <a:cs typeface="Microsoft PhagsPa"/>
              </a:rPr>
              <a:t>o</a:t>
            </a:r>
            <a:r>
              <a:rPr sz="1050" b="1" spc="-15" dirty="0">
                <a:solidFill>
                  <a:srgbClr val="FFFFFF"/>
                </a:solidFill>
                <a:latin typeface="Microsoft PhagsPa"/>
                <a:cs typeface="Microsoft PhagsPa"/>
              </a:rPr>
              <a:t> </a:t>
            </a:r>
            <a:r>
              <a:rPr sz="1050" b="1" spc="-5" dirty="0">
                <a:solidFill>
                  <a:srgbClr val="FFFFFF"/>
                </a:solidFill>
                <a:latin typeface="Microsoft PhagsPa"/>
                <a:cs typeface="Microsoft PhagsPa"/>
              </a:rPr>
              <a:t>Akhir</a:t>
            </a:r>
            <a:endParaRPr sz="1050">
              <a:latin typeface="Microsoft PhagsPa"/>
              <a:cs typeface="Microsoft PhagsPa"/>
            </a:endParaRPr>
          </a:p>
          <a:p>
            <a:pPr marL="32384">
              <a:lnSpc>
                <a:spcPct val="100000"/>
              </a:lnSpc>
              <a:spcBef>
                <a:spcPts val="5"/>
              </a:spcBef>
            </a:pPr>
            <a:r>
              <a:rPr sz="1050" b="1" dirty="0">
                <a:solidFill>
                  <a:srgbClr val="FFFFFF"/>
                </a:solidFill>
                <a:latin typeface="Microsoft PhagsPa"/>
                <a:cs typeface="Microsoft PhagsPa"/>
              </a:rPr>
              <a:t>Persediaan</a:t>
            </a:r>
            <a:endParaRPr sz="1050">
              <a:latin typeface="Microsoft PhagsPa"/>
              <a:cs typeface="Microsoft PhagsP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797810" y="5790374"/>
            <a:ext cx="5991225" cy="279400"/>
            <a:chOff x="2797810" y="5790374"/>
            <a:chExt cx="5991225" cy="279400"/>
          </a:xfrm>
        </p:grpSpPr>
        <p:sp>
          <p:nvSpPr>
            <p:cNvPr id="15" name="object 15"/>
            <p:cNvSpPr/>
            <p:nvPr/>
          </p:nvSpPr>
          <p:spPr>
            <a:xfrm>
              <a:off x="8449564" y="5944209"/>
              <a:ext cx="332740" cy="119380"/>
            </a:xfrm>
            <a:custGeom>
              <a:avLst/>
              <a:gdLst/>
              <a:ahLst/>
              <a:cxnLst/>
              <a:rect l="l" t="t" r="r" b="b"/>
              <a:pathLst>
                <a:path w="332740" h="119379">
                  <a:moveTo>
                    <a:pt x="332740" y="71501"/>
                  </a:moveTo>
                  <a:lnTo>
                    <a:pt x="0" y="71501"/>
                  </a:lnTo>
                  <a:lnTo>
                    <a:pt x="0" y="119176"/>
                  </a:lnTo>
                  <a:lnTo>
                    <a:pt x="332740" y="119176"/>
                  </a:lnTo>
                  <a:lnTo>
                    <a:pt x="332740" y="71501"/>
                  </a:lnTo>
                  <a:close/>
                </a:path>
                <a:path w="332740" h="119379">
                  <a:moveTo>
                    <a:pt x="332740" y="0"/>
                  </a:moveTo>
                  <a:lnTo>
                    <a:pt x="0" y="0"/>
                  </a:lnTo>
                  <a:lnTo>
                    <a:pt x="0" y="47675"/>
                  </a:lnTo>
                  <a:lnTo>
                    <a:pt x="332740" y="47675"/>
                  </a:lnTo>
                  <a:lnTo>
                    <a:pt x="3327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49563" y="5944209"/>
              <a:ext cx="332740" cy="119380"/>
            </a:xfrm>
            <a:custGeom>
              <a:avLst/>
              <a:gdLst/>
              <a:ahLst/>
              <a:cxnLst/>
              <a:rect l="l" t="t" r="r" b="b"/>
              <a:pathLst>
                <a:path w="332740" h="119379">
                  <a:moveTo>
                    <a:pt x="0" y="0"/>
                  </a:moveTo>
                  <a:lnTo>
                    <a:pt x="332739" y="0"/>
                  </a:lnTo>
                  <a:lnTo>
                    <a:pt x="332739" y="47675"/>
                  </a:lnTo>
                  <a:lnTo>
                    <a:pt x="0" y="47675"/>
                  </a:lnTo>
                  <a:lnTo>
                    <a:pt x="0" y="0"/>
                  </a:lnTo>
                  <a:close/>
                </a:path>
                <a:path w="332740" h="119379">
                  <a:moveTo>
                    <a:pt x="0" y="71500"/>
                  </a:moveTo>
                  <a:lnTo>
                    <a:pt x="332739" y="71500"/>
                  </a:lnTo>
                  <a:lnTo>
                    <a:pt x="332739" y="119176"/>
                  </a:lnTo>
                  <a:lnTo>
                    <a:pt x="0" y="119176"/>
                  </a:lnTo>
                  <a:lnTo>
                    <a:pt x="0" y="715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04160" y="5796279"/>
              <a:ext cx="262255" cy="149860"/>
            </a:xfrm>
            <a:custGeom>
              <a:avLst/>
              <a:gdLst/>
              <a:ahLst/>
              <a:cxnLst/>
              <a:rect l="l" t="t" r="r" b="b"/>
              <a:pathLst>
                <a:path w="262255" h="149860">
                  <a:moveTo>
                    <a:pt x="262128" y="50800"/>
                  </a:moveTo>
                  <a:lnTo>
                    <a:pt x="154940" y="50800"/>
                  </a:lnTo>
                  <a:lnTo>
                    <a:pt x="154940" y="0"/>
                  </a:lnTo>
                  <a:lnTo>
                    <a:pt x="107188" y="0"/>
                  </a:lnTo>
                  <a:lnTo>
                    <a:pt x="107188" y="50800"/>
                  </a:lnTo>
                  <a:lnTo>
                    <a:pt x="0" y="50800"/>
                  </a:lnTo>
                  <a:lnTo>
                    <a:pt x="0" y="99060"/>
                  </a:lnTo>
                  <a:lnTo>
                    <a:pt x="107188" y="99060"/>
                  </a:lnTo>
                  <a:lnTo>
                    <a:pt x="107188" y="149860"/>
                  </a:lnTo>
                  <a:lnTo>
                    <a:pt x="154940" y="149860"/>
                  </a:lnTo>
                  <a:lnTo>
                    <a:pt x="154940" y="99060"/>
                  </a:lnTo>
                  <a:lnTo>
                    <a:pt x="262128" y="99060"/>
                  </a:lnTo>
                  <a:lnTo>
                    <a:pt x="262128" y="508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04160" y="5796724"/>
              <a:ext cx="262255" cy="149225"/>
            </a:xfrm>
            <a:custGeom>
              <a:avLst/>
              <a:gdLst/>
              <a:ahLst/>
              <a:cxnLst/>
              <a:rect l="l" t="t" r="r" b="b"/>
              <a:pathLst>
                <a:path w="262255" h="149225">
                  <a:moveTo>
                    <a:pt x="0" y="50647"/>
                  </a:moveTo>
                  <a:lnTo>
                    <a:pt x="107187" y="50647"/>
                  </a:lnTo>
                  <a:lnTo>
                    <a:pt x="107187" y="0"/>
                  </a:lnTo>
                  <a:lnTo>
                    <a:pt x="154939" y="0"/>
                  </a:lnTo>
                  <a:lnTo>
                    <a:pt x="154939" y="50647"/>
                  </a:lnTo>
                  <a:lnTo>
                    <a:pt x="262127" y="50647"/>
                  </a:lnTo>
                  <a:lnTo>
                    <a:pt x="262127" y="98323"/>
                  </a:lnTo>
                  <a:lnTo>
                    <a:pt x="154939" y="98323"/>
                  </a:lnTo>
                  <a:lnTo>
                    <a:pt x="154939" y="148958"/>
                  </a:lnTo>
                  <a:lnTo>
                    <a:pt x="107187" y="148958"/>
                  </a:lnTo>
                  <a:lnTo>
                    <a:pt x="107187" y="98323"/>
                  </a:lnTo>
                  <a:lnTo>
                    <a:pt x="0" y="98323"/>
                  </a:lnTo>
                  <a:lnTo>
                    <a:pt x="0" y="5064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601589" y="5882874"/>
              <a:ext cx="309245" cy="38100"/>
            </a:xfrm>
            <a:custGeom>
              <a:avLst/>
              <a:gdLst/>
              <a:ahLst/>
              <a:cxnLst/>
              <a:rect l="l" t="t" r="r" b="b"/>
              <a:pathLst>
                <a:path w="309245" h="38100">
                  <a:moveTo>
                    <a:pt x="309117" y="0"/>
                  </a:moveTo>
                  <a:lnTo>
                    <a:pt x="0" y="0"/>
                  </a:lnTo>
                  <a:lnTo>
                    <a:pt x="0" y="37636"/>
                  </a:lnTo>
                  <a:lnTo>
                    <a:pt x="309117" y="37636"/>
                  </a:lnTo>
                  <a:lnTo>
                    <a:pt x="3091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01589" y="5882874"/>
              <a:ext cx="309245" cy="38100"/>
            </a:xfrm>
            <a:custGeom>
              <a:avLst/>
              <a:gdLst/>
              <a:ahLst/>
              <a:cxnLst/>
              <a:rect l="l" t="t" r="r" b="b"/>
              <a:pathLst>
                <a:path w="309245" h="38100">
                  <a:moveTo>
                    <a:pt x="0" y="37636"/>
                  </a:moveTo>
                  <a:lnTo>
                    <a:pt x="309117" y="37636"/>
                  </a:lnTo>
                  <a:lnTo>
                    <a:pt x="309117" y="0"/>
                  </a:lnTo>
                  <a:lnTo>
                    <a:pt x="0" y="0"/>
                  </a:lnTo>
                  <a:lnTo>
                    <a:pt x="0" y="3763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49832" y="6213144"/>
            <a:ext cx="547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1.650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93058" y="6213144"/>
            <a:ext cx="547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4.750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38366" y="6213144"/>
            <a:ext cx="547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4.700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634219" y="6170472"/>
            <a:ext cx="5473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1.700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289050" y="1322832"/>
            <a:ext cx="9783445" cy="5301615"/>
            <a:chOff x="1289050" y="1322832"/>
            <a:chExt cx="9783445" cy="5301615"/>
          </a:xfrm>
        </p:grpSpPr>
        <p:sp>
          <p:nvSpPr>
            <p:cNvPr id="26" name="object 26"/>
            <p:cNvSpPr/>
            <p:nvPr/>
          </p:nvSpPr>
          <p:spPr>
            <a:xfrm>
              <a:off x="5682996" y="1360932"/>
              <a:ext cx="685800" cy="4223385"/>
            </a:xfrm>
            <a:custGeom>
              <a:avLst/>
              <a:gdLst/>
              <a:ahLst/>
              <a:cxnLst/>
              <a:rect l="l" t="t" r="r" b="b"/>
              <a:pathLst>
                <a:path w="685800" h="4223385">
                  <a:moveTo>
                    <a:pt x="0" y="114300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571500" y="0"/>
                  </a:lnTo>
                  <a:lnTo>
                    <a:pt x="615987" y="8983"/>
                  </a:lnTo>
                  <a:lnTo>
                    <a:pt x="652319" y="33480"/>
                  </a:lnTo>
                  <a:lnTo>
                    <a:pt x="676816" y="69812"/>
                  </a:lnTo>
                  <a:lnTo>
                    <a:pt x="685800" y="114300"/>
                  </a:lnTo>
                  <a:lnTo>
                    <a:pt x="685800" y="4108704"/>
                  </a:lnTo>
                  <a:lnTo>
                    <a:pt x="676816" y="4153191"/>
                  </a:lnTo>
                  <a:lnTo>
                    <a:pt x="652319" y="4189523"/>
                  </a:lnTo>
                  <a:lnTo>
                    <a:pt x="615987" y="4214020"/>
                  </a:lnTo>
                  <a:lnTo>
                    <a:pt x="571500" y="4223004"/>
                  </a:lnTo>
                  <a:lnTo>
                    <a:pt x="114300" y="4223004"/>
                  </a:lnTo>
                  <a:lnTo>
                    <a:pt x="69812" y="4214020"/>
                  </a:lnTo>
                  <a:lnTo>
                    <a:pt x="33480" y="4189523"/>
                  </a:lnTo>
                  <a:lnTo>
                    <a:pt x="8983" y="4153191"/>
                  </a:lnTo>
                  <a:lnTo>
                    <a:pt x="0" y="4108704"/>
                  </a:lnTo>
                  <a:lnTo>
                    <a:pt x="0" y="114300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89050" y="1322831"/>
              <a:ext cx="9783445" cy="5301615"/>
            </a:xfrm>
            <a:custGeom>
              <a:avLst/>
              <a:gdLst/>
              <a:ahLst/>
              <a:cxnLst/>
              <a:rect l="l" t="t" r="r" b="b"/>
              <a:pathLst>
                <a:path w="9783445" h="5301615">
                  <a:moveTo>
                    <a:pt x="4773676" y="4337304"/>
                  </a:moveTo>
                  <a:lnTo>
                    <a:pt x="4767326" y="4324604"/>
                  </a:lnTo>
                  <a:lnTo>
                    <a:pt x="4735576" y="4261104"/>
                  </a:lnTo>
                  <a:lnTo>
                    <a:pt x="4697476" y="4337304"/>
                  </a:lnTo>
                  <a:lnTo>
                    <a:pt x="4729226" y="4337304"/>
                  </a:lnTo>
                  <a:lnTo>
                    <a:pt x="4729226" y="5049024"/>
                  </a:lnTo>
                  <a:lnTo>
                    <a:pt x="3229610" y="5049024"/>
                  </a:lnTo>
                  <a:lnTo>
                    <a:pt x="3229610" y="5061724"/>
                  </a:lnTo>
                  <a:lnTo>
                    <a:pt x="4741926" y="5061724"/>
                  </a:lnTo>
                  <a:lnTo>
                    <a:pt x="4741926" y="5055374"/>
                  </a:lnTo>
                  <a:lnTo>
                    <a:pt x="4741926" y="5049024"/>
                  </a:lnTo>
                  <a:lnTo>
                    <a:pt x="4741926" y="4337304"/>
                  </a:lnTo>
                  <a:lnTo>
                    <a:pt x="4773676" y="4337304"/>
                  </a:lnTo>
                  <a:close/>
                </a:path>
                <a:path w="9783445" h="5301615">
                  <a:moveTo>
                    <a:pt x="6486906" y="4370832"/>
                  </a:moveTo>
                  <a:lnTo>
                    <a:pt x="6480556" y="4358132"/>
                  </a:lnTo>
                  <a:lnTo>
                    <a:pt x="6448806" y="4294632"/>
                  </a:lnTo>
                  <a:lnTo>
                    <a:pt x="6410706" y="4370832"/>
                  </a:lnTo>
                  <a:lnTo>
                    <a:pt x="6442456" y="4370832"/>
                  </a:lnTo>
                  <a:lnTo>
                    <a:pt x="6442456" y="5049888"/>
                  </a:lnTo>
                  <a:lnTo>
                    <a:pt x="6074918" y="5049888"/>
                  </a:lnTo>
                  <a:lnTo>
                    <a:pt x="6074918" y="5062588"/>
                  </a:lnTo>
                  <a:lnTo>
                    <a:pt x="6455156" y="5062588"/>
                  </a:lnTo>
                  <a:lnTo>
                    <a:pt x="6455156" y="5056238"/>
                  </a:lnTo>
                  <a:lnTo>
                    <a:pt x="6455156" y="5049888"/>
                  </a:lnTo>
                  <a:lnTo>
                    <a:pt x="6455156" y="4370832"/>
                  </a:lnTo>
                  <a:lnTo>
                    <a:pt x="6486906" y="4370832"/>
                  </a:lnTo>
                  <a:close/>
                </a:path>
                <a:path w="9783445" h="5301615">
                  <a:moveTo>
                    <a:pt x="9783064" y="31750"/>
                  </a:moveTo>
                  <a:lnTo>
                    <a:pt x="9510649" y="31750"/>
                  </a:lnTo>
                  <a:lnTo>
                    <a:pt x="9510649" y="0"/>
                  </a:lnTo>
                  <a:lnTo>
                    <a:pt x="9434449" y="38100"/>
                  </a:lnTo>
                  <a:lnTo>
                    <a:pt x="9510649" y="76200"/>
                  </a:lnTo>
                  <a:lnTo>
                    <a:pt x="9510649" y="44450"/>
                  </a:lnTo>
                  <a:lnTo>
                    <a:pt x="9770364" y="44450"/>
                  </a:lnTo>
                  <a:lnTo>
                    <a:pt x="9770364" y="5288762"/>
                  </a:lnTo>
                  <a:lnTo>
                    <a:pt x="12700" y="5288762"/>
                  </a:lnTo>
                  <a:lnTo>
                    <a:pt x="12700" y="5240693"/>
                  </a:lnTo>
                  <a:lnTo>
                    <a:pt x="0" y="5240693"/>
                  </a:lnTo>
                  <a:lnTo>
                    <a:pt x="0" y="5301462"/>
                  </a:lnTo>
                  <a:lnTo>
                    <a:pt x="9783064" y="5301475"/>
                  </a:lnTo>
                  <a:lnTo>
                    <a:pt x="9783064" y="5295125"/>
                  </a:lnTo>
                  <a:lnTo>
                    <a:pt x="12700" y="5295112"/>
                  </a:lnTo>
                  <a:lnTo>
                    <a:pt x="9770364" y="5295112"/>
                  </a:lnTo>
                  <a:lnTo>
                    <a:pt x="9783064" y="5295125"/>
                  </a:lnTo>
                  <a:lnTo>
                    <a:pt x="9783064" y="5288762"/>
                  </a:lnTo>
                  <a:lnTo>
                    <a:pt x="9783064" y="44450"/>
                  </a:lnTo>
                  <a:lnTo>
                    <a:pt x="9783064" y="38100"/>
                  </a:lnTo>
                  <a:lnTo>
                    <a:pt x="9783064" y="3175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034271" y="5213603"/>
              <a:ext cx="556260" cy="483234"/>
            </a:xfrm>
            <a:custGeom>
              <a:avLst/>
              <a:gdLst/>
              <a:ahLst/>
              <a:cxnLst/>
              <a:rect l="l" t="t" r="r" b="b"/>
              <a:pathLst>
                <a:path w="556259" h="483235">
                  <a:moveTo>
                    <a:pt x="0" y="80518"/>
                  </a:moveTo>
                  <a:lnTo>
                    <a:pt x="6330" y="49184"/>
                  </a:lnTo>
                  <a:lnTo>
                    <a:pt x="23590" y="23590"/>
                  </a:lnTo>
                  <a:lnTo>
                    <a:pt x="49184" y="6330"/>
                  </a:lnTo>
                  <a:lnTo>
                    <a:pt x="80518" y="0"/>
                  </a:lnTo>
                  <a:lnTo>
                    <a:pt x="475742" y="0"/>
                  </a:lnTo>
                  <a:lnTo>
                    <a:pt x="507075" y="6330"/>
                  </a:lnTo>
                  <a:lnTo>
                    <a:pt x="532669" y="23590"/>
                  </a:lnTo>
                  <a:lnTo>
                    <a:pt x="549929" y="49184"/>
                  </a:lnTo>
                  <a:lnTo>
                    <a:pt x="556259" y="80518"/>
                  </a:lnTo>
                  <a:lnTo>
                    <a:pt x="556259" y="402590"/>
                  </a:lnTo>
                  <a:lnTo>
                    <a:pt x="549929" y="433928"/>
                  </a:lnTo>
                  <a:lnTo>
                    <a:pt x="532669" y="459522"/>
                  </a:lnTo>
                  <a:lnTo>
                    <a:pt x="507075" y="476779"/>
                  </a:lnTo>
                  <a:lnTo>
                    <a:pt x="475742" y="483108"/>
                  </a:lnTo>
                  <a:lnTo>
                    <a:pt x="80518" y="483108"/>
                  </a:lnTo>
                  <a:lnTo>
                    <a:pt x="49184" y="476779"/>
                  </a:lnTo>
                  <a:lnTo>
                    <a:pt x="23590" y="459522"/>
                  </a:lnTo>
                  <a:lnTo>
                    <a:pt x="6330" y="433928"/>
                  </a:lnTo>
                  <a:lnTo>
                    <a:pt x="0" y="402590"/>
                  </a:lnTo>
                  <a:lnTo>
                    <a:pt x="0" y="80518"/>
                  </a:lnTo>
                  <a:close/>
                </a:path>
              </a:pathLst>
            </a:custGeom>
            <a:ln w="12700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996171" y="5733288"/>
              <a:ext cx="502284" cy="608965"/>
            </a:xfrm>
            <a:custGeom>
              <a:avLst/>
              <a:gdLst/>
              <a:ahLst/>
              <a:cxnLst/>
              <a:rect l="l" t="t" r="r" b="b"/>
              <a:pathLst>
                <a:path w="502284" h="60896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608876"/>
                  </a:lnTo>
                  <a:lnTo>
                    <a:pt x="501903" y="608876"/>
                  </a:lnTo>
                  <a:lnTo>
                    <a:pt x="501903" y="602526"/>
                  </a:lnTo>
                  <a:lnTo>
                    <a:pt x="44450" y="602526"/>
                  </a:lnTo>
                  <a:lnTo>
                    <a:pt x="38100" y="596176"/>
                  </a:lnTo>
                  <a:lnTo>
                    <a:pt x="44450" y="596176"/>
                  </a:lnTo>
                  <a:lnTo>
                    <a:pt x="44450" y="63500"/>
                  </a:lnTo>
                  <a:close/>
                </a:path>
                <a:path w="502284" h="608964">
                  <a:moveTo>
                    <a:pt x="44450" y="596176"/>
                  </a:moveTo>
                  <a:lnTo>
                    <a:pt x="38100" y="596176"/>
                  </a:lnTo>
                  <a:lnTo>
                    <a:pt x="44450" y="602526"/>
                  </a:lnTo>
                  <a:lnTo>
                    <a:pt x="44450" y="596176"/>
                  </a:lnTo>
                  <a:close/>
                </a:path>
                <a:path w="502284" h="608964">
                  <a:moveTo>
                    <a:pt x="501903" y="596176"/>
                  </a:moveTo>
                  <a:lnTo>
                    <a:pt x="44450" y="596176"/>
                  </a:lnTo>
                  <a:lnTo>
                    <a:pt x="44450" y="602526"/>
                  </a:lnTo>
                  <a:lnTo>
                    <a:pt x="501903" y="602526"/>
                  </a:lnTo>
                  <a:lnTo>
                    <a:pt x="501903" y="596176"/>
                  </a:lnTo>
                  <a:close/>
                </a:path>
                <a:path w="502284" h="60896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502284" h="60896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284714" y="6292697"/>
            <a:ext cx="5505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NE</a:t>
            </a:r>
            <a:r>
              <a:rPr sz="1200" b="1" spc="-5" dirty="0">
                <a:latin typeface="Calibri"/>
                <a:cs typeface="Calibri"/>
              </a:rPr>
              <a:t>R</a:t>
            </a:r>
            <a:r>
              <a:rPr sz="1200" b="1" spc="-10" dirty="0">
                <a:latin typeface="Calibri"/>
                <a:cs typeface="Calibri"/>
              </a:rPr>
              <a:t>A</a:t>
            </a:r>
            <a:r>
              <a:rPr sz="1200" b="1" spc="-5" dirty="0">
                <a:latin typeface="Calibri"/>
                <a:cs typeface="Calibri"/>
              </a:rPr>
              <a:t>CA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69151" y="6403949"/>
            <a:ext cx="1337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latin typeface="Calibri"/>
                <a:cs typeface="Calibri"/>
              </a:rPr>
              <a:t>Laporan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Operasional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9765" y="-60960"/>
            <a:ext cx="11048365" cy="1391920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030"/>
              </a:spcBef>
            </a:pPr>
            <a:r>
              <a:rPr sz="3200" spc="-40" dirty="0">
                <a:solidFill>
                  <a:srgbClr val="006FC0"/>
                </a:solidFill>
              </a:rPr>
              <a:t>Perlakuan</a:t>
            </a:r>
            <a:r>
              <a:rPr sz="3200" spc="-100" dirty="0">
                <a:solidFill>
                  <a:srgbClr val="006FC0"/>
                </a:solidFill>
              </a:rPr>
              <a:t> </a:t>
            </a:r>
            <a:r>
              <a:rPr sz="3200" spc="-280" dirty="0">
                <a:solidFill>
                  <a:srgbClr val="006FC0"/>
                </a:solidFill>
              </a:rPr>
              <a:t>Khusus</a:t>
            </a:r>
            <a:r>
              <a:rPr sz="3200" spc="-35" dirty="0">
                <a:solidFill>
                  <a:srgbClr val="006FC0"/>
                </a:solidFill>
              </a:rPr>
              <a:t> </a:t>
            </a:r>
            <a:r>
              <a:rPr sz="3200" spc="-145" dirty="0">
                <a:solidFill>
                  <a:srgbClr val="006FC0"/>
                </a:solidFill>
              </a:rPr>
              <a:t>Persediaan</a:t>
            </a:r>
            <a:r>
              <a:rPr sz="3200" spc="-90" dirty="0">
                <a:solidFill>
                  <a:srgbClr val="006FC0"/>
                </a:solidFill>
              </a:rPr>
              <a:t> </a:t>
            </a:r>
            <a:r>
              <a:rPr sz="3200" spc="-80" dirty="0">
                <a:solidFill>
                  <a:srgbClr val="006FC0"/>
                </a:solidFill>
              </a:rPr>
              <a:t>yang</a:t>
            </a:r>
            <a:r>
              <a:rPr sz="3200" spc="-50" dirty="0">
                <a:solidFill>
                  <a:srgbClr val="006FC0"/>
                </a:solidFill>
              </a:rPr>
              <a:t> </a:t>
            </a:r>
            <a:r>
              <a:rPr sz="3200" spc="-40" dirty="0">
                <a:solidFill>
                  <a:srgbClr val="006FC0"/>
                </a:solidFill>
              </a:rPr>
              <a:t>Memiliki</a:t>
            </a:r>
            <a:r>
              <a:rPr sz="3200" spc="-95" dirty="0">
                <a:solidFill>
                  <a:srgbClr val="006FC0"/>
                </a:solidFill>
              </a:rPr>
              <a:t> </a:t>
            </a:r>
            <a:r>
              <a:rPr sz="3200" spc="-185" dirty="0">
                <a:solidFill>
                  <a:srgbClr val="006FC0"/>
                </a:solidFill>
              </a:rPr>
              <a:t>Spesifikasi</a:t>
            </a:r>
            <a:r>
              <a:rPr sz="3200" spc="-100" dirty="0">
                <a:solidFill>
                  <a:srgbClr val="006FC0"/>
                </a:solidFill>
              </a:rPr>
              <a:t> </a:t>
            </a:r>
            <a:r>
              <a:rPr sz="3200" spc="-280" dirty="0">
                <a:solidFill>
                  <a:srgbClr val="006FC0"/>
                </a:solidFill>
              </a:rPr>
              <a:t>Khusus</a:t>
            </a:r>
            <a:endParaRPr sz="3200" dirty="0"/>
          </a:p>
          <a:p>
            <a:pPr marL="12700" marR="5080">
              <a:lnSpc>
                <a:spcPct val="101099"/>
              </a:lnSpc>
              <a:spcBef>
                <a:spcPts val="535"/>
              </a:spcBef>
            </a:pP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Satker</a:t>
            </a:r>
            <a:r>
              <a:rPr sz="1850" spc="210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10" dirty="0">
                <a:solidFill>
                  <a:srgbClr val="000000"/>
                </a:solidFill>
                <a:latin typeface="Microsoft PhagsPa"/>
                <a:cs typeface="Microsoft PhagsPa"/>
              </a:rPr>
              <a:t>XYZ</a:t>
            </a:r>
            <a:r>
              <a:rPr sz="1850" spc="200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dirty="0">
                <a:solidFill>
                  <a:srgbClr val="000000"/>
                </a:solidFill>
                <a:latin typeface="Microsoft PhagsPa"/>
                <a:cs typeface="Microsoft PhagsPa"/>
              </a:rPr>
              <a:t>memiliki</a:t>
            </a:r>
            <a:r>
              <a:rPr sz="1850" spc="220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tusi</a:t>
            </a:r>
            <a:r>
              <a:rPr sz="1850" spc="215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membangun</a:t>
            </a:r>
            <a:r>
              <a:rPr sz="1850" spc="220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10" dirty="0">
                <a:solidFill>
                  <a:srgbClr val="000000"/>
                </a:solidFill>
                <a:latin typeface="Microsoft PhagsPa"/>
                <a:cs typeface="Microsoft PhagsPa"/>
              </a:rPr>
              <a:t>gedung</a:t>
            </a:r>
            <a:r>
              <a:rPr sz="1850" spc="220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10" dirty="0">
                <a:solidFill>
                  <a:srgbClr val="000000"/>
                </a:solidFill>
                <a:latin typeface="Microsoft PhagsPa"/>
                <a:cs typeface="Microsoft PhagsPa"/>
              </a:rPr>
              <a:t>serbaguna</a:t>
            </a:r>
            <a:r>
              <a:rPr sz="1850" spc="195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10" dirty="0">
                <a:solidFill>
                  <a:srgbClr val="000000"/>
                </a:solidFill>
                <a:latin typeface="Microsoft PhagsPa"/>
                <a:cs typeface="Microsoft PhagsPa"/>
              </a:rPr>
              <a:t>untuk</a:t>
            </a:r>
            <a:r>
              <a:rPr sz="1850" spc="225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diserahkan</a:t>
            </a:r>
            <a:r>
              <a:rPr sz="1850" spc="215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10" dirty="0">
                <a:solidFill>
                  <a:srgbClr val="000000"/>
                </a:solidFill>
                <a:latin typeface="Microsoft PhagsPa"/>
                <a:cs typeface="Microsoft PhagsPa"/>
              </a:rPr>
              <a:t>kepada</a:t>
            </a:r>
            <a:r>
              <a:rPr sz="1850" spc="204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masyarakat/pemda. </a:t>
            </a:r>
            <a:r>
              <a:rPr sz="1850" spc="-495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Selama</a:t>
            </a:r>
            <a:r>
              <a:rPr sz="1850" spc="-25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5" dirty="0" err="1">
                <a:solidFill>
                  <a:srgbClr val="000000"/>
                </a:solidFill>
                <a:latin typeface="Microsoft PhagsPa"/>
                <a:cs typeface="Microsoft PhagsPa"/>
              </a:rPr>
              <a:t>tahun</a:t>
            </a:r>
            <a:r>
              <a:rPr sz="1850" spc="30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20</a:t>
            </a:r>
            <a:r>
              <a:rPr lang="en-US"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X</a:t>
            </a: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1,</a:t>
            </a:r>
            <a:r>
              <a:rPr sz="1850" spc="25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Satker</a:t>
            </a:r>
            <a:r>
              <a:rPr sz="1850" spc="-25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10" dirty="0">
                <a:solidFill>
                  <a:srgbClr val="000000"/>
                </a:solidFill>
                <a:latin typeface="Microsoft PhagsPa"/>
                <a:cs typeface="Microsoft PhagsPa"/>
              </a:rPr>
              <a:t>XYZ </a:t>
            </a: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membangun</a:t>
            </a:r>
            <a:r>
              <a:rPr sz="1850" spc="20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10" dirty="0">
                <a:solidFill>
                  <a:srgbClr val="000000"/>
                </a:solidFill>
                <a:latin typeface="Microsoft PhagsPa"/>
                <a:cs typeface="Microsoft PhagsPa"/>
              </a:rPr>
              <a:t>3 gedung</a:t>
            </a: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 di</a:t>
            </a:r>
            <a:r>
              <a:rPr sz="1850" spc="-5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10" dirty="0">
                <a:solidFill>
                  <a:srgbClr val="000000"/>
                </a:solidFill>
                <a:latin typeface="Microsoft PhagsPa"/>
                <a:cs typeface="Microsoft PhagsPa"/>
              </a:rPr>
              <a:t>beberapa</a:t>
            </a:r>
            <a:r>
              <a:rPr sz="1850" spc="-20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daerah</a:t>
            </a:r>
            <a:r>
              <a:rPr sz="1850" spc="10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sebagai</a:t>
            </a:r>
            <a:r>
              <a:rPr sz="1850" spc="-10" dirty="0">
                <a:solidFill>
                  <a:srgbClr val="000000"/>
                </a:solidFill>
                <a:latin typeface="Microsoft PhagsPa"/>
                <a:cs typeface="Microsoft PhagsPa"/>
              </a:rPr>
              <a:t> </a:t>
            </a:r>
            <a:r>
              <a:rPr sz="1850" spc="5" dirty="0">
                <a:solidFill>
                  <a:srgbClr val="000000"/>
                </a:solidFill>
                <a:latin typeface="Microsoft PhagsPa"/>
                <a:cs typeface="Microsoft PhagsPa"/>
              </a:rPr>
              <a:t>berikut:</a:t>
            </a:r>
            <a:endParaRPr sz="1850" dirty="0">
              <a:latin typeface="Microsoft PhagsPa"/>
              <a:cs typeface="Microsoft PhagsP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09696"/>
              </p:ext>
            </p:extLst>
          </p:nvPr>
        </p:nvGraphicFramePr>
        <p:xfrm>
          <a:off x="444398" y="1347724"/>
          <a:ext cx="10865483" cy="121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2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3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8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Urut Masuk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9718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Tgl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Perolehan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Lokasi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4732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Nilai</a:t>
                      </a:r>
                      <a:r>
                        <a:rPr sz="16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(Rp)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Penyerahan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 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Masyarakat/Pemda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1600" b="1" spc="3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Urut</a:t>
                      </a:r>
                      <a:r>
                        <a:rPr sz="16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Keluar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12 </a:t>
                      </a:r>
                      <a:r>
                        <a:rPr sz="16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Februari</a:t>
                      </a:r>
                      <a:r>
                        <a:rPr sz="1600" spc="-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Semarang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100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juta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5</a:t>
                      </a:r>
                      <a:r>
                        <a:rPr sz="16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Mei</a:t>
                      </a:r>
                      <a:r>
                        <a:rPr sz="16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202</a:t>
                      </a:r>
                      <a:r>
                        <a:rPr lang="en-US"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Microsoft PhagsPa"/>
                          <a:cs typeface="Microsoft PhagsPa"/>
                        </a:rPr>
                        <a:t>2</a:t>
                      </a:r>
                      <a:endParaRPr sz="1600">
                        <a:latin typeface="Microsoft PhagsPa"/>
                        <a:cs typeface="Microsoft PhagsPa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20 </a:t>
                      </a:r>
                      <a:r>
                        <a:rPr sz="1600" spc="-1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Maret</a:t>
                      </a:r>
                      <a:r>
                        <a:rPr sz="1600" spc="-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Banyuwangi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60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juta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30 April</a:t>
                      </a:r>
                      <a:r>
                        <a:rPr sz="1600" spc="-3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202</a:t>
                      </a:r>
                      <a:r>
                        <a:rPr lang="en-US" sz="16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Microsoft PhagsPa"/>
                          <a:cs typeface="Microsoft PhagsPa"/>
                        </a:rPr>
                        <a:t>1</a:t>
                      </a:r>
                      <a:endParaRPr sz="1600">
                        <a:latin typeface="Microsoft PhagsPa"/>
                        <a:cs typeface="Microsoft PhagsPa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5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28 April</a:t>
                      </a:r>
                      <a:r>
                        <a:rPr sz="1600" spc="-3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006FC0"/>
                          </a:solidFill>
                          <a:latin typeface="Calibri"/>
                          <a:cs typeface="Calibri"/>
                        </a:rPr>
                        <a:t>2021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25" dirty="0">
                          <a:latin typeface="Calibri"/>
                          <a:cs typeface="Calibri"/>
                        </a:rPr>
                        <a:t>Yogyakarta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90</a:t>
                      </a:r>
                      <a:r>
                        <a:rPr sz="16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juta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6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11</a:t>
                      </a:r>
                      <a:r>
                        <a:rPr sz="16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" dirty="0" err="1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Juni</a:t>
                      </a:r>
                      <a:r>
                        <a:rPr sz="1600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202</a:t>
                      </a:r>
                      <a:r>
                        <a:rPr lang="en-US" sz="16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600" dirty="0">
                          <a:solidFill>
                            <a:srgbClr val="FF0000"/>
                          </a:solidFill>
                          <a:latin typeface="Microsoft PhagsPa"/>
                          <a:cs typeface="Microsoft PhagsPa"/>
                        </a:rPr>
                        <a:t>3</a:t>
                      </a:r>
                      <a:endParaRPr sz="1600" dirty="0">
                        <a:latin typeface="Microsoft PhagsPa"/>
                        <a:cs typeface="Microsoft PhagsPa"/>
                      </a:endParaRPr>
                    </a:p>
                  </a:txBody>
                  <a:tcPr marL="0" marR="0" marT="273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A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70916" y="2606039"/>
            <a:ext cx="11090275" cy="3505200"/>
            <a:chOff x="470916" y="2606039"/>
            <a:chExt cx="11090275" cy="35052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2732" y="2606039"/>
              <a:ext cx="11038332" cy="3505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916" y="2813303"/>
              <a:ext cx="10258044" cy="31638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8640" y="2686811"/>
              <a:ext cx="10936605" cy="3403600"/>
            </a:xfrm>
            <a:custGeom>
              <a:avLst/>
              <a:gdLst/>
              <a:ahLst/>
              <a:cxnLst/>
              <a:rect l="l" t="t" r="r" b="b"/>
              <a:pathLst>
                <a:path w="10936605" h="3403600">
                  <a:moveTo>
                    <a:pt x="10936224" y="0"/>
                  </a:moveTo>
                  <a:lnTo>
                    <a:pt x="0" y="0"/>
                  </a:lnTo>
                  <a:lnTo>
                    <a:pt x="0" y="3403091"/>
                  </a:lnTo>
                  <a:lnTo>
                    <a:pt x="10936224" y="3403091"/>
                  </a:lnTo>
                  <a:lnTo>
                    <a:pt x="10936224" y="0"/>
                  </a:lnTo>
                  <a:close/>
                </a:path>
              </a:pathLst>
            </a:custGeom>
            <a:solidFill>
              <a:srgbClr val="B4C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27684" y="2947542"/>
            <a:ext cx="9897745" cy="28733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50" b="1" spc="5" dirty="0">
                <a:latin typeface="Microsoft PhagsPa"/>
                <a:cs typeface="Microsoft PhagsPa"/>
              </a:rPr>
              <a:t>Transaksi</a:t>
            </a:r>
            <a:r>
              <a:rPr sz="1850" b="1" spc="-20" dirty="0">
                <a:latin typeface="Microsoft PhagsPa"/>
                <a:cs typeface="Microsoft PhagsPa"/>
              </a:rPr>
              <a:t> </a:t>
            </a:r>
            <a:r>
              <a:rPr sz="1850" b="1" spc="5" dirty="0">
                <a:latin typeface="Microsoft PhagsPa"/>
                <a:cs typeface="Microsoft PhagsPa"/>
              </a:rPr>
              <a:t>penyerahan</a:t>
            </a:r>
            <a:r>
              <a:rPr sz="1850" b="1" spc="-40" dirty="0">
                <a:latin typeface="Microsoft PhagsPa"/>
                <a:cs typeface="Microsoft PhagsPa"/>
              </a:rPr>
              <a:t> </a:t>
            </a:r>
            <a:r>
              <a:rPr sz="1850" b="1" spc="5" dirty="0">
                <a:latin typeface="Microsoft PhagsPa"/>
                <a:cs typeface="Microsoft PhagsPa"/>
              </a:rPr>
              <a:t>gedung</a:t>
            </a:r>
            <a:r>
              <a:rPr sz="1850" b="1" spc="-30" dirty="0">
                <a:latin typeface="Microsoft PhagsPa"/>
                <a:cs typeface="Microsoft PhagsPa"/>
              </a:rPr>
              <a:t> </a:t>
            </a:r>
            <a:r>
              <a:rPr sz="1850" b="1" spc="10" dirty="0">
                <a:latin typeface="Microsoft PhagsPa"/>
                <a:cs typeface="Microsoft PhagsPa"/>
              </a:rPr>
              <a:t>serbaguna</a:t>
            </a:r>
            <a:r>
              <a:rPr sz="1850" b="1" spc="-45" dirty="0">
                <a:latin typeface="Microsoft PhagsPa"/>
                <a:cs typeface="Microsoft PhagsPa"/>
              </a:rPr>
              <a:t> </a:t>
            </a:r>
            <a:r>
              <a:rPr sz="1850" b="1" spc="5" dirty="0">
                <a:latin typeface="Microsoft PhagsPa"/>
                <a:cs typeface="Microsoft PhagsPa"/>
              </a:rPr>
              <a:t>Banyuwangi</a:t>
            </a:r>
            <a:r>
              <a:rPr sz="1850" b="1" spc="-30" dirty="0">
                <a:latin typeface="Microsoft PhagsPa"/>
                <a:cs typeface="Microsoft PhagsPa"/>
              </a:rPr>
              <a:t> </a:t>
            </a:r>
            <a:r>
              <a:rPr sz="1850" b="1" spc="5" dirty="0">
                <a:latin typeface="Microsoft PhagsPa"/>
                <a:cs typeface="Microsoft PhagsPa"/>
              </a:rPr>
              <a:t>tanggal</a:t>
            </a:r>
            <a:r>
              <a:rPr sz="1850" b="1" spc="-30" dirty="0">
                <a:latin typeface="Microsoft PhagsPa"/>
                <a:cs typeface="Microsoft PhagsPa"/>
              </a:rPr>
              <a:t> </a:t>
            </a:r>
            <a:r>
              <a:rPr sz="1850" b="1" spc="10" dirty="0">
                <a:latin typeface="Microsoft PhagsPa"/>
                <a:cs typeface="Microsoft PhagsPa"/>
              </a:rPr>
              <a:t>30</a:t>
            </a:r>
            <a:r>
              <a:rPr sz="1850" b="1" spc="-5" dirty="0">
                <a:latin typeface="Microsoft PhagsPa"/>
                <a:cs typeface="Microsoft PhagsPa"/>
              </a:rPr>
              <a:t> </a:t>
            </a:r>
            <a:r>
              <a:rPr sz="1850" b="1" spc="10" dirty="0">
                <a:latin typeface="Microsoft PhagsPa"/>
                <a:cs typeface="Microsoft PhagsPa"/>
              </a:rPr>
              <a:t>April</a:t>
            </a:r>
            <a:r>
              <a:rPr sz="1850" b="1" spc="-25" dirty="0">
                <a:latin typeface="Microsoft PhagsPa"/>
                <a:cs typeface="Microsoft PhagsPa"/>
              </a:rPr>
              <a:t> </a:t>
            </a:r>
            <a:r>
              <a:rPr sz="1850" b="1" spc="10" dirty="0">
                <a:latin typeface="Microsoft PhagsPa"/>
                <a:cs typeface="Microsoft PhagsPa"/>
              </a:rPr>
              <a:t>20</a:t>
            </a:r>
            <a:r>
              <a:rPr lang="en-US" sz="1850" b="1" spc="10" dirty="0">
                <a:latin typeface="Microsoft PhagsPa"/>
                <a:cs typeface="Microsoft PhagsPa"/>
              </a:rPr>
              <a:t>X</a:t>
            </a:r>
            <a:r>
              <a:rPr sz="1850" b="1" spc="10" dirty="0">
                <a:latin typeface="Microsoft PhagsPa"/>
                <a:cs typeface="Microsoft PhagsPa"/>
              </a:rPr>
              <a:t>1:</a:t>
            </a:r>
            <a:endParaRPr sz="1850" dirty="0">
              <a:latin typeface="Microsoft PhagsPa"/>
              <a:cs typeface="Microsoft PhagsP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750" dirty="0">
              <a:latin typeface="Microsoft PhagsPa"/>
              <a:cs typeface="Microsoft PhagsPa"/>
            </a:endParaRPr>
          </a:p>
          <a:p>
            <a:pPr marL="277495" indent="-265430">
              <a:lnSpc>
                <a:spcPct val="100000"/>
              </a:lnSpc>
              <a:buAutoNum type="arabicPeriod"/>
              <a:tabLst>
                <a:tab pos="278130" algn="l"/>
              </a:tabLst>
            </a:pPr>
            <a:r>
              <a:rPr sz="1850" b="1" spc="5" dirty="0">
                <a:latin typeface="Microsoft PhagsPa"/>
                <a:cs typeface="Microsoft PhagsPa"/>
              </a:rPr>
              <a:t>Metode</a:t>
            </a:r>
            <a:r>
              <a:rPr sz="1850" b="1" spc="-50" dirty="0">
                <a:latin typeface="Microsoft PhagsPa"/>
                <a:cs typeface="Microsoft PhagsPa"/>
              </a:rPr>
              <a:t> </a:t>
            </a:r>
            <a:r>
              <a:rPr sz="1850" b="1" spc="5" dirty="0">
                <a:latin typeface="Microsoft PhagsPa"/>
                <a:cs typeface="Microsoft PhagsPa"/>
              </a:rPr>
              <a:t>HPT:</a:t>
            </a:r>
            <a:endParaRPr sz="1850" dirty="0">
              <a:latin typeface="Microsoft PhagsPa"/>
              <a:cs typeface="Microsoft PhagsP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50" spc="5" dirty="0">
                <a:latin typeface="Microsoft PhagsPa"/>
                <a:cs typeface="Microsoft PhagsPa"/>
              </a:rPr>
              <a:t>Beban</a:t>
            </a:r>
            <a:r>
              <a:rPr sz="1850" spc="10" dirty="0">
                <a:latin typeface="Microsoft PhagsPa"/>
                <a:cs typeface="Microsoft PhagsPa"/>
              </a:rPr>
              <a:t> </a:t>
            </a:r>
            <a:r>
              <a:rPr sz="1850" spc="5" dirty="0">
                <a:latin typeface="Microsoft PhagsPa"/>
                <a:cs typeface="Microsoft PhagsPa"/>
              </a:rPr>
              <a:t>atas</a:t>
            </a:r>
            <a:r>
              <a:rPr sz="1850" spc="10" dirty="0">
                <a:latin typeface="Microsoft PhagsPa"/>
                <a:cs typeface="Microsoft PhagsPa"/>
              </a:rPr>
              <a:t> </a:t>
            </a:r>
            <a:r>
              <a:rPr sz="1850" spc="5" dirty="0">
                <a:latin typeface="Microsoft PhagsPa"/>
                <a:cs typeface="Microsoft PhagsPa"/>
              </a:rPr>
              <a:t>penyerahan Gedung</a:t>
            </a:r>
            <a:r>
              <a:rPr sz="1850" spc="-5" dirty="0">
                <a:latin typeface="Microsoft PhagsPa"/>
                <a:cs typeface="Microsoft PhagsPa"/>
              </a:rPr>
              <a:t> </a:t>
            </a:r>
            <a:r>
              <a:rPr lang="en-US" sz="1850" spc="5" dirty="0" err="1">
                <a:latin typeface="Microsoft PhagsPa"/>
                <a:cs typeface="Microsoft PhagsPa"/>
              </a:rPr>
              <a:t>Banyuwangi</a:t>
            </a:r>
            <a:r>
              <a:rPr sz="1850" spc="30" dirty="0">
                <a:latin typeface="Microsoft PhagsPa"/>
                <a:cs typeface="Microsoft PhagsPa"/>
              </a:rPr>
              <a:t> </a:t>
            </a:r>
            <a:r>
              <a:rPr sz="1850" spc="15" dirty="0">
                <a:latin typeface="Microsoft PhagsPa"/>
                <a:cs typeface="Microsoft PhagsPa"/>
              </a:rPr>
              <a:t>=</a:t>
            </a:r>
            <a:r>
              <a:rPr sz="1850" spc="5" dirty="0">
                <a:latin typeface="Microsoft PhagsPa"/>
                <a:cs typeface="Microsoft PhagsPa"/>
              </a:rPr>
              <a:t> </a:t>
            </a:r>
            <a:r>
              <a:rPr sz="1850" spc="10" dirty="0">
                <a:latin typeface="Microsoft PhagsPa"/>
                <a:cs typeface="Microsoft PhagsPa"/>
              </a:rPr>
              <a:t>Rp90</a:t>
            </a:r>
            <a:r>
              <a:rPr sz="1850" spc="15" dirty="0">
                <a:latin typeface="Microsoft PhagsPa"/>
                <a:cs typeface="Microsoft PhagsPa"/>
              </a:rPr>
              <a:t> </a:t>
            </a:r>
            <a:r>
              <a:rPr sz="1850" dirty="0">
                <a:latin typeface="Microsoft PhagsPa"/>
                <a:cs typeface="Microsoft PhagsPa"/>
              </a:rPr>
              <a:t>juta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50" dirty="0">
              <a:latin typeface="Microsoft PhagsPa"/>
              <a:cs typeface="Microsoft PhagsPa"/>
            </a:endParaRPr>
          </a:p>
          <a:p>
            <a:pPr marL="277495" indent="-26543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78130" algn="l"/>
              </a:tabLst>
            </a:pPr>
            <a:r>
              <a:rPr sz="1850" b="1" spc="5" dirty="0">
                <a:latin typeface="Microsoft PhagsPa"/>
                <a:cs typeface="Microsoft PhagsPa"/>
              </a:rPr>
              <a:t>Metode</a:t>
            </a:r>
            <a:r>
              <a:rPr sz="1850" b="1" spc="-50" dirty="0">
                <a:latin typeface="Microsoft PhagsPa"/>
                <a:cs typeface="Microsoft PhagsPa"/>
              </a:rPr>
              <a:t> </a:t>
            </a:r>
            <a:r>
              <a:rPr sz="1850" b="1" spc="5" dirty="0">
                <a:latin typeface="Microsoft PhagsPa"/>
                <a:cs typeface="Microsoft PhagsPa"/>
              </a:rPr>
              <a:t>FIFO:</a:t>
            </a:r>
            <a:endParaRPr sz="1850" dirty="0">
              <a:latin typeface="Microsoft PhagsPa"/>
              <a:cs typeface="Microsoft PhagsP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850" spc="5" dirty="0">
                <a:latin typeface="Microsoft PhagsPa"/>
                <a:cs typeface="Microsoft PhagsPa"/>
              </a:rPr>
              <a:t>Beban</a:t>
            </a:r>
            <a:r>
              <a:rPr sz="1850" spc="10" dirty="0">
                <a:latin typeface="Microsoft PhagsPa"/>
                <a:cs typeface="Microsoft PhagsPa"/>
              </a:rPr>
              <a:t> </a:t>
            </a:r>
            <a:r>
              <a:rPr sz="1850" spc="5" dirty="0">
                <a:latin typeface="Microsoft PhagsPa"/>
                <a:cs typeface="Microsoft PhagsPa"/>
              </a:rPr>
              <a:t>atas</a:t>
            </a:r>
            <a:r>
              <a:rPr sz="1850" spc="15" dirty="0">
                <a:latin typeface="Microsoft PhagsPa"/>
                <a:cs typeface="Microsoft PhagsPa"/>
              </a:rPr>
              <a:t> </a:t>
            </a:r>
            <a:r>
              <a:rPr sz="1850" spc="5" dirty="0">
                <a:latin typeface="Microsoft PhagsPa"/>
                <a:cs typeface="Microsoft PhagsPa"/>
              </a:rPr>
              <a:t>penyerahan</a:t>
            </a:r>
            <a:r>
              <a:rPr sz="1850" spc="10" dirty="0">
                <a:latin typeface="Microsoft PhagsPa"/>
                <a:cs typeface="Microsoft PhagsPa"/>
              </a:rPr>
              <a:t> </a:t>
            </a:r>
            <a:r>
              <a:rPr sz="1850" spc="5" dirty="0">
                <a:latin typeface="Microsoft PhagsPa"/>
                <a:cs typeface="Microsoft PhagsPa"/>
              </a:rPr>
              <a:t>Gedung</a:t>
            </a:r>
            <a:r>
              <a:rPr sz="1850" spc="-5" dirty="0">
                <a:latin typeface="Microsoft PhagsPa"/>
                <a:cs typeface="Microsoft PhagsPa"/>
              </a:rPr>
              <a:t> </a:t>
            </a:r>
            <a:r>
              <a:rPr lang="en-US" sz="1850" spc="5" dirty="0" err="1">
                <a:latin typeface="Microsoft PhagsPa"/>
                <a:cs typeface="Microsoft PhagsPa"/>
              </a:rPr>
              <a:t>Banyuwangi</a:t>
            </a:r>
            <a:r>
              <a:rPr sz="1850" spc="30" dirty="0">
                <a:latin typeface="Microsoft PhagsPa"/>
                <a:cs typeface="Microsoft PhagsPa"/>
              </a:rPr>
              <a:t> </a:t>
            </a:r>
            <a:r>
              <a:rPr sz="1850" spc="15" dirty="0">
                <a:latin typeface="Microsoft PhagsPa"/>
                <a:cs typeface="Microsoft PhagsPa"/>
              </a:rPr>
              <a:t>=</a:t>
            </a:r>
            <a:r>
              <a:rPr sz="1850" spc="10" dirty="0">
                <a:latin typeface="Microsoft PhagsPa"/>
                <a:cs typeface="Microsoft PhagsPa"/>
              </a:rPr>
              <a:t> </a:t>
            </a:r>
            <a:r>
              <a:rPr sz="1850" spc="5" dirty="0">
                <a:latin typeface="Microsoft PhagsPa"/>
                <a:cs typeface="Microsoft PhagsPa"/>
              </a:rPr>
              <a:t>Rp100</a:t>
            </a:r>
            <a:r>
              <a:rPr sz="1850" spc="20" dirty="0">
                <a:latin typeface="Microsoft PhagsPa"/>
                <a:cs typeface="Microsoft PhagsPa"/>
              </a:rPr>
              <a:t> </a:t>
            </a:r>
            <a:r>
              <a:rPr sz="1850" dirty="0">
                <a:latin typeface="Microsoft PhagsPa"/>
                <a:cs typeface="Microsoft PhagsPa"/>
              </a:rPr>
              <a:t>juta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 dirty="0">
              <a:latin typeface="Microsoft PhagsPa"/>
              <a:cs typeface="Microsoft PhagsPa"/>
            </a:endParaRPr>
          </a:p>
          <a:p>
            <a:pPr marL="277495" indent="-265430">
              <a:lnSpc>
                <a:spcPct val="100000"/>
              </a:lnSpc>
              <a:buAutoNum type="arabicPeriod" startAt="3"/>
              <a:tabLst>
                <a:tab pos="278130" algn="l"/>
              </a:tabLst>
            </a:pPr>
            <a:r>
              <a:rPr sz="1850" b="1" spc="5" dirty="0">
                <a:latin typeface="Microsoft PhagsPa"/>
                <a:cs typeface="Microsoft PhagsPa"/>
              </a:rPr>
              <a:t>Pencatatan</a:t>
            </a:r>
            <a:r>
              <a:rPr sz="1850" b="1" spc="-30" dirty="0">
                <a:latin typeface="Microsoft PhagsPa"/>
                <a:cs typeface="Microsoft PhagsPa"/>
              </a:rPr>
              <a:t> </a:t>
            </a:r>
            <a:r>
              <a:rPr sz="1850" b="1" spc="5" dirty="0">
                <a:latin typeface="Microsoft PhagsPa"/>
                <a:cs typeface="Microsoft PhagsPa"/>
              </a:rPr>
              <a:t>masing-masing</a:t>
            </a:r>
            <a:r>
              <a:rPr sz="1850" b="1" spc="-35" dirty="0">
                <a:latin typeface="Microsoft PhagsPa"/>
                <a:cs typeface="Microsoft PhagsPa"/>
              </a:rPr>
              <a:t> </a:t>
            </a:r>
            <a:r>
              <a:rPr sz="1850" b="1" spc="5" dirty="0">
                <a:latin typeface="Microsoft PhagsPa"/>
                <a:cs typeface="Microsoft PhagsPa"/>
              </a:rPr>
              <a:t>gedung</a:t>
            </a:r>
            <a:r>
              <a:rPr sz="1850" b="1" spc="-25" dirty="0">
                <a:latin typeface="Microsoft PhagsPa"/>
                <a:cs typeface="Microsoft PhagsPa"/>
              </a:rPr>
              <a:t> </a:t>
            </a:r>
            <a:r>
              <a:rPr sz="1850" b="1" spc="5" dirty="0">
                <a:latin typeface="Microsoft PhagsPa"/>
                <a:cs typeface="Microsoft PhagsPa"/>
              </a:rPr>
              <a:t>menggunakan</a:t>
            </a:r>
            <a:r>
              <a:rPr sz="1850" b="1" spc="-35" dirty="0">
                <a:latin typeface="Microsoft PhagsPa"/>
                <a:cs typeface="Microsoft PhagsPa"/>
              </a:rPr>
              <a:t> </a:t>
            </a:r>
            <a:r>
              <a:rPr sz="1850" b="1" spc="5" dirty="0">
                <a:latin typeface="Microsoft PhagsPa"/>
                <a:cs typeface="Microsoft PhagsPa"/>
              </a:rPr>
              <a:t>kodefikasi</a:t>
            </a:r>
            <a:r>
              <a:rPr sz="1850" b="1" spc="-15" dirty="0">
                <a:latin typeface="Microsoft PhagsPa"/>
                <a:cs typeface="Microsoft PhagsPa"/>
              </a:rPr>
              <a:t> </a:t>
            </a:r>
            <a:r>
              <a:rPr sz="1850" b="1" spc="5" dirty="0">
                <a:latin typeface="Microsoft PhagsPa"/>
                <a:cs typeface="Microsoft PhagsPa"/>
              </a:rPr>
              <a:t>yang</a:t>
            </a:r>
            <a:r>
              <a:rPr sz="1850" b="1" spc="-20" dirty="0">
                <a:latin typeface="Microsoft PhagsPa"/>
                <a:cs typeface="Microsoft PhagsPa"/>
              </a:rPr>
              <a:t> </a:t>
            </a:r>
            <a:r>
              <a:rPr sz="1850" b="1" spc="10" dirty="0">
                <a:latin typeface="Microsoft PhagsPa"/>
                <a:cs typeface="Microsoft PhagsPa"/>
              </a:rPr>
              <a:t>spesifik</a:t>
            </a:r>
            <a:r>
              <a:rPr sz="1850" b="1" spc="-5" dirty="0">
                <a:latin typeface="Microsoft PhagsPa"/>
                <a:cs typeface="Microsoft PhagsPa"/>
              </a:rPr>
              <a:t> </a:t>
            </a:r>
            <a:r>
              <a:rPr sz="1850" b="1" spc="5" dirty="0">
                <a:latin typeface="Microsoft PhagsPa"/>
                <a:cs typeface="Microsoft PhagsPa"/>
              </a:rPr>
              <a:t>:</a:t>
            </a:r>
            <a:endParaRPr sz="1850" dirty="0">
              <a:latin typeface="Microsoft PhagsPa"/>
              <a:cs typeface="Microsoft PhagsPa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50" spc="5" dirty="0">
                <a:latin typeface="Microsoft PhagsPa"/>
                <a:cs typeface="Microsoft PhagsPa"/>
              </a:rPr>
              <a:t>Beban</a:t>
            </a:r>
            <a:r>
              <a:rPr sz="1850" spc="10" dirty="0">
                <a:latin typeface="Microsoft PhagsPa"/>
                <a:cs typeface="Microsoft PhagsPa"/>
              </a:rPr>
              <a:t> </a:t>
            </a:r>
            <a:r>
              <a:rPr sz="1850" spc="5" dirty="0">
                <a:latin typeface="Microsoft PhagsPa"/>
                <a:cs typeface="Microsoft PhagsPa"/>
              </a:rPr>
              <a:t>atas</a:t>
            </a:r>
            <a:r>
              <a:rPr sz="1850" spc="10" dirty="0">
                <a:latin typeface="Microsoft PhagsPa"/>
                <a:cs typeface="Microsoft PhagsPa"/>
              </a:rPr>
              <a:t> </a:t>
            </a:r>
            <a:r>
              <a:rPr sz="1850" spc="5" dirty="0">
                <a:latin typeface="Microsoft PhagsPa"/>
                <a:cs typeface="Microsoft PhagsPa"/>
              </a:rPr>
              <a:t>penyerahan Gedung</a:t>
            </a:r>
            <a:r>
              <a:rPr sz="1850" dirty="0">
                <a:latin typeface="Microsoft PhagsPa"/>
                <a:cs typeface="Microsoft PhagsPa"/>
              </a:rPr>
              <a:t> </a:t>
            </a:r>
            <a:r>
              <a:rPr sz="1850" spc="5" dirty="0">
                <a:latin typeface="Microsoft PhagsPa"/>
                <a:cs typeface="Microsoft PhagsPa"/>
              </a:rPr>
              <a:t>Banyuwangi</a:t>
            </a:r>
            <a:r>
              <a:rPr sz="1850" spc="25" dirty="0">
                <a:latin typeface="Microsoft PhagsPa"/>
                <a:cs typeface="Microsoft PhagsPa"/>
              </a:rPr>
              <a:t> </a:t>
            </a:r>
            <a:r>
              <a:rPr sz="1850" spc="15" dirty="0">
                <a:latin typeface="Microsoft PhagsPa"/>
                <a:cs typeface="Microsoft PhagsPa"/>
              </a:rPr>
              <a:t>=</a:t>
            </a:r>
            <a:r>
              <a:rPr sz="1850" spc="5" dirty="0">
                <a:latin typeface="Microsoft PhagsPa"/>
                <a:cs typeface="Microsoft PhagsPa"/>
              </a:rPr>
              <a:t> </a:t>
            </a:r>
            <a:r>
              <a:rPr sz="1850" spc="10" dirty="0">
                <a:latin typeface="Microsoft PhagsPa"/>
                <a:cs typeface="Microsoft PhagsPa"/>
              </a:rPr>
              <a:t>Rp60</a:t>
            </a:r>
            <a:r>
              <a:rPr sz="1850" spc="20" dirty="0">
                <a:latin typeface="Microsoft PhagsPa"/>
                <a:cs typeface="Microsoft PhagsPa"/>
              </a:rPr>
              <a:t> </a:t>
            </a:r>
            <a:r>
              <a:rPr sz="1850" spc="5" dirty="0">
                <a:latin typeface="Microsoft PhagsPa"/>
                <a:cs typeface="Microsoft PhagsPa"/>
              </a:rPr>
              <a:t>juta</a:t>
            </a:r>
            <a:r>
              <a:rPr sz="1850" spc="10" dirty="0">
                <a:latin typeface="Microsoft PhagsPa"/>
                <a:cs typeface="Microsoft PhagsPa"/>
              </a:rPr>
              <a:t> </a:t>
            </a:r>
            <a:r>
              <a:rPr sz="1850" spc="5" dirty="0">
                <a:latin typeface="Microsoft PhagsPa"/>
                <a:cs typeface="Microsoft PhagsPa"/>
              </a:rPr>
              <a:t>(nilai</a:t>
            </a:r>
            <a:r>
              <a:rPr sz="1850" dirty="0">
                <a:latin typeface="Microsoft PhagsPa"/>
                <a:cs typeface="Microsoft PhagsPa"/>
              </a:rPr>
              <a:t> </a:t>
            </a:r>
            <a:r>
              <a:rPr sz="1850" spc="5" dirty="0">
                <a:latin typeface="Microsoft PhagsPa"/>
                <a:cs typeface="Microsoft PhagsPa"/>
              </a:rPr>
              <a:t>sama</a:t>
            </a:r>
            <a:r>
              <a:rPr sz="1850" spc="10" dirty="0">
                <a:latin typeface="Microsoft PhagsPa"/>
                <a:cs typeface="Microsoft PhagsPa"/>
              </a:rPr>
              <a:t> </a:t>
            </a:r>
            <a:r>
              <a:rPr sz="1850" spc="5" dirty="0">
                <a:latin typeface="Microsoft PhagsPa"/>
                <a:cs typeface="Microsoft PhagsPa"/>
              </a:rPr>
              <a:t>untuk</a:t>
            </a:r>
            <a:r>
              <a:rPr sz="1850" spc="15" dirty="0">
                <a:latin typeface="Microsoft PhagsPa"/>
                <a:cs typeface="Microsoft PhagsPa"/>
              </a:rPr>
              <a:t> </a:t>
            </a:r>
            <a:r>
              <a:rPr sz="1850" spc="10" dirty="0">
                <a:latin typeface="Microsoft PhagsPa"/>
                <a:cs typeface="Microsoft PhagsPa"/>
              </a:rPr>
              <a:t>kurang</a:t>
            </a:r>
            <a:r>
              <a:rPr sz="1850" spc="5" dirty="0">
                <a:latin typeface="Microsoft PhagsPa"/>
                <a:cs typeface="Microsoft PhagsPa"/>
              </a:rPr>
              <a:t> Persediaan)</a:t>
            </a:r>
            <a:endParaRPr sz="1850" dirty="0">
              <a:latin typeface="Microsoft PhagsPa"/>
              <a:cs typeface="Microsoft PhagsP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8974522"/>
      </p:ext>
    </p:extLst>
  </p:cSld>
  <p:clrMapOvr>
    <a:masterClrMapping/>
  </p:clrMapOvr>
</p:sld>
</file>

<file path=ppt/theme/theme1.xml><?xml version="1.0" encoding="utf-8"?>
<a:theme xmlns:a="http://schemas.openxmlformats.org/drawingml/2006/main" name="1_Process Diagram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5EB2FC"/>
      </a:accent1>
      <a:accent2>
        <a:srgbClr val="69E781"/>
      </a:accent2>
      <a:accent3>
        <a:srgbClr val="869FB2"/>
      </a:accent3>
      <a:accent4>
        <a:srgbClr val="4949E7"/>
      </a:accent4>
      <a:accent5>
        <a:srgbClr val="FCBD24"/>
      </a:accent5>
      <a:accent6>
        <a:srgbClr val="EC3A3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23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 Internal DJPb Tematik #6" id="{EFD9872E-33EC-4D0F-9C86-8FE8ACB4EC35}" vid="{8C10C6DE-59CA-4802-86FB-00019942F0B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5788</TotalTime>
  <Words>1597</Words>
  <Application>Microsoft Office PowerPoint</Application>
  <PresentationFormat>Widescreen</PresentationFormat>
  <Paragraphs>441</Paragraphs>
  <Slides>20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20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43" baseType="lpstr">
      <vt:lpstr>Arial</vt:lpstr>
      <vt:lpstr>Arial MT</vt:lpstr>
      <vt:lpstr>Arial Narrow</vt:lpstr>
      <vt:lpstr>Arial Rounded MT Bold</vt:lpstr>
      <vt:lpstr>Calibri</vt:lpstr>
      <vt:lpstr>Calibri Light</vt:lpstr>
      <vt:lpstr>Carlito</vt:lpstr>
      <vt:lpstr>Fira Sans Condensed Medium</vt:lpstr>
      <vt:lpstr>Fira Sans Extra Condensed</vt:lpstr>
      <vt:lpstr>Fira Sans Extra Condensed Medium</vt:lpstr>
      <vt:lpstr>GeosansLight</vt:lpstr>
      <vt:lpstr>Microsoft PhagsPa</vt:lpstr>
      <vt:lpstr>Microsoft Sans Serif</vt:lpstr>
      <vt:lpstr>Roboto</vt:lpstr>
      <vt:lpstr>Segoe UI</vt:lpstr>
      <vt:lpstr>Symbol</vt:lpstr>
      <vt:lpstr>Tahoma</vt:lpstr>
      <vt:lpstr>Times New Roman</vt:lpstr>
      <vt:lpstr>Verdana</vt:lpstr>
      <vt:lpstr>Wingdings</vt:lpstr>
      <vt:lpstr>1_Process Diagrams by Slidesgo</vt:lpstr>
      <vt:lpstr>1_Office Theme</vt:lpstr>
      <vt:lpstr>CorelDRAW</vt:lpstr>
      <vt:lpstr>PowerPoint Presentation</vt:lpstr>
      <vt:lpstr>PSAP NO. 05 AKUNTANSI PERSEDIAAN</vt:lpstr>
      <vt:lpstr>Definisi</vt:lpstr>
      <vt:lpstr>Cakupan Persediaan</vt:lpstr>
      <vt:lpstr>Contoh Persediaan</vt:lpstr>
      <vt:lpstr> PENGAKUAN PERSEDIAAN</vt:lpstr>
      <vt:lpstr>PowerPoint Presentation</vt:lpstr>
      <vt:lpstr>Metode Penilaian</vt:lpstr>
      <vt:lpstr>Beban Persediaan</vt:lpstr>
      <vt:lpstr>PENGUNGKAPAN PERSEDIAAN</vt:lpstr>
      <vt:lpstr>PENCATATAN</vt:lpstr>
      <vt:lpstr>Kebijakan Akuntansi Persediaan Berdasarkan PMK 231/PMK.05/2022</vt:lpstr>
      <vt:lpstr>PENDAHULUAN</vt:lpstr>
      <vt:lpstr>PowerPoint Presentation</vt:lpstr>
      <vt:lpstr>PowerPoint Presentation</vt:lpstr>
      <vt:lpstr>PowerPoint Presentation</vt:lpstr>
      <vt:lpstr>PowerPoint Presentation</vt:lpstr>
      <vt:lpstr>Ilustrasi Metode Penilaian FIFO – Mutasi Masuk &amp; Keluar</vt:lpstr>
      <vt:lpstr>Perlakuan Khusus Persediaan yang Memiliki Spesifikasi Khusus Satker XYZ memiliki tusi membangun gedung serbaguna untuk diserahkan kepada masyarakat/pemda.  Selama tahun 20X1, Satker XYZ membangun 3 gedung di beberapa daerah sebagai berikut: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kholiq hasyadi</dc:creator>
  <cp:lastModifiedBy>PC67</cp:lastModifiedBy>
  <cp:revision>5</cp:revision>
  <dcterms:created xsi:type="dcterms:W3CDTF">2023-03-24T03:39:49Z</dcterms:created>
  <dcterms:modified xsi:type="dcterms:W3CDTF">2023-03-28T06:20:04Z</dcterms:modified>
</cp:coreProperties>
</file>