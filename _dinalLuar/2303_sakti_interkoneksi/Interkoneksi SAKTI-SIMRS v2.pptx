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72" r:id="rId3"/>
    <p:sldId id="258" r:id="rId4"/>
    <p:sldId id="266" r:id="rId5"/>
    <p:sldId id="260" r:id="rId6"/>
    <p:sldId id="261" r:id="rId7"/>
    <p:sldId id="273" r:id="rId8"/>
    <p:sldId id="271" r:id="rId9"/>
    <p:sldId id="268" r:id="rId10"/>
    <p:sldId id="269" r:id="rId11"/>
    <p:sldId id="262" r:id="rId12"/>
    <p:sldId id="265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Quattrocento Sans" panose="020B0604020202020204" charset="0"/>
      <p:regular r:id="rId19"/>
      <p:bold r:id="rId20"/>
      <p:italic r:id="rId21"/>
      <p:boldItalic r:id="rId22"/>
    </p:embeddedFont>
    <p:embeddedFont>
      <p:font typeface="Arial Black" panose="020B0A04020102020204" pitchFamily="34" charset="0"/>
      <p:bold r:id="rId23"/>
    </p:embeddedFont>
    <p:embeddedFont>
      <p:font typeface="Century Gothic" panose="020B0502020202020204" pitchFamily="34" charset="0"/>
      <p:regular r:id="rId24"/>
      <p:bold r:id="rId25"/>
      <p:italic r:id="rId26"/>
      <p:boldItalic r:id="rId27"/>
    </p:embeddedFont>
    <p:embeddedFont>
      <p:font typeface="Montserrat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84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iW+RAt/142g55PQ2uwGvn9cg/p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D2A541B6-0F37-4167-94A8-14DA69BCFF71}">
  <a:tblStyle styleId="{D2A541B6-0F37-4167-94A8-14DA69BCFF7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7395167-FB85-4CF4-BEA5-73AC6E99A12F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1" d="100"/>
          <a:sy n="91" d="100"/>
        </p:scale>
        <p:origin x="-92" y="-26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customschemas.google.com/relationships/presentationmetadata" Target="meta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2F3C47-6BB7-4624-B7D9-F19584F8FEFA}" type="doc">
      <dgm:prSet loTypeId="urn:microsoft.com/office/officeart/2005/8/layout/b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70F28CB-2911-4DFC-86AD-C2760A8EED68}" type="pres">
      <dgm:prSet presAssocID="{5E2F3C47-6BB7-4624-B7D9-F19584F8FEFA}" presName="Name0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</dgm:ptLst>
  <dgm:cxnLst>
    <dgm:cxn modelId="{EC12FCE9-A2AD-43F4-9805-257E32A5C3AE}" type="presOf" srcId="{5E2F3C47-6BB7-4624-B7D9-F19584F8FEFA}" destId="{970F28CB-2911-4DFC-86AD-C2760A8EED68}" srcOrd="0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54E1BA5-9E47-41AD-B981-08C181589C59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2B6028D-F56D-40D0-9A97-B8AF7CEA963D}">
      <dgm:prSet phldrT="[Text]"/>
      <dgm:spPr/>
      <dgm:t>
        <a:bodyPr/>
        <a:lstStyle/>
        <a:p>
          <a:r>
            <a:rPr lang="en-US" dirty="0" smtClean="0"/>
            <a:t>SIMRS </a:t>
          </a:r>
          <a:r>
            <a:rPr lang="en-US" dirty="0" err="1" smtClean="0"/>
            <a:t>membentuk</a:t>
          </a:r>
          <a:r>
            <a:rPr lang="en-US" dirty="0" smtClean="0"/>
            <a:t> ADK ZIP </a:t>
          </a:r>
          <a:r>
            <a:rPr lang="en-US" dirty="0" err="1" smtClean="0"/>
            <a:t>berisikan</a:t>
          </a:r>
          <a:r>
            <a:rPr lang="en-US" dirty="0" smtClean="0"/>
            <a:t> 3 Data CSV</a:t>
          </a:r>
          <a:endParaRPr lang="en-US" dirty="0"/>
        </a:p>
      </dgm:t>
    </dgm:pt>
    <dgm:pt modelId="{A9AD656E-A702-46F9-883D-4862FDB814C8}" type="parTrans" cxnId="{2BB3E4C7-65DB-4EF0-AAB3-E10DCB5DA128}">
      <dgm:prSet/>
      <dgm:spPr/>
      <dgm:t>
        <a:bodyPr/>
        <a:lstStyle/>
        <a:p>
          <a:endParaRPr lang="en-US"/>
        </a:p>
      </dgm:t>
    </dgm:pt>
    <dgm:pt modelId="{50BEE2C7-F0F7-40F4-92C1-982792BFD874}" type="sibTrans" cxnId="{2BB3E4C7-65DB-4EF0-AAB3-E10DCB5DA128}">
      <dgm:prSet/>
      <dgm:spPr/>
      <dgm:t>
        <a:bodyPr/>
        <a:lstStyle/>
        <a:p>
          <a:endParaRPr lang="en-US"/>
        </a:p>
      </dgm:t>
    </dgm:pt>
    <dgm:pt modelId="{4EC90B4B-5D33-44C6-AAE3-29C1697C3E1C}">
      <dgm:prSet phldrT="[Text]"/>
      <dgm:spPr/>
      <dgm:t>
        <a:bodyPr/>
        <a:lstStyle/>
        <a:p>
          <a:r>
            <a:rPr lang="en-US" dirty="0" smtClean="0"/>
            <a:t>Proses Data</a:t>
          </a:r>
          <a:endParaRPr lang="en-US" dirty="0"/>
        </a:p>
      </dgm:t>
    </dgm:pt>
    <dgm:pt modelId="{516A133D-C638-4D6C-90FD-356235EF2149}" type="parTrans" cxnId="{280C1797-6685-4146-862E-0002DE5A19C4}">
      <dgm:prSet/>
      <dgm:spPr/>
      <dgm:t>
        <a:bodyPr/>
        <a:lstStyle/>
        <a:p>
          <a:endParaRPr lang="en-US"/>
        </a:p>
      </dgm:t>
    </dgm:pt>
    <dgm:pt modelId="{5ED31013-52D8-48E3-A470-D7FEC331FB9B}" type="sibTrans" cxnId="{280C1797-6685-4146-862E-0002DE5A19C4}">
      <dgm:prSet/>
      <dgm:spPr/>
      <dgm:t>
        <a:bodyPr/>
        <a:lstStyle/>
        <a:p>
          <a:endParaRPr lang="en-US"/>
        </a:p>
      </dgm:t>
    </dgm:pt>
    <dgm:pt modelId="{BFC2ADE9-E61D-4623-9CBC-B3FD1137070F}">
      <dgm:prSet phldrT="[Text]"/>
      <dgm:spPr/>
      <dgm:t>
        <a:bodyPr/>
        <a:lstStyle/>
        <a:p>
          <a:r>
            <a:rPr lang="en-US" dirty="0" smtClean="0"/>
            <a:t>Data </a:t>
          </a:r>
          <a:r>
            <a:rPr lang="en-US" dirty="0" err="1" smtClean="0"/>
            <a:t>Belanja</a:t>
          </a:r>
          <a:r>
            <a:rPr lang="en-US" dirty="0" smtClean="0"/>
            <a:t> </a:t>
          </a:r>
          <a:r>
            <a:rPr lang="en-US" dirty="0" err="1" smtClean="0"/>
            <a:t>Tercatat</a:t>
          </a:r>
          <a:r>
            <a:rPr lang="en-US" dirty="0" smtClean="0"/>
            <a:t> </a:t>
          </a:r>
          <a:r>
            <a:rPr lang="en-US" dirty="0" err="1" smtClean="0"/>
            <a:t>pada</a:t>
          </a:r>
          <a:r>
            <a:rPr lang="en-US" dirty="0" smtClean="0"/>
            <a:t> </a:t>
          </a:r>
          <a:r>
            <a:rPr lang="en-US" dirty="0" err="1" smtClean="0"/>
            <a:t>Modul</a:t>
          </a:r>
          <a:r>
            <a:rPr lang="en-US" dirty="0" smtClean="0"/>
            <a:t> </a:t>
          </a:r>
          <a:r>
            <a:rPr lang="en-US" dirty="0" err="1" smtClean="0"/>
            <a:t>Komitmen</a:t>
          </a:r>
          <a:r>
            <a:rPr lang="en-US" dirty="0" smtClean="0"/>
            <a:t> </a:t>
          </a:r>
          <a:r>
            <a:rPr lang="en-US" dirty="0" err="1" smtClean="0"/>
            <a:t>dan</a:t>
          </a:r>
          <a:r>
            <a:rPr lang="en-US" dirty="0" smtClean="0"/>
            <a:t> </a:t>
          </a:r>
          <a:r>
            <a:rPr lang="en-US" dirty="0" err="1" smtClean="0"/>
            <a:t>Persediaan</a:t>
          </a:r>
          <a:endParaRPr lang="en-US" dirty="0"/>
        </a:p>
      </dgm:t>
    </dgm:pt>
    <dgm:pt modelId="{48E36144-F825-4DA4-B55D-47E265188555}" type="parTrans" cxnId="{EF130682-8F7B-492F-BB8C-6EEFA6222825}">
      <dgm:prSet/>
      <dgm:spPr/>
      <dgm:t>
        <a:bodyPr/>
        <a:lstStyle/>
        <a:p>
          <a:endParaRPr lang="en-US"/>
        </a:p>
      </dgm:t>
    </dgm:pt>
    <dgm:pt modelId="{2AAF7271-A543-460B-98F8-56BE4C3B38D0}" type="sibTrans" cxnId="{EF130682-8F7B-492F-BB8C-6EEFA6222825}">
      <dgm:prSet/>
      <dgm:spPr/>
      <dgm:t>
        <a:bodyPr/>
        <a:lstStyle/>
        <a:p>
          <a:endParaRPr lang="en-US"/>
        </a:p>
      </dgm:t>
    </dgm:pt>
    <dgm:pt modelId="{4E745544-37F7-416A-8554-A4712D2044AF}">
      <dgm:prSet/>
      <dgm:spPr/>
      <dgm:t>
        <a:bodyPr/>
        <a:lstStyle/>
        <a:p>
          <a:r>
            <a:rPr lang="en-US" dirty="0" smtClean="0"/>
            <a:t>Upload ADK Zip </a:t>
          </a:r>
          <a:r>
            <a:rPr lang="en-US" dirty="0" err="1" smtClean="0"/>
            <a:t>pada</a:t>
          </a:r>
          <a:r>
            <a:rPr lang="en-US" dirty="0" smtClean="0"/>
            <a:t> SAKTI</a:t>
          </a:r>
          <a:endParaRPr lang="en-US" dirty="0"/>
        </a:p>
      </dgm:t>
    </dgm:pt>
    <dgm:pt modelId="{64F61207-83FA-4286-9C5C-84803855FDF6}" type="parTrans" cxnId="{1F33792D-93B7-4B89-B2C1-340E10643805}">
      <dgm:prSet/>
      <dgm:spPr/>
      <dgm:t>
        <a:bodyPr/>
        <a:lstStyle/>
        <a:p>
          <a:endParaRPr lang="en-US"/>
        </a:p>
      </dgm:t>
    </dgm:pt>
    <dgm:pt modelId="{549B5827-2C23-473F-9D0D-B0CAB3C88AAB}" type="sibTrans" cxnId="{1F33792D-93B7-4B89-B2C1-340E10643805}">
      <dgm:prSet/>
      <dgm:spPr/>
      <dgm:t>
        <a:bodyPr/>
        <a:lstStyle/>
        <a:p>
          <a:endParaRPr lang="en-US"/>
        </a:p>
      </dgm:t>
    </dgm:pt>
    <dgm:pt modelId="{C5F4DF5C-6FEA-4548-8CBB-DD7E7EBF3B2A}">
      <dgm:prSet/>
      <dgm:spPr/>
      <dgm:t>
        <a:bodyPr/>
        <a:lstStyle/>
        <a:p>
          <a:r>
            <a:rPr lang="en-US" dirty="0" smtClean="0"/>
            <a:t>Preview Data </a:t>
          </a:r>
          <a:r>
            <a:rPr lang="en-US" dirty="0" err="1" smtClean="0"/>
            <a:t>Hasil</a:t>
          </a:r>
          <a:r>
            <a:rPr lang="en-US" dirty="0" smtClean="0"/>
            <a:t> Upload</a:t>
          </a:r>
          <a:endParaRPr lang="en-US" dirty="0"/>
        </a:p>
      </dgm:t>
    </dgm:pt>
    <dgm:pt modelId="{43A924B2-F679-4353-A048-CB71D13A293A}" type="parTrans" cxnId="{B758D3BD-E5C3-4491-9B8F-EAEE695A179B}">
      <dgm:prSet/>
      <dgm:spPr/>
      <dgm:t>
        <a:bodyPr/>
        <a:lstStyle/>
        <a:p>
          <a:endParaRPr lang="en-US"/>
        </a:p>
      </dgm:t>
    </dgm:pt>
    <dgm:pt modelId="{040D12A5-874B-4AD0-AFD6-A74731D91D04}" type="sibTrans" cxnId="{B758D3BD-E5C3-4491-9B8F-EAEE695A179B}">
      <dgm:prSet/>
      <dgm:spPr/>
      <dgm:t>
        <a:bodyPr/>
        <a:lstStyle/>
        <a:p>
          <a:endParaRPr lang="en-US"/>
        </a:p>
      </dgm:t>
    </dgm:pt>
    <dgm:pt modelId="{3E820C76-B92D-4877-9157-33B6CBF1F027}" type="pres">
      <dgm:prSet presAssocID="{F54E1BA5-9E47-41AD-B981-08C181589C59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3598B6E-555A-4CED-A109-2999DFA4CBA7}" type="pres">
      <dgm:prSet presAssocID="{F54E1BA5-9E47-41AD-B981-08C181589C59}" presName="dummyMaxCanvas" presStyleCnt="0">
        <dgm:presLayoutVars/>
      </dgm:prSet>
      <dgm:spPr/>
    </dgm:pt>
    <dgm:pt modelId="{2B156DE8-8BDB-40D2-8AE3-466146B827DD}" type="pres">
      <dgm:prSet presAssocID="{F54E1BA5-9E47-41AD-B981-08C181589C59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117BB4-2FA1-47B4-B77F-6F2704939E93}" type="pres">
      <dgm:prSet presAssocID="{F54E1BA5-9E47-41AD-B981-08C181589C59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391040-FCF1-464E-AA0E-46311C212FF5}" type="pres">
      <dgm:prSet presAssocID="{F54E1BA5-9E47-41AD-B981-08C181589C59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B7CAB7C-2D7C-4F1E-8AD1-92B4169C61E1}" type="pres">
      <dgm:prSet presAssocID="{F54E1BA5-9E47-41AD-B981-08C181589C59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343BA59-320C-4759-A365-D08534E02E78}" type="pres">
      <dgm:prSet presAssocID="{F54E1BA5-9E47-41AD-B981-08C181589C59}" presName="FiveNodes_5" presStyleLbl="node1" presStyleIdx="4" presStyleCnt="5" custLinFactNeighborX="-112" custLinFactNeighborY="3649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C6A8A2-DBC7-4C9F-864D-0F5BEE6EB94C}" type="pres">
      <dgm:prSet presAssocID="{F54E1BA5-9E47-41AD-B981-08C181589C59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0F0B70-EC62-4AE4-AD3E-56330CE355C0}" type="pres">
      <dgm:prSet presAssocID="{F54E1BA5-9E47-41AD-B981-08C181589C59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DC4C317-7E71-48BD-A278-AE74D75BB6FB}" type="pres">
      <dgm:prSet presAssocID="{F54E1BA5-9E47-41AD-B981-08C181589C59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9AE0BE-E7C9-477F-8F99-AC7AED9FCB5A}" type="pres">
      <dgm:prSet presAssocID="{F54E1BA5-9E47-41AD-B981-08C181589C59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2C33CD-916D-4933-880E-918CFDADCDC7}" type="pres">
      <dgm:prSet presAssocID="{F54E1BA5-9E47-41AD-B981-08C181589C59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450EE4-2AEA-4EFC-A6C8-0FFFE9F287E3}" type="pres">
      <dgm:prSet presAssocID="{F54E1BA5-9E47-41AD-B981-08C181589C59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906C19-0ED6-427A-AD4F-D8127C2FB36D}" type="pres">
      <dgm:prSet presAssocID="{F54E1BA5-9E47-41AD-B981-08C181589C59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0F4AB16-EAC2-4D75-A05C-3D6C04F002D8}" type="pres">
      <dgm:prSet presAssocID="{F54E1BA5-9E47-41AD-B981-08C181589C59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5B4EFDB-3DAA-4F86-B70D-2196D7778EFF}" type="pres">
      <dgm:prSet presAssocID="{F54E1BA5-9E47-41AD-B981-08C181589C59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8800926-D210-41AE-A90C-582EB692036A}" type="presOf" srcId="{5ED31013-52D8-48E3-A470-D7FEC331FB9B}" destId="{959AE0BE-E7C9-477F-8F99-AC7AED9FCB5A}" srcOrd="0" destOrd="0" presId="urn:microsoft.com/office/officeart/2005/8/layout/vProcess5"/>
    <dgm:cxn modelId="{EF130682-8F7B-492F-BB8C-6EEFA6222825}" srcId="{F54E1BA5-9E47-41AD-B981-08C181589C59}" destId="{BFC2ADE9-E61D-4623-9CBC-B3FD1137070F}" srcOrd="4" destOrd="0" parTransId="{48E36144-F825-4DA4-B55D-47E265188555}" sibTransId="{2AAF7271-A543-460B-98F8-56BE4C3B38D0}"/>
    <dgm:cxn modelId="{280C1797-6685-4146-862E-0002DE5A19C4}" srcId="{F54E1BA5-9E47-41AD-B981-08C181589C59}" destId="{4EC90B4B-5D33-44C6-AAE3-29C1697C3E1C}" srcOrd="3" destOrd="0" parTransId="{516A133D-C638-4D6C-90FD-356235EF2149}" sibTransId="{5ED31013-52D8-48E3-A470-D7FEC331FB9B}"/>
    <dgm:cxn modelId="{E111FA07-0E82-4D98-9A34-86A9AC94B4EF}" type="presOf" srcId="{BFC2ADE9-E61D-4623-9CBC-B3FD1137070F}" destId="{65B4EFDB-3DAA-4F86-B70D-2196D7778EFF}" srcOrd="1" destOrd="0" presId="urn:microsoft.com/office/officeart/2005/8/layout/vProcess5"/>
    <dgm:cxn modelId="{567440EB-2C13-4389-94C1-EC48921A4002}" type="presOf" srcId="{02B6028D-F56D-40D0-9A97-B8AF7CEA963D}" destId="{AC2C33CD-916D-4933-880E-918CFDADCDC7}" srcOrd="1" destOrd="0" presId="urn:microsoft.com/office/officeart/2005/8/layout/vProcess5"/>
    <dgm:cxn modelId="{75466A6B-3705-485F-AF31-7A04F81DDDBF}" type="presOf" srcId="{C5F4DF5C-6FEA-4548-8CBB-DD7E7EBF3B2A}" destId="{DA906C19-0ED6-427A-AD4F-D8127C2FB36D}" srcOrd="1" destOrd="0" presId="urn:microsoft.com/office/officeart/2005/8/layout/vProcess5"/>
    <dgm:cxn modelId="{9812090F-2FC6-45B3-8F4C-553DB0A8AD17}" type="presOf" srcId="{4E745544-37F7-416A-8554-A4712D2044AF}" destId="{A2450EE4-2AEA-4EFC-A6C8-0FFFE9F287E3}" srcOrd="1" destOrd="0" presId="urn:microsoft.com/office/officeart/2005/8/layout/vProcess5"/>
    <dgm:cxn modelId="{51AFB6C6-C37F-4A5D-893A-0A70A3FC50D7}" type="presOf" srcId="{549B5827-2C23-473F-9D0D-B0CAB3C88AAB}" destId="{840F0B70-EC62-4AE4-AD3E-56330CE355C0}" srcOrd="0" destOrd="0" presId="urn:microsoft.com/office/officeart/2005/8/layout/vProcess5"/>
    <dgm:cxn modelId="{FFDCE601-4803-48B7-B8B5-F44B61AFC630}" type="presOf" srcId="{02B6028D-F56D-40D0-9A97-B8AF7CEA963D}" destId="{2B156DE8-8BDB-40D2-8AE3-466146B827DD}" srcOrd="0" destOrd="0" presId="urn:microsoft.com/office/officeart/2005/8/layout/vProcess5"/>
    <dgm:cxn modelId="{1F33792D-93B7-4B89-B2C1-340E10643805}" srcId="{F54E1BA5-9E47-41AD-B981-08C181589C59}" destId="{4E745544-37F7-416A-8554-A4712D2044AF}" srcOrd="1" destOrd="0" parTransId="{64F61207-83FA-4286-9C5C-84803855FDF6}" sibTransId="{549B5827-2C23-473F-9D0D-B0CAB3C88AAB}"/>
    <dgm:cxn modelId="{A9187A8F-11F6-4BB4-8DA3-7CCA881585B3}" type="presOf" srcId="{4EC90B4B-5D33-44C6-AAE3-29C1697C3E1C}" destId="{1B7CAB7C-2D7C-4F1E-8AD1-92B4169C61E1}" srcOrd="0" destOrd="0" presId="urn:microsoft.com/office/officeart/2005/8/layout/vProcess5"/>
    <dgm:cxn modelId="{41F6C01F-469B-4C36-B0DE-A59332BDE9F1}" type="presOf" srcId="{4E745544-37F7-416A-8554-A4712D2044AF}" destId="{B9117BB4-2FA1-47B4-B77F-6F2704939E93}" srcOrd="0" destOrd="0" presId="urn:microsoft.com/office/officeart/2005/8/layout/vProcess5"/>
    <dgm:cxn modelId="{2BB3E4C7-65DB-4EF0-AAB3-E10DCB5DA128}" srcId="{F54E1BA5-9E47-41AD-B981-08C181589C59}" destId="{02B6028D-F56D-40D0-9A97-B8AF7CEA963D}" srcOrd="0" destOrd="0" parTransId="{A9AD656E-A702-46F9-883D-4862FDB814C8}" sibTransId="{50BEE2C7-F0F7-40F4-92C1-982792BFD874}"/>
    <dgm:cxn modelId="{B758D3BD-E5C3-4491-9B8F-EAEE695A179B}" srcId="{F54E1BA5-9E47-41AD-B981-08C181589C59}" destId="{C5F4DF5C-6FEA-4548-8CBB-DD7E7EBF3B2A}" srcOrd="2" destOrd="0" parTransId="{43A924B2-F679-4353-A048-CB71D13A293A}" sibTransId="{040D12A5-874B-4AD0-AFD6-A74731D91D04}"/>
    <dgm:cxn modelId="{489BD4F0-2C5B-4F60-B939-C7716577C8EF}" type="presOf" srcId="{BFC2ADE9-E61D-4623-9CBC-B3FD1137070F}" destId="{F343BA59-320C-4759-A365-D08534E02E78}" srcOrd="0" destOrd="0" presId="urn:microsoft.com/office/officeart/2005/8/layout/vProcess5"/>
    <dgm:cxn modelId="{102921ED-ECB0-42CB-BC3A-C35976985D7B}" type="presOf" srcId="{F54E1BA5-9E47-41AD-B981-08C181589C59}" destId="{3E820C76-B92D-4877-9157-33B6CBF1F027}" srcOrd="0" destOrd="0" presId="urn:microsoft.com/office/officeart/2005/8/layout/vProcess5"/>
    <dgm:cxn modelId="{E9F98460-2D84-4B7F-90DE-34C492727A48}" type="presOf" srcId="{4EC90B4B-5D33-44C6-AAE3-29C1697C3E1C}" destId="{60F4AB16-EAC2-4D75-A05C-3D6C04F002D8}" srcOrd="1" destOrd="0" presId="urn:microsoft.com/office/officeart/2005/8/layout/vProcess5"/>
    <dgm:cxn modelId="{E08C123E-6695-400A-95B8-9FAD27111A69}" type="presOf" srcId="{C5F4DF5C-6FEA-4548-8CBB-DD7E7EBF3B2A}" destId="{8E391040-FCF1-464E-AA0E-46311C212FF5}" srcOrd="0" destOrd="0" presId="urn:microsoft.com/office/officeart/2005/8/layout/vProcess5"/>
    <dgm:cxn modelId="{484C35A1-83B2-472C-9E05-55D62BA9151E}" type="presOf" srcId="{50BEE2C7-F0F7-40F4-92C1-982792BFD874}" destId="{61C6A8A2-DBC7-4C9F-864D-0F5BEE6EB94C}" srcOrd="0" destOrd="0" presId="urn:microsoft.com/office/officeart/2005/8/layout/vProcess5"/>
    <dgm:cxn modelId="{406D447D-B33E-4470-8F4C-3BA8C09395CF}" type="presOf" srcId="{040D12A5-874B-4AD0-AFD6-A74731D91D04}" destId="{4DC4C317-7E71-48BD-A278-AE74D75BB6FB}" srcOrd="0" destOrd="0" presId="urn:microsoft.com/office/officeart/2005/8/layout/vProcess5"/>
    <dgm:cxn modelId="{5B5733D5-C00F-4DC1-939B-0DD34F2A3238}" type="presParOf" srcId="{3E820C76-B92D-4877-9157-33B6CBF1F027}" destId="{93598B6E-555A-4CED-A109-2999DFA4CBA7}" srcOrd="0" destOrd="0" presId="urn:microsoft.com/office/officeart/2005/8/layout/vProcess5"/>
    <dgm:cxn modelId="{EB462F3A-C00C-4DE1-AF30-97909F8E828F}" type="presParOf" srcId="{3E820C76-B92D-4877-9157-33B6CBF1F027}" destId="{2B156DE8-8BDB-40D2-8AE3-466146B827DD}" srcOrd="1" destOrd="0" presId="urn:microsoft.com/office/officeart/2005/8/layout/vProcess5"/>
    <dgm:cxn modelId="{13656385-40B1-4F0B-B056-89D5C64E379F}" type="presParOf" srcId="{3E820C76-B92D-4877-9157-33B6CBF1F027}" destId="{B9117BB4-2FA1-47B4-B77F-6F2704939E93}" srcOrd="2" destOrd="0" presId="urn:microsoft.com/office/officeart/2005/8/layout/vProcess5"/>
    <dgm:cxn modelId="{C4787EF9-CEC7-4E63-9C85-5F76A9989233}" type="presParOf" srcId="{3E820C76-B92D-4877-9157-33B6CBF1F027}" destId="{8E391040-FCF1-464E-AA0E-46311C212FF5}" srcOrd="3" destOrd="0" presId="urn:microsoft.com/office/officeart/2005/8/layout/vProcess5"/>
    <dgm:cxn modelId="{759AB95F-DA11-4465-8E0C-B18870F14D74}" type="presParOf" srcId="{3E820C76-B92D-4877-9157-33B6CBF1F027}" destId="{1B7CAB7C-2D7C-4F1E-8AD1-92B4169C61E1}" srcOrd="4" destOrd="0" presId="urn:microsoft.com/office/officeart/2005/8/layout/vProcess5"/>
    <dgm:cxn modelId="{BAA743E9-300E-492A-B17B-CABC47F76186}" type="presParOf" srcId="{3E820C76-B92D-4877-9157-33B6CBF1F027}" destId="{F343BA59-320C-4759-A365-D08534E02E78}" srcOrd="5" destOrd="0" presId="urn:microsoft.com/office/officeart/2005/8/layout/vProcess5"/>
    <dgm:cxn modelId="{AEE43654-6FFB-416A-BF54-8D9D87C18C93}" type="presParOf" srcId="{3E820C76-B92D-4877-9157-33B6CBF1F027}" destId="{61C6A8A2-DBC7-4C9F-864D-0F5BEE6EB94C}" srcOrd="6" destOrd="0" presId="urn:microsoft.com/office/officeart/2005/8/layout/vProcess5"/>
    <dgm:cxn modelId="{8981CF42-9494-4D2A-9CC9-8F47968F03FB}" type="presParOf" srcId="{3E820C76-B92D-4877-9157-33B6CBF1F027}" destId="{840F0B70-EC62-4AE4-AD3E-56330CE355C0}" srcOrd="7" destOrd="0" presId="urn:microsoft.com/office/officeart/2005/8/layout/vProcess5"/>
    <dgm:cxn modelId="{1E691A33-FF86-484F-8F7E-8C885610B833}" type="presParOf" srcId="{3E820C76-B92D-4877-9157-33B6CBF1F027}" destId="{4DC4C317-7E71-48BD-A278-AE74D75BB6FB}" srcOrd="8" destOrd="0" presId="urn:microsoft.com/office/officeart/2005/8/layout/vProcess5"/>
    <dgm:cxn modelId="{8395DBE5-F28A-4F0B-91BE-513BA729B01C}" type="presParOf" srcId="{3E820C76-B92D-4877-9157-33B6CBF1F027}" destId="{959AE0BE-E7C9-477F-8F99-AC7AED9FCB5A}" srcOrd="9" destOrd="0" presId="urn:microsoft.com/office/officeart/2005/8/layout/vProcess5"/>
    <dgm:cxn modelId="{D7484C51-7703-4103-89D6-91DA14851493}" type="presParOf" srcId="{3E820C76-B92D-4877-9157-33B6CBF1F027}" destId="{AC2C33CD-916D-4933-880E-918CFDADCDC7}" srcOrd="10" destOrd="0" presId="urn:microsoft.com/office/officeart/2005/8/layout/vProcess5"/>
    <dgm:cxn modelId="{9C6BF470-FD9F-4D33-818B-22CCF10F42C4}" type="presParOf" srcId="{3E820C76-B92D-4877-9157-33B6CBF1F027}" destId="{A2450EE4-2AEA-4EFC-A6C8-0FFFE9F287E3}" srcOrd="11" destOrd="0" presId="urn:microsoft.com/office/officeart/2005/8/layout/vProcess5"/>
    <dgm:cxn modelId="{8CE1B076-B82E-463B-82CB-05DF70716237}" type="presParOf" srcId="{3E820C76-B92D-4877-9157-33B6CBF1F027}" destId="{DA906C19-0ED6-427A-AD4F-D8127C2FB36D}" srcOrd="12" destOrd="0" presId="urn:microsoft.com/office/officeart/2005/8/layout/vProcess5"/>
    <dgm:cxn modelId="{56BFE785-A869-48C0-AA2F-C5D5A59662F0}" type="presParOf" srcId="{3E820C76-B92D-4877-9157-33B6CBF1F027}" destId="{60F4AB16-EAC2-4D75-A05C-3D6C04F002D8}" srcOrd="13" destOrd="0" presId="urn:microsoft.com/office/officeart/2005/8/layout/vProcess5"/>
    <dgm:cxn modelId="{CBC8E881-6162-46C5-A9F0-0BF75A12EF28}" type="presParOf" srcId="{3E820C76-B92D-4877-9157-33B6CBF1F027}" destId="{65B4EFDB-3DAA-4F86-B70D-2196D7778EFF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156DE8-8BDB-40D2-8AE3-466146B827DD}">
      <dsp:nvSpPr>
        <dsp:cNvPr id="0" name=""/>
        <dsp:cNvSpPr/>
      </dsp:nvSpPr>
      <dsp:spPr>
        <a:xfrm>
          <a:off x="0" y="0"/>
          <a:ext cx="7561630" cy="982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SIMRS </a:t>
          </a:r>
          <a:r>
            <a:rPr lang="en-US" sz="2700" kern="1200" dirty="0" err="1" smtClean="0"/>
            <a:t>membentuk</a:t>
          </a:r>
          <a:r>
            <a:rPr lang="en-US" sz="2700" kern="1200" dirty="0" smtClean="0"/>
            <a:t> ADK ZIP </a:t>
          </a:r>
          <a:r>
            <a:rPr lang="en-US" sz="2700" kern="1200" dirty="0" err="1" smtClean="0"/>
            <a:t>berisikan</a:t>
          </a:r>
          <a:r>
            <a:rPr lang="en-US" sz="2700" kern="1200" dirty="0" smtClean="0"/>
            <a:t> 3 Data CSV</a:t>
          </a:r>
          <a:endParaRPr lang="en-US" sz="2700" kern="1200" dirty="0"/>
        </a:p>
      </dsp:txBody>
      <dsp:txXfrm>
        <a:off x="28777" y="28777"/>
        <a:ext cx="6386452" cy="924972"/>
      </dsp:txXfrm>
    </dsp:sp>
    <dsp:sp modelId="{B9117BB4-2FA1-47B4-B77F-6F2704939E93}">
      <dsp:nvSpPr>
        <dsp:cNvPr id="0" name=""/>
        <dsp:cNvSpPr/>
      </dsp:nvSpPr>
      <dsp:spPr>
        <a:xfrm>
          <a:off x="564667" y="1118988"/>
          <a:ext cx="7561630" cy="982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Upload ADK Zip </a:t>
          </a:r>
          <a:r>
            <a:rPr lang="en-US" sz="2700" kern="1200" dirty="0" err="1" smtClean="0"/>
            <a:t>pada</a:t>
          </a:r>
          <a:r>
            <a:rPr lang="en-US" sz="2700" kern="1200" dirty="0" smtClean="0"/>
            <a:t> SAKTI</a:t>
          </a:r>
          <a:endParaRPr lang="en-US" sz="2700" kern="1200" dirty="0"/>
        </a:p>
      </dsp:txBody>
      <dsp:txXfrm>
        <a:off x="593444" y="1147765"/>
        <a:ext cx="6300766" cy="924972"/>
      </dsp:txXfrm>
    </dsp:sp>
    <dsp:sp modelId="{8E391040-FCF1-464E-AA0E-46311C212FF5}">
      <dsp:nvSpPr>
        <dsp:cNvPr id="0" name=""/>
        <dsp:cNvSpPr/>
      </dsp:nvSpPr>
      <dsp:spPr>
        <a:xfrm>
          <a:off x="1129334" y="2237976"/>
          <a:ext cx="7561630" cy="982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Preview Data </a:t>
          </a:r>
          <a:r>
            <a:rPr lang="en-US" sz="2700" kern="1200" dirty="0" err="1" smtClean="0"/>
            <a:t>Hasil</a:t>
          </a:r>
          <a:r>
            <a:rPr lang="en-US" sz="2700" kern="1200" dirty="0" smtClean="0"/>
            <a:t> Upload</a:t>
          </a:r>
          <a:endParaRPr lang="en-US" sz="2700" kern="1200" dirty="0"/>
        </a:p>
      </dsp:txBody>
      <dsp:txXfrm>
        <a:off x="1158111" y="2266753"/>
        <a:ext cx="6300766" cy="924972"/>
      </dsp:txXfrm>
    </dsp:sp>
    <dsp:sp modelId="{1B7CAB7C-2D7C-4F1E-8AD1-92B4169C61E1}">
      <dsp:nvSpPr>
        <dsp:cNvPr id="0" name=""/>
        <dsp:cNvSpPr/>
      </dsp:nvSpPr>
      <dsp:spPr>
        <a:xfrm>
          <a:off x="1694001" y="3356965"/>
          <a:ext cx="7561630" cy="982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Proses Data</a:t>
          </a:r>
          <a:endParaRPr lang="en-US" sz="2700" kern="1200" dirty="0"/>
        </a:p>
      </dsp:txBody>
      <dsp:txXfrm>
        <a:off x="1722778" y="3385742"/>
        <a:ext cx="6300766" cy="924972"/>
      </dsp:txXfrm>
    </dsp:sp>
    <dsp:sp modelId="{F343BA59-320C-4759-A365-D08534E02E78}">
      <dsp:nvSpPr>
        <dsp:cNvPr id="0" name=""/>
        <dsp:cNvSpPr/>
      </dsp:nvSpPr>
      <dsp:spPr>
        <a:xfrm>
          <a:off x="2250199" y="4475953"/>
          <a:ext cx="7561630" cy="98252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lvl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kern="1200" dirty="0" smtClean="0"/>
            <a:t>Data </a:t>
          </a:r>
          <a:r>
            <a:rPr lang="en-US" sz="2700" kern="1200" dirty="0" err="1" smtClean="0"/>
            <a:t>Belanja</a:t>
          </a:r>
          <a:r>
            <a:rPr lang="en-US" sz="2700" kern="1200" dirty="0" smtClean="0"/>
            <a:t> </a:t>
          </a:r>
          <a:r>
            <a:rPr lang="en-US" sz="2700" kern="1200" dirty="0" err="1" smtClean="0"/>
            <a:t>Tercatat</a:t>
          </a:r>
          <a:r>
            <a:rPr lang="en-US" sz="2700" kern="1200" dirty="0" smtClean="0"/>
            <a:t> </a:t>
          </a:r>
          <a:r>
            <a:rPr lang="en-US" sz="2700" kern="1200" dirty="0" err="1" smtClean="0"/>
            <a:t>pada</a:t>
          </a:r>
          <a:r>
            <a:rPr lang="en-US" sz="2700" kern="1200" dirty="0" smtClean="0"/>
            <a:t> </a:t>
          </a:r>
          <a:r>
            <a:rPr lang="en-US" sz="2700" kern="1200" dirty="0" err="1" smtClean="0"/>
            <a:t>Modul</a:t>
          </a:r>
          <a:r>
            <a:rPr lang="en-US" sz="2700" kern="1200" dirty="0" smtClean="0"/>
            <a:t> </a:t>
          </a:r>
          <a:r>
            <a:rPr lang="en-US" sz="2700" kern="1200" dirty="0" err="1" smtClean="0"/>
            <a:t>Komitmen</a:t>
          </a:r>
          <a:r>
            <a:rPr lang="en-US" sz="2700" kern="1200" dirty="0" smtClean="0"/>
            <a:t> </a:t>
          </a:r>
          <a:r>
            <a:rPr lang="en-US" sz="2700" kern="1200" dirty="0" err="1" smtClean="0"/>
            <a:t>dan</a:t>
          </a:r>
          <a:r>
            <a:rPr lang="en-US" sz="2700" kern="1200" dirty="0" smtClean="0"/>
            <a:t> </a:t>
          </a:r>
          <a:r>
            <a:rPr lang="en-US" sz="2700" kern="1200" dirty="0" err="1" smtClean="0"/>
            <a:t>Persediaan</a:t>
          </a:r>
          <a:endParaRPr lang="en-US" sz="2700" kern="1200" dirty="0"/>
        </a:p>
      </dsp:txBody>
      <dsp:txXfrm>
        <a:off x="2278976" y="4504730"/>
        <a:ext cx="6300766" cy="924972"/>
      </dsp:txXfrm>
    </dsp:sp>
    <dsp:sp modelId="{61C6A8A2-DBC7-4C9F-864D-0F5BEE6EB94C}">
      <dsp:nvSpPr>
        <dsp:cNvPr id="0" name=""/>
        <dsp:cNvSpPr/>
      </dsp:nvSpPr>
      <dsp:spPr>
        <a:xfrm>
          <a:off x="6922988" y="717790"/>
          <a:ext cx="638642" cy="63864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7066682" y="717790"/>
        <a:ext cx="351254" cy="480578"/>
      </dsp:txXfrm>
    </dsp:sp>
    <dsp:sp modelId="{840F0B70-EC62-4AE4-AD3E-56330CE355C0}">
      <dsp:nvSpPr>
        <dsp:cNvPr id="0" name=""/>
        <dsp:cNvSpPr/>
      </dsp:nvSpPr>
      <dsp:spPr>
        <a:xfrm>
          <a:off x="7487655" y="1836778"/>
          <a:ext cx="638642" cy="63864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7631349" y="1836778"/>
        <a:ext cx="351254" cy="480578"/>
      </dsp:txXfrm>
    </dsp:sp>
    <dsp:sp modelId="{4DC4C317-7E71-48BD-A278-AE74D75BB6FB}">
      <dsp:nvSpPr>
        <dsp:cNvPr id="0" name=""/>
        <dsp:cNvSpPr/>
      </dsp:nvSpPr>
      <dsp:spPr>
        <a:xfrm>
          <a:off x="8052322" y="2939391"/>
          <a:ext cx="638642" cy="63864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8196016" y="2939391"/>
        <a:ext cx="351254" cy="480578"/>
      </dsp:txXfrm>
    </dsp:sp>
    <dsp:sp modelId="{959AE0BE-E7C9-477F-8F99-AC7AED9FCB5A}">
      <dsp:nvSpPr>
        <dsp:cNvPr id="0" name=""/>
        <dsp:cNvSpPr/>
      </dsp:nvSpPr>
      <dsp:spPr>
        <a:xfrm>
          <a:off x="8616989" y="4069296"/>
          <a:ext cx="638642" cy="63864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000" kern="1200"/>
        </a:p>
      </dsp:txBody>
      <dsp:txXfrm>
        <a:off x="8760683" y="4069296"/>
        <a:ext cx="351254" cy="4805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484795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64342683a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64342683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64342683a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g164342683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13b91a9f9f6_0_2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g13b91a9f9f6_0_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3b91a9f9f6_1_2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g13b91a9f9f6_1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07a320f89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107a320f89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07a320f899_1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g107a320f899_1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07a320f89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107a320f89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7a320f89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107a320f899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07a320f899_2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g107a320f899_2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Pembayaran Cover">
  <p:cSld name="CUSTOM_1_1_1_1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g107a320f899_1_48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15800" cy="681514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g107a320f899_1_480"/>
          <p:cNvSpPr txBox="1"/>
          <p:nvPr/>
        </p:nvSpPr>
        <p:spPr>
          <a:xfrm>
            <a:off x="89400" y="6431002"/>
            <a:ext cx="144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© SITP 2021</a:t>
            </a:r>
            <a:endParaRPr sz="8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" name="Google Shape;18;g107a320f899_1_48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7533" y="6550368"/>
            <a:ext cx="766114" cy="12965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g107a320f899_1_480"/>
          <p:cNvSpPr txBox="1">
            <a:spLocks noGrp="1"/>
          </p:cNvSpPr>
          <p:nvPr>
            <p:ph type="sldNum" idx="12"/>
          </p:nvPr>
        </p:nvSpPr>
        <p:spPr>
          <a:xfrm>
            <a:off x="11296600" y="6431002"/>
            <a:ext cx="731700" cy="3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g107a320f899_1_480"/>
          <p:cNvSpPr txBox="1"/>
          <p:nvPr/>
        </p:nvSpPr>
        <p:spPr>
          <a:xfrm>
            <a:off x="502433" y="70033"/>
            <a:ext cx="2803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Direktorat Jenderal Perbendaharaan</a:t>
            </a:r>
            <a:endParaRPr sz="8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Kementerian Keuangan Republik Indonesia</a:t>
            </a:r>
            <a:endParaRPr sz="8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" name="Google Shape;21;g107a320f899_1_480"/>
          <p:cNvPicPr preferRelativeResize="0"/>
          <p:nvPr/>
        </p:nvPicPr>
        <p:blipFill rotWithShape="1">
          <a:blip r:embed="rId4">
            <a:alphaModFix/>
          </a:blip>
          <a:srcRect r="80870" b="10"/>
          <a:stretch/>
        </p:blipFill>
        <p:spPr>
          <a:xfrm>
            <a:off x="178767" y="156667"/>
            <a:ext cx="323667" cy="2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g107a320f899_0_3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04" cy="685795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g107a320f899_0_353"/>
          <p:cNvSpPr txBox="1"/>
          <p:nvPr/>
        </p:nvSpPr>
        <p:spPr>
          <a:xfrm>
            <a:off x="89400" y="6431001"/>
            <a:ext cx="144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© SITP 2021</a:t>
            </a:r>
            <a:endParaRPr sz="8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" name="Google Shape;47;g107a320f899_0_3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7533" y="6550368"/>
            <a:ext cx="770927" cy="13046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g107a320f899_0_353"/>
          <p:cNvSpPr txBox="1">
            <a:spLocks noGrp="1"/>
          </p:cNvSpPr>
          <p:nvPr>
            <p:ph type="sldNum" idx="12"/>
          </p:nvPr>
        </p:nvSpPr>
        <p:spPr>
          <a:xfrm>
            <a:off x="11296600" y="6431001"/>
            <a:ext cx="73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marL="0" marR="0" lv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1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9" name="Google Shape;49;g107a320f899_0_353"/>
          <p:cNvGrpSpPr/>
          <p:nvPr/>
        </p:nvGrpSpPr>
        <p:grpSpPr>
          <a:xfrm>
            <a:off x="178762" y="153620"/>
            <a:ext cx="2476933" cy="281333"/>
            <a:chOff x="309652" y="266100"/>
            <a:chExt cx="4290548" cy="487325"/>
          </a:xfrm>
        </p:grpSpPr>
        <p:pic>
          <p:nvPicPr>
            <p:cNvPr id="50" name="Google Shape;50;g107a320f899_0_353"/>
            <p:cNvPicPr preferRelativeResize="0"/>
            <p:nvPr/>
          </p:nvPicPr>
          <p:blipFill rotWithShape="1">
            <a:blip r:embed="rId4">
              <a:alphaModFix/>
            </a:blip>
            <a:srcRect r="78910"/>
            <a:stretch/>
          </p:blipFill>
          <p:spPr>
            <a:xfrm>
              <a:off x="309652" y="271375"/>
              <a:ext cx="618075" cy="4820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1;g107a320f899_0_353"/>
            <p:cNvSpPr txBox="1"/>
            <p:nvPr/>
          </p:nvSpPr>
          <p:spPr>
            <a:xfrm>
              <a:off x="1010100" y="266100"/>
              <a:ext cx="3590100" cy="451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2775" tIns="52775" rIns="52775" bIns="527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-US" sz="500" b="1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Direktorat Jenderal Perbendaharaan</a:t>
              </a:r>
              <a:endParaRPr sz="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0"/>
                <a:buFont typeface="Arial"/>
                <a:buNone/>
              </a:pPr>
              <a:r>
                <a:rPr lang="en-US" sz="500" b="0" i="0" u="none" strike="noStrike" cap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Kementerian Keuangan Republik Indonesia</a:t>
              </a:r>
              <a:endParaRPr sz="5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6" name="Google Shape;56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10101943" y="0"/>
            <a:ext cx="2090057" cy="2090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8103" y="6096067"/>
            <a:ext cx="498601" cy="63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No Contents">
  <p:cSld name="3_No Conten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5400000">
            <a:off x="8432800" y="0"/>
            <a:ext cx="3759200" cy="37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9" name="Google Shape;69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4" name="Google Shape;84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" name="Google Shape;9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7" name="Google Shape;117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5" name="Google Shape;12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2" name="Google Shape;132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9" name="Google Shape;139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No Contents">
  <p:cSld name="2_No Contents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" name="Google Shape;143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 flipH="1">
            <a:off x="0" y="0"/>
            <a:ext cx="3759200" cy="375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8103" y="6096067"/>
            <a:ext cx="498601" cy="638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No Contents">
  <p:cSld name="1_No Conten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0" name="Google Shape;150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8432800" y="0"/>
            <a:ext cx="3759200" cy="375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6" name="Google Shape;156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-5400000" flipH="1">
            <a:off x="0" y="0"/>
            <a:ext cx="2090057" cy="2090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8103" y="6096067"/>
            <a:ext cx="498601" cy="63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3" name="Google Shape;16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98103" y="6096067"/>
            <a:ext cx="498601" cy="638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9" name="Google Shape;169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4783215" cy="4783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5296" y="6386152"/>
            <a:ext cx="1141527" cy="3503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3"/>
          <p:cNvSpPr txBox="1">
            <a:spLocks noGrp="1"/>
          </p:cNvSpPr>
          <p:nvPr>
            <p:ph type="ctrTitle"/>
          </p:nvPr>
        </p:nvSpPr>
        <p:spPr>
          <a:xfrm>
            <a:off x="1532467" y="205369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entury Gothic"/>
              <a:buNone/>
              <a:defRPr sz="6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wo Content">
  <p:cSld name="1_Two 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4"/>
          <p:cNvSpPr/>
          <p:nvPr/>
        </p:nvSpPr>
        <p:spPr>
          <a:xfrm>
            <a:off x="109984" y="1353755"/>
            <a:ext cx="11975183" cy="4794693"/>
          </a:xfrm>
          <a:prstGeom prst="rect">
            <a:avLst/>
          </a:prstGeom>
          <a:solidFill>
            <a:srgbClr val="A0D9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504428" y="6170216"/>
            <a:ext cx="580739" cy="58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microsoft.com/office/2007/relationships/hdphoto" Target="../media/hdphoto1.wdp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64342683a5_0_0"/>
          <p:cNvSpPr txBox="1"/>
          <p:nvPr/>
        </p:nvSpPr>
        <p:spPr>
          <a:xfrm>
            <a:off x="930153" y="1809341"/>
            <a:ext cx="63108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4000" b="1" i="0" u="none" strike="noStrike" cap="none" dirty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INTERKONEKSI</a:t>
            </a:r>
            <a:endParaRPr sz="31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3" name="Google Shape;183;g164342683a5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0751" y="2443151"/>
            <a:ext cx="1886285" cy="122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g164342683a5_0_0"/>
          <p:cNvSpPr txBox="1"/>
          <p:nvPr/>
        </p:nvSpPr>
        <p:spPr>
          <a:xfrm>
            <a:off x="3111107" y="2716198"/>
            <a:ext cx="3729441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 sz="2300" b="1" i="0" u="none" strike="noStrike" cap="none" dirty="0" err="1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Dengan</a:t>
            </a:r>
            <a:r>
              <a:rPr lang="en-US" sz="2300" b="1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b="1" i="0" u="none" strike="noStrike" cap="none" dirty="0" smtClean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SIMRS</a:t>
            </a:r>
            <a:endParaRPr sz="32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64342683a5_0_0"/>
          <p:cNvSpPr txBox="1"/>
          <p:nvPr/>
        </p:nvSpPr>
        <p:spPr>
          <a:xfrm>
            <a:off x="406641" y="2249090"/>
            <a:ext cx="10105469" cy="3770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 err="1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Integrasi</a:t>
            </a: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Antar</a:t>
            </a: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Modul</a:t>
            </a:r>
            <a:endParaRPr lang="en-US" sz="2400" b="1" dirty="0">
              <a:solidFill>
                <a:schemeClr val="lt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Flow </a:t>
            </a:r>
            <a:r>
              <a:rPr lang="en-US" sz="2400" b="1" i="0" u="none" strike="noStrike" cap="none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Transaksi</a:t>
            </a: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Pengesahan</a:t>
            </a: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</a:t>
            </a:r>
            <a:r>
              <a:rPr lang="en-US" sz="2400" b="1" i="0" u="none" strike="noStrike" cap="none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Belanja</a:t>
            </a: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BLU</a:t>
            </a: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Mekanisme</a:t>
            </a:r>
            <a:r>
              <a:rPr lang="en-US" sz="2400" b="1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</a:t>
            </a:r>
            <a:r>
              <a:rPr lang="en-US" sz="2400" b="1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Interkoneksi</a:t>
            </a:r>
            <a:r>
              <a:rPr lang="en-US" sz="2400" b="1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SAKTI – SIMRS</a:t>
            </a: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Flow </a:t>
            </a:r>
            <a:r>
              <a:rPr lang="en-US" sz="2400" b="1" i="0" u="none" strike="noStrike" cap="none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Interkoneksi</a:t>
            </a:r>
            <a:r>
              <a:rPr lang="en-US" sz="2400" b="1" i="0" u="none" strike="noStrike" cap="none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SAKTI-SIMRS</a:t>
            </a: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Struktur</a:t>
            </a:r>
            <a:r>
              <a:rPr lang="en-US" sz="2400" b="1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ADK </a:t>
            </a:r>
            <a:r>
              <a:rPr lang="en-US" sz="2400" b="1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Interkoneksi</a:t>
            </a:r>
            <a:endParaRPr lang="en-US" sz="2400" b="1" dirty="0" smtClean="0">
              <a:solidFill>
                <a:schemeClr val="lt1"/>
              </a:solidFill>
              <a:latin typeface="Quattrocento Sans"/>
              <a:ea typeface="Montserrat"/>
              <a:cs typeface="Montserrat"/>
              <a:sym typeface="Quattrocento Sans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sz="2400" b="1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Kamus</a:t>
            </a:r>
            <a:r>
              <a:rPr lang="en-US" sz="2400" b="1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Data </a:t>
            </a:r>
            <a:r>
              <a:rPr lang="en-US" sz="2400" b="1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dan</a:t>
            </a:r>
            <a:r>
              <a:rPr lang="en-US" sz="2400" b="1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 Parameter </a:t>
            </a:r>
            <a:r>
              <a:rPr lang="en-US" sz="2400" b="1" dirty="0" err="1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Interkoneksi</a:t>
            </a:r>
            <a:endParaRPr lang="en-US" sz="2400" b="1" dirty="0" smtClean="0">
              <a:solidFill>
                <a:schemeClr val="lt1"/>
              </a:solidFill>
              <a:latin typeface="Quattrocento Sans"/>
              <a:ea typeface="Montserrat"/>
              <a:cs typeface="Montserrat"/>
              <a:sym typeface="Quattrocento Sans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lt1"/>
                </a:solidFill>
                <a:latin typeface="Quattrocento Sans"/>
                <a:ea typeface="Montserrat"/>
                <a:cs typeface="Montserrat"/>
                <a:sym typeface="Quattrocento Sans"/>
              </a:rPr>
              <a:t>User Interface</a:t>
            </a: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endParaRPr lang="en-US" sz="4000" b="1" i="0" u="none" strike="noStrike" cap="none" dirty="0" smtClean="0">
              <a:solidFill>
                <a:schemeClr val="lt1"/>
              </a:solidFill>
              <a:latin typeface="Quattrocento Sans"/>
              <a:ea typeface="Montserrat"/>
              <a:cs typeface="Montserrat"/>
              <a:sym typeface="Quattrocento Sans"/>
            </a:endParaRPr>
          </a:p>
          <a:p>
            <a:pPr marL="571500" marR="0" lvl="0" indent="-571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 panose="020B0604020202020204" pitchFamily="34" charset="0"/>
              <a:buChar char="•"/>
            </a:pPr>
            <a:endParaRPr sz="3100" b="1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6555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3b91a9f9f6_0_224"/>
          <p:cNvSpPr/>
          <p:nvPr/>
        </p:nvSpPr>
        <p:spPr>
          <a:xfrm>
            <a:off x="2310814" y="1151654"/>
            <a:ext cx="7221000" cy="55497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B0CAE9"/>
              </a:gs>
              <a:gs pos="50000">
                <a:srgbClr val="A1C1E4"/>
              </a:gs>
              <a:gs pos="100000">
                <a:srgbClr val="90B8E4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endParaRPr sz="1039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g13b91a9f9f6_0_224"/>
          <p:cNvSpPr/>
          <p:nvPr/>
        </p:nvSpPr>
        <p:spPr>
          <a:xfrm>
            <a:off x="3513890" y="3939243"/>
            <a:ext cx="1047816" cy="557118"/>
          </a:xfrm>
          <a:prstGeom prst="flowChartMultidocument">
            <a:avLst/>
          </a:prstGeom>
          <a:solidFill>
            <a:srgbClr val="1F3864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-US" sz="1089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Belanja Jasa &amp; Aset</a:t>
            </a:r>
            <a:endParaRPr sz="108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g13b91a9f9f6_0_224"/>
          <p:cNvSpPr/>
          <p:nvPr/>
        </p:nvSpPr>
        <p:spPr>
          <a:xfrm>
            <a:off x="4010880" y="3184308"/>
            <a:ext cx="1440600" cy="835800"/>
          </a:xfrm>
          <a:prstGeom prst="flowChartAlternateProcess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KOMITMEN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13b91a9f9f6_0_224"/>
          <p:cNvSpPr/>
          <p:nvPr/>
        </p:nvSpPr>
        <p:spPr>
          <a:xfrm>
            <a:off x="6063633" y="4779380"/>
            <a:ext cx="1440600" cy="835800"/>
          </a:xfrm>
          <a:prstGeom prst="flowChartAlternateProcess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ASET TETAP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13b91a9f9f6_0_224"/>
          <p:cNvSpPr/>
          <p:nvPr/>
        </p:nvSpPr>
        <p:spPr>
          <a:xfrm>
            <a:off x="6063515" y="5768683"/>
            <a:ext cx="1440600" cy="835800"/>
          </a:xfrm>
          <a:prstGeom prst="flowChartAlternateProcess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PERSEDIAAN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13b91a9f9f6_0_224"/>
          <p:cNvSpPr/>
          <p:nvPr/>
        </p:nvSpPr>
        <p:spPr>
          <a:xfrm>
            <a:off x="7980849" y="3318111"/>
            <a:ext cx="1440600" cy="835800"/>
          </a:xfrm>
          <a:prstGeom prst="flowChartAlternateProcess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GLP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g13b91a9f9f6_0_224"/>
          <p:cNvCxnSpPr>
            <a:stCxn id="198" idx="2"/>
            <a:endCxn id="200" idx="1"/>
          </p:cNvCxnSpPr>
          <p:nvPr/>
        </p:nvCxnSpPr>
        <p:spPr>
          <a:xfrm rot="-5400000" flipH="1">
            <a:off x="4314030" y="4437258"/>
            <a:ext cx="2166600" cy="13323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03" name="Google Shape;203;g13b91a9f9f6_0_224"/>
          <p:cNvCxnSpPr>
            <a:stCxn id="200" idx="3"/>
            <a:endCxn id="201" idx="2"/>
          </p:cNvCxnSpPr>
          <p:nvPr/>
        </p:nvCxnSpPr>
        <p:spPr>
          <a:xfrm rot="10800000" flipH="1">
            <a:off x="7504115" y="4153783"/>
            <a:ext cx="1197000" cy="20328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4" name="Google Shape;204;g13b91a9f9f6_0_224"/>
          <p:cNvCxnSpPr>
            <a:stCxn id="205" idx="0"/>
            <a:endCxn id="201" idx="0"/>
          </p:cNvCxnSpPr>
          <p:nvPr/>
        </p:nvCxnSpPr>
        <p:spPr>
          <a:xfrm rot="-5400000" flipH="1">
            <a:off x="6004296" y="621178"/>
            <a:ext cx="1415100" cy="3978900"/>
          </a:xfrm>
          <a:prstGeom prst="bentConnector3">
            <a:avLst>
              <a:gd name="adj1" fmla="val -9326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06" name="Google Shape;206;g13b91a9f9f6_0_224"/>
          <p:cNvSpPr/>
          <p:nvPr/>
        </p:nvSpPr>
        <p:spPr>
          <a:xfrm>
            <a:off x="8757686" y="2526221"/>
            <a:ext cx="749358" cy="454896"/>
          </a:xfrm>
          <a:prstGeom prst="flowChartDocument">
            <a:avLst/>
          </a:prstGeom>
          <a:solidFill>
            <a:srgbClr val="1F3864"/>
          </a:solidFill>
          <a:ln w="1905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5"/>
              <a:buFont typeface="Arial"/>
              <a:buNone/>
            </a:pPr>
            <a:r>
              <a:rPr lang="en-US" sz="1155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SP3B BLU</a:t>
            </a:r>
            <a:endParaRPr sz="1616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g13b91a9f9f6_0_224"/>
          <p:cNvSpPr/>
          <p:nvPr/>
        </p:nvSpPr>
        <p:spPr>
          <a:xfrm>
            <a:off x="6022147" y="2575552"/>
            <a:ext cx="1440600" cy="835800"/>
          </a:xfrm>
          <a:prstGeom prst="flowChartAlternateProcess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31"/>
              <a:buFont typeface="Arial"/>
              <a:buNone/>
            </a:pPr>
            <a:r>
              <a:rPr lang="en-US" sz="1231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PEMBAYARAN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13b91a9f9f6_0_224"/>
          <p:cNvSpPr/>
          <p:nvPr/>
        </p:nvSpPr>
        <p:spPr>
          <a:xfrm>
            <a:off x="1634276" y="174450"/>
            <a:ext cx="8935200" cy="5280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0A5DA"/>
              </a:gs>
              <a:gs pos="50000">
                <a:srgbClr val="539BDB"/>
              </a:gs>
              <a:gs pos="100000">
                <a:srgbClr val="4288C8"/>
              </a:gs>
            </a:gsLst>
            <a:lin ang="5400012" scaled="0"/>
          </a:gradFill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17"/>
              <a:buFont typeface="Arial"/>
              <a:buNone/>
            </a:pPr>
            <a:r>
              <a:rPr lang="en-US" sz="3117" b="1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Integrasi</a:t>
            </a:r>
            <a:r>
              <a:rPr lang="en-US" sz="3117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17" b="1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Antar</a:t>
            </a:r>
            <a:r>
              <a:rPr lang="en-US" sz="3117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17" b="1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r>
              <a:rPr lang="en-US" sz="3117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117" b="1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Pada</a:t>
            </a:r>
            <a:r>
              <a:rPr lang="en-US" sz="3117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SAKTI </a:t>
            </a:r>
            <a:r>
              <a:rPr lang="en-US" sz="3117" b="1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Satker</a:t>
            </a:r>
            <a:r>
              <a:rPr lang="en-US" sz="3117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BLU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g13b91a9f9f6_0_224"/>
          <p:cNvCxnSpPr>
            <a:stCxn id="198" idx="3"/>
            <a:endCxn id="207" idx="2"/>
          </p:cNvCxnSpPr>
          <p:nvPr/>
        </p:nvCxnSpPr>
        <p:spPr>
          <a:xfrm rot="10800000" flipH="1">
            <a:off x="5451480" y="3411408"/>
            <a:ext cx="1290900" cy="1908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0" name="Google Shape;210;g13b91a9f9f6_0_224"/>
          <p:cNvCxnSpPr>
            <a:stCxn id="198" idx="2"/>
            <a:endCxn id="199" idx="1"/>
          </p:cNvCxnSpPr>
          <p:nvPr/>
        </p:nvCxnSpPr>
        <p:spPr>
          <a:xfrm rot="-5400000" flipH="1">
            <a:off x="4808880" y="3942408"/>
            <a:ext cx="1177200" cy="13326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1" name="Google Shape;211;g13b91a9f9f6_0_224"/>
          <p:cNvSpPr/>
          <p:nvPr/>
        </p:nvSpPr>
        <p:spPr>
          <a:xfrm>
            <a:off x="215734" y="1151654"/>
            <a:ext cx="1909500" cy="3259800"/>
          </a:xfrm>
          <a:prstGeom prst="roundRect">
            <a:avLst>
              <a:gd name="adj" fmla="val 6451"/>
            </a:avLst>
          </a:prstGeom>
          <a:solidFill>
            <a:srgbClr val="FFF2CC"/>
          </a:solidFill>
          <a:ln>
            <a:noFill/>
          </a:ln>
          <a:effectLst>
            <a:outerShdw blurRad="44450" dist="27940" dir="5400000" algn="ctr">
              <a:srgbClr val="000000">
                <a:alpha val="31372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75"/>
              <a:buFont typeface="Arial"/>
              <a:buNone/>
            </a:pPr>
            <a:endParaRPr sz="377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13b91a9f9f6_0_224"/>
          <p:cNvSpPr/>
          <p:nvPr/>
        </p:nvSpPr>
        <p:spPr>
          <a:xfrm>
            <a:off x="215733" y="1202533"/>
            <a:ext cx="1899600" cy="3351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71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 KEUANGAN BLU</a:t>
            </a:r>
            <a:endParaRPr sz="1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g13b91a9f9f6_0_224"/>
          <p:cNvSpPr/>
          <p:nvPr/>
        </p:nvSpPr>
        <p:spPr>
          <a:xfrm>
            <a:off x="279605" y="1775842"/>
            <a:ext cx="1771800" cy="4764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71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PENERIMAAN</a:t>
            </a:r>
            <a:endParaRPr sz="118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g13b91a9f9f6_0_224"/>
          <p:cNvSpPr/>
          <p:nvPr/>
        </p:nvSpPr>
        <p:spPr>
          <a:xfrm>
            <a:off x="301441" y="3702152"/>
            <a:ext cx="1771800" cy="474300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71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BELANJA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g13b91a9f9f6_0_2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4164" y="2304671"/>
            <a:ext cx="1586589" cy="134515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g13b91a9f9f6_0_224"/>
          <p:cNvCxnSpPr>
            <a:stCxn id="199" idx="3"/>
            <a:endCxn id="201" idx="2"/>
          </p:cNvCxnSpPr>
          <p:nvPr/>
        </p:nvCxnSpPr>
        <p:spPr>
          <a:xfrm rot="10800000" flipH="1">
            <a:off x="7504233" y="4153880"/>
            <a:ext cx="1197000" cy="10434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7" name="Google Shape;217;g13b91a9f9f6_0_224"/>
          <p:cNvCxnSpPr>
            <a:stCxn id="207" idx="3"/>
            <a:endCxn id="201" idx="0"/>
          </p:cNvCxnSpPr>
          <p:nvPr/>
        </p:nvCxnSpPr>
        <p:spPr>
          <a:xfrm>
            <a:off x="7462747" y="2993452"/>
            <a:ext cx="1238400" cy="3246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8" name="Google Shape;218;g13b91a9f9f6_0_224"/>
          <p:cNvCxnSpPr>
            <a:stCxn id="198" idx="2"/>
            <a:endCxn id="201" idx="2"/>
          </p:cNvCxnSpPr>
          <p:nvPr/>
        </p:nvCxnSpPr>
        <p:spPr>
          <a:xfrm rot="-5400000" flipH="1">
            <a:off x="6649230" y="2102058"/>
            <a:ext cx="133800" cy="3969900"/>
          </a:xfrm>
          <a:prstGeom prst="bentConnector3">
            <a:avLst>
              <a:gd name="adj1" fmla="val 198636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9" name="Google Shape;219;g13b91a9f9f6_0_224"/>
          <p:cNvSpPr txBox="1"/>
          <p:nvPr/>
        </p:nvSpPr>
        <p:spPr>
          <a:xfrm>
            <a:off x="7559155" y="4992130"/>
            <a:ext cx="643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JURNAL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13b91a9f9f6_0_224"/>
          <p:cNvSpPr txBox="1"/>
          <p:nvPr/>
        </p:nvSpPr>
        <p:spPr>
          <a:xfrm>
            <a:off x="5440442" y="2161915"/>
            <a:ext cx="15537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INFORMASI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PENGESAHAN PENDAPATAN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g13b91a9f9f6_0_224"/>
          <p:cNvCxnSpPr>
            <a:stCxn id="214" idx="3"/>
            <a:endCxn id="198" idx="1"/>
          </p:cNvCxnSpPr>
          <p:nvPr/>
        </p:nvCxnSpPr>
        <p:spPr>
          <a:xfrm rot="10800000" flipH="1">
            <a:off x="2073241" y="3602102"/>
            <a:ext cx="1937700" cy="337200"/>
          </a:xfrm>
          <a:prstGeom prst="bentConnector3">
            <a:avLst>
              <a:gd name="adj1" fmla="val 49996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g13b91a9f9f6_0_224"/>
          <p:cNvCxnSpPr>
            <a:endCxn id="207" idx="0"/>
          </p:cNvCxnSpPr>
          <p:nvPr/>
        </p:nvCxnSpPr>
        <p:spPr>
          <a:xfrm>
            <a:off x="5324347" y="2332552"/>
            <a:ext cx="1418100" cy="2430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3" name="Google Shape;223;g13b91a9f9f6_0_224"/>
          <p:cNvCxnSpPr>
            <a:stCxn id="213" idx="3"/>
            <a:endCxn id="205" idx="1"/>
          </p:cNvCxnSpPr>
          <p:nvPr/>
        </p:nvCxnSpPr>
        <p:spPr>
          <a:xfrm>
            <a:off x="2051405" y="2014042"/>
            <a:ext cx="1950600" cy="3069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4" name="Google Shape;224;g13b91a9f9f6_0_224"/>
          <p:cNvSpPr txBox="1"/>
          <p:nvPr/>
        </p:nvSpPr>
        <p:spPr>
          <a:xfrm>
            <a:off x="5521968" y="3434686"/>
            <a:ext cx="13083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INFORMASI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PENGESAHAN BELANJA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13b91a9f9f6_0_224"/>
          <p:cNvSpPr/>
          <p:nvPr/>
        </p:nvSpPr>
        <p:spPr>
          <a:xfrm>
            <a:off x="3418842" y="1527541"/>
            <a:ext cx="1047816" cy="557118"/>
          </a:xfrm>
          <a:prstGeom prst="flowChartMultidocument">
            <a:avLst/>
          </a:prstGeom>
          <a:solidFill>
            <a:srgbClr val="1F3864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89"/>
              <a:buFont typeface="Arial"/>
              <a:buNone/>
            </a:pPr>
            <a:r>
              <a:rPr lang="en-US" sz="1089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Pendapatan</a:t>
            </a:r>
            <a:endParaRPr sz="1089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g13b91a9f9f6_0_224"/>
          <p:cNvSpPr/>
          <p:nvPr/>
        </p:nvSpPr>
        <p:spPr>
          <a:xfrm>
            <a:off x="4002096" y="1903078"/>
            <a:ext cx="1440600" cy="835800"/>
          </a:xfrm>
          <a:prstGeom prst="flowChartAlternateProcess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BENDAHARA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13b91a9f9f6_0_224"/>
          <p:cNvSpPr txBox="1"/>
          <p:nvPr/>
        </p:nvSpPr>
        <p:spPr>
          <a:xfrm>
            <a:off x="4758195" y="5036128"/>
            <a:ext cx="13692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INFORMASI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PEROLEHAN ASET TETAP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13b91a9f9f6_0_224"/>
          <p:cNvSpPr txBox="1"/>
          <p:nvPr/>
        </p:nvSpPr>
        <p:spPr>
          <a:xfrm>
            <a:off x="4706732" y="6017726"/>
            <a:ext cx="14127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INFORMASI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PEROLEHAN PERSEDIAAN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13b91a9f9f6_0_224"/>
          <p:cNvSpPr txBox="1"/>
          <p:nvPr/>
        </p:nvSpPr>
        <p:spPr>
          <a:xfrm>
            <a:off x="7559155" y="5987159"/>
            <a:ext cx="643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JURNAL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13b91a9f9f6_0_224"/>
          <p:cNvSpPr txBox="1"/>
          <p:nvPr/>
        </p:nvSpPr>
        <p:spPr>
          <a:xfrm>
            <a:off x="7559155" y="2818185"/>
            <a:ext cx="643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JURNAL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13b91a9f9f6_0_224"/>
          <p:cNvSpPr txBox="1"/>
          <p:nvPr/>
        </p:nvSpPr>
        <p:spPr>
          <a:xfrm>
            <a:off x="7559155" y="1532649"/>
            <a:ext cx="643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JURNAL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13b91a9f9f6_0_224"/>
          <p:cNvSpPr txBox="1"/>
          <p:nvPr/>
        </p:nvSpPr>
        <p:spPr>
          <a:xfrm>
            <a:off x="7559155" y="4313798"/>
            <a:ext cx="643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JURNAL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13b91a9f9f6_0_224"/>
          <p:cNvSpPr/>
          <p:nvPr/>
        </p:nvSpPr>
        <p:spPr>
          <a:xfrm>
            <a:off x="4860628" y="1191495"/>
            <a:ext cx="2032500" cy="335100"/>
          </a:xfrm>
          <a:prstGeom prst="roundRect">
            <a:avLst>
              <a:gd name="adj" fmla="val 16667"/>
            </a:avLst>
          </a:prstGeom>
          <a:solidFill>
            <a:srgbClr val="2F5496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71275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SAKTI</a:t>
            </a:r>
            <a:endParaRPr sz="1386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13b91a9f9f6_0_224"/>
          <p:cNvSpPr txBox="1"/>
          <p:nvPr/>
        </p:nvSpPr>
        <p:spPr>
          <a:xfrm>
            <a:off x="2465327" y="3793882"/>
            <a:ext cx="10278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INTERKONEKSI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/ INPUT MANUAL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13b91a9f9f6_0_224"/>
          <p:cNvSpPr txBox="1"/>
          <p:nvPr/>
        </p:nvSpPr>
        <p:spPr>
          <a:xfrm>
            <a:off x="2387402" y="1854928"/>
            <a:ext cx="1027800" cy="3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INTERKONEKSI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/ INPUT MANUAL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13b91a9f9f6_0_2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40801" y="1758468"/>
            <a:ext cx="1240656" cy="160084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6" name="Google Shape;236;g13b91a9f9f6_0_224"/>
          <p:cNvCxnSpPr/>
          <p:nvPr/>
        </p:nvCxnSpPr>
        <p:spPr>
          <a:xfrm rot="10800000" flipH="1">
            <a:off x="7480803" y="2786497"/>
            <a:ext cx="2859900" cy="150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37" name="Google Shape;237;g13b91a9f9f6_0_224"/>
          <p:cNvSpPr/>
          <p:nvPr/>
        </p:nvSpPr>
        <p:spPr>
          <a:xfrm>
            <a:off x="9772095" y="4957677"/>
            <a:ext cx="2124600" cy="1646700"/>
          </a:xfrm>
          <a:prstGeom prst="flowChartAlternateProcess">
            <a:avLst/>
          </a:prstGeom>
          <a:solidFill>
            <a:srgbClr val="2F5496"/>
          </a:solidFill>
          <a:ln w="1905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Laporan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Keuangan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Dihasilkan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SAKTI: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7956" marR="0" lvl="0" indent="-1979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39"/>
              <a:buFont typeface="Arial"/>
              <a:buAutoNum type="arabicPeriod"/>
            </a:pP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Laporan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Realisasi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Anggaran</a:t>
            </a:r>
            <a:endParaRPr sz="1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7956" marR="0" lvl="0" indent="-1979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39"/>
              <a:buFont typeface="Arial"/>
              <a:buAutoNum type="arabicPeriod"/>
            </a:pP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Laporan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Operasional</a:t>
            </a:r>
            <a:endParaRPr sz="1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7956" marR="0" lvl="0" indent="-1979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39"/>
              <a:buFont typeface="Arial"/>
              <a:buAutoNum type="arabicPeriod"/>
            </a:pP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Laporan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Perubahan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Ekuitas</a:t>
            </a:r>
            <a:endParaRPr sz="1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7956" marR="0" lvl="0" indent="-1979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39"/>
              <a:buFont typeface="Arial"/>
              <a:buAutoNum type="arabicPeriod"/>
            </a:pP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Neraca</a:t>
            </a:r>
            <a:endParaRPr sz="1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7956" marR="0" lvl="0" indent="-1979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39"/>
              <a:buFont typeface="Arial"/>
              <a:buAutoNum type="arabicPeriod"/>
            </a:pP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Laporan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Arus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Kas</a:t>
            </a:r>
            <a:endParaRPr sz="10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97956" marR="0" lvl="0" indent="-1979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39"/>
              <a:buFont typeface="Arial"/>
              <a:buAutoNum type="arabicPeriod"/>
            </a:pP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Laporan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0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Perubahan</a:t>
            </a:r>
            <a:r>
              <a:rPr lang="en-US" sz="1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SAL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13b91a9f9f6_0_224"/>
          <p:cNvSpPr txBox="1"/>
          <p:nvPr/>
        </p:nvSpPr>
        <p:spPr>
          <a:xfrm>
            <a:off x="10428370" y="3455072"/>
            <a:ext cx="11385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Output SP2B BLU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g13b91a9f9f6_0_224"/>
          <p:cNvSpPr/>
          <p:nvPr/>
        </p:nvSpPr>
        <p:spPr>
          <a:xfrm>
            <a:off x="2446044" y="2534872"/>
            <a:ext cx="1324800" cy="835800"/>
          </a:xfrm>
          <a:prstGeom prst="flowChartAlternateProcess">
            <a:avLst/>
          </a:prstGeom>
          <a:solidFill>
            <a:schemeClr val="accent5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MODUL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86"/>
              <a:buFont typeface="Arial"/>
              <a:buNone/>
            </a:pPr>
            <a:r>
              <a:rPr lang="en-US" sz="1386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ANGGARAN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0" name="Google Shape;240;g13b91a9f9f6_0_224"/>
          <p:cNvCxnSpPr>
            <a:endCxn id="205" idx="2"/>
          </p:cNvCxnSpPr>
          <p:nvPr/>
        </p:nvCxnSpPr>
        <p:spPr>
          <a:xfrm rot="10800000" flipH="1">
            <a:off x="3730896" y="2738878"/>
            <a:ext cx="991500" cy="2424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1" name="Google Shape;241;g13b91a9f9f6_0_224"/>
          <p:cNvCxnSpPr>
            <a:endCxn id="198" idx="0"/>
          </p:cNvCxnSpPr>
          <p:nvPr/>
        </p:nvCxnSpPr>
        <p:spPr>
          <a:xfrm>
            <a:off x="3825180" y="2981208"/>
            <a:ext cx="906000" cy="203100"/>
          </a:xfrm>
          <a:prstGeom prst="bentConnector2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42" name="Google Shape;242;g13b91a9f9f6_0_224"/>
          <p:cNvCxnSpPr>
            <a:endCxn id="207" idx="1"/>
          </p:cNvCxnSpPr>
          <p:nvPr/>
        </p:nvCxnSpPr>
        <p:spPr>
          <a:xfrm>
            <a:off x="3797947" y="2981152"/>
            <a:ext cx="2224200" cy="12300"/>
          </a:xfrm>
          <a:prstGeom prst="bentConnector3">
            <a:avLst>
              <a:gd name="adj1" fmla="val 49998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3" name="Google Shape;243;g13b91a9f9f6_0_224"/>
          <p:cNvSpPr txBox="1"/>
          <p:nvPr/>
        </p:nvSpPr>
        <p:spPr>
          <a:xfrm>
            <a:off x="4332516" y="2839599"/>
            <a:ext cx="1321200" cy="2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0" i="0" u="none" strike="noStrike" cap="none">
                <a:solidFill>
                  <a:srgbClr val="1E4E79"/>
                </a:solidFill>
                <a:latin typeface="Arial"/>
                <a:ea typeface="Arial"/>
                <a:cs typeface="Arial"/>
                <a:sym typeface="Arial"/>
              </a:rPr>
              <a:t>FUND AVAILABILITY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13b91a9f9f6_0_2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8266" y="5327504"/>
            <a:ext cx="1138500" cy="742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13b91a9f9f6_1_214"/>
          <p:cNvSpPr/>
          <p:nvPr/>
        </p:nvSpPr>
        <p:spPr>
          <a:xfrm>
            <a:off x="4904486" y="1399049"/>
            <a:ext cx="2340000" cy="4681800"/>
          </a:xfrm>
          <a:prstGeom prst="rect">
            <a:avLst/>
          </a:prstGeom>
          <a:solidFill>
            <a:srgbClr val="9CC2E5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13b91a9f9f6_1_214"/>
          <p:cNvSpPr/>
          <p:nvPr/>
        </p:nvSpPr>
        <p:spPr>
          <a:xfrm>
            <a:off x="7253609" y="1399049"/>
            <a:ext cx="2340000" cy="4681800"/>
          </a:xfrm>
          <a:prstGeom prst="rect">
            <a:avLst/>
          </a:prstGeom>
          <a:solidFill>
            <a:srgbClr val="2E75B5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13b91a9f9f6_1_214"/>
          <p:cNvSpPr/>
          <p:nvPr/>
        </p:nvSpPr>
        <p:spPr>
          <a:xfrm>
            <a:off x="9604990" y="1399049"/>
            <a:ext cx="2340000" cy="4681800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13b91a9f9f6_1_214"/>
          <p:cNvSpPr/>
          <p:nvPr/>
        </p:nvSpPr>
        <p:spPr>
          <a:xfrm>
            <a:off x="9619985" y="1457389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g13b91a9f9f6_1_214"/>
          <p:cNvSpPr/>
          <p:nvPr/>
        </p:nvSpPr>
        <p:spPr>
          <a:xfrm>
            <a:off x="7259624" y="1457389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g13b91a9f9f6_1_214"/>
          <p:cNvSpPr/>
          <p:nvPr/>
        </p:nvSpPr>
        <p:spPr>
          <a:xfrm>
            <a:off x="4903799" y="1457389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13b91a9f9f6_1_214"/>
          <p:cNvSpPr/>
          <p:nvPr/>
        </p:nvSpPr>
        <p:spPr>
          <a:xfrm>
            <a:off x="2540667" y="1399049"/>
            <a:ext cx="2340000" cy="4681800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rgbClr val="DDEAF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13b91a9f9f6_1_214"/>
          <p:cNvSpPr/>
          <p:nvPr/>
        </p:nvSpPr>
        <p:spPr>
          <a:xfrm>
            <a:off x="2540667" y="1457389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g13b91a9f9f6_1_214"/>
          <p:cNvSpPr/>
          <p:nvPr/>
        </p:nvSpPr>
        <p:spPr>
          <a:xfrm>
            <a:off x="2901432" y="2287655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Input Supplier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13b91a9f9f6_1_214"/>
          <p:cNvSpPr/>
          <p:nvPr/>
        </p:nvSpPr>
        <p:spPr>
          <a:xfrm>
            <a:off x="4524689" y="2357399"/>
            <a:ext cx="6480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13b91a9f9f6_1_214"/>
          <p:cNvSpPr/>
          <p:nvPr/>
        </p:nvSpPr>
        <p:spPr>
          <a:xfrm rot="10800000" flipH="1">
            <a:off x="3624370" y="4072467"/>
            <a:ext cx="3898800" cy="3681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g13b91a9f9f6_1_214"/>
          <p:cNvSpPr txBox="1"/>
          <p:nvPr/>
        </p:nvSpPr>
        <p:spPr>
          <a:xfrm>
            <a:off x="3359719" y="441921"/>
            <a:ext cx="49461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51" name="Google Shape;351;g13b91a9f9f6_1_214"/>
          <p:cNvSpPr txBox="1"/>
          <p:nvPr/>
        </p:nvSpPr>
        <p:spPr>
          <a:xfrm>
            <a:off x="1405191" y="560680"/>
            <a:ext cx="9404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ALUR PROSES PEMBUATAN SPM-PENGESAHAN BELANJA BLU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g13b91a9f9f6_1_214"/>
          <p:cNvSpPr/>
          <p:nvPr/>
        </p:nvSpPr>
        <p:spPr>
          <a:xfrm rot="10800000">
            <a:off x="4524820" y="2628132"/>
            <a:ext cx="6366300" cy="324000"/>
          </a:xfrm>
          <a:prstGeom prst="bentArrow">
            <a:avLst>
              <a:gd name="adj1" fmla="val 25000"/>
              <a:gd name="adj2" fmla="val 16448"/>
              <a:gd name="adj3" fmla="val 25000"/>
              <a:gd name="adj4" fmla="val 43750"/>
            </a:avLst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13b91a9f9f6_1_214"/>
          <p:cNvSpPr/>
          <p:nvPr/>
        </p:nvSpPr>
        <p:spPr>
          <a:xfrm>
            <a:off x="2851818" y="1545900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>
            <a:noFill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OPERATOR SAKTI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(STAFF PPK/STAFF PPSPM)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g13b91a9f9f6_1_214"/>
          <p:cNvSpPr/>
          <p:nvPr/>
        </p:nvSpPr>
        <p:spPr>
          <a:xfrm>
            <a:off x="5162692" y="1545900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PEJABAT PEMBUAT KOMITMEN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(PPK)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13b91a9f9f6_1_214"/>
          <p:cNvSpPr/>
          <p:nvPr/>
        </p:nvSpPr>
        <p:spPr>
          <a:xfrm>
            <a:off x="7523320" y="1545900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PEJABAT PENANDATANGAN SPM (PPSPM)</a:t>
            </a:r>
            <a:endParaRPr sz="9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13b91a9f9f6_1_214"/>
          <p:cNvSpPr/>
          <p:nvPr/>
        </p:nvSpPr>
        <p:spPr>
          <a:xfrm>
            <a:off x="9954804" y="1545900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KPPN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(SPAN)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13b91a9f9f6_1_214"/>
          <p:cNvSpPr/>
          <p:nvPr/>
        </p:nvSpPr>
        <p:spPr>
          <a:xfrm>
            <a:off x="5208490" y="2287655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Membuat ADK Supplier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13b91a9f9f6_1_214"/>
          <p:cNvSpPr/>
          <p:nvPr/>
        </p:nvSpPr>
        <p:spPr>
          <a:xfrm>
            <a:off x="10033000" y="2287655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Proses KPPN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13b91a9f9f6_1_214"/>
          <p:cNvSpPr/>
          <p:nvPr/>
        </p:nvSpPr>
        <p:spPr>
          <a:xfrm>
            <a:off x="6834445" y="2371551"/>
            <a:ext cx="31710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13b91a9f9f6_1_214"/>
          <p:cNvSpPr/>
          <p:nvPr/>
        </p:nvSpPr>
        <p:spPr>
          <a:xfrm>
            <a:off x="2901432" y="2753324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BAST BARANG/JASA</a:t>
            </a:r>
            <a:endParaRPr sz="1200" b="0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g13b91a9f9f6_1_214"/>
          <p:cNvSpPr/>
          <p:nvPr/>
        </p:nvSpPr>
        <p:spPr>
          <a:xfrm>
            <a:off x="7532463" y="4187942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Setuju SP3B BLU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13b91a9f9f6_1_214"/>
          <p:cNvSpPr/>
          <p:nvPr/>
        </p:nvSpPr>
        <p:spPr>
          <a:xfrm>
            <a:off x="7538175" y="4665710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Create ADK SP3B BLU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13b91a9f9f6_1_214"/>
          <p:cNvSpPr/>
          <p:nvPr/>
        </p:nvSpPr>
        <p:spPr>
          <a:xfrm rot="5400000">
            <a:off x="8260149" y="4516825"/>
            <a:ext cx="1440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13b91a9f9f6_1_214"/>
          <p:cNvSpPr/>
          <p:nvPr/>
        </p:nvSpPr>
        <p:spPr>
          <a:xfrm>
            <a:off x="10033000" y="4619325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Proses KPPN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g13b91a9f9f6_1_214"/>
          <p:cNvSpPr/>
          <p:nvPr/>
        </p:nvSpPr>
        <p:spPr>
          <a:xfrm rot="10800000">
            <a:off x="4524820" y="4974773"/>
            <a:ext cx="6366300" cy="324000"/>
          </a:xfrm>
          <a:prstGeom prst="bentArrow">
            <a:avLst>
              <a:gd name="adj1" fmla="val 25000"/>
              <a:gd name="adj2" fmla="val 16448"/>
              <a:gd name="adj3" fmla="val 25000"/>
              <a:gd name="adj4" fmla="val 43750"/>
            </a:avLst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g13b91a9f9f6_1_214"/>
          <p:cNvSpPr/>
          <p:nvPr/>
        </p:nvSpPr>
        <p:spPr>
          <a:xfrm>
            <a:off x="2901432" y="5073149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Catat SP2B BLU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13b91a9f9f6_1_214"/>
          <p:cNvSpPr/>
          <p:nvPr/>
        </p:nvSpPr>
        <p:spPr>
          <a:xfrm>
            <a:off x="6621458" y="2463410"/>
            <a:ext cx="629100" cy="3066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BCSR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g13b91a9f9f6_1_214"/>
          <p:cNvSpPr/>
          <p:nvPr/>
        </p:nvSpPr>
        <p:spPr>
          <a:xfrm>
            <a:off x="8893110" y="4817591"/>
            <a:ext cx="687300" cy="2568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PMRT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g13b91a9f9f6_1_214"/>
          <p:cNvSpPr/>
          <p:nvPr/>
        </p:nvSpPr>
        <p:spPr>
          <a:xfrm>
            <a:off x="9952365" y="2587448"/>
            <a:ext cx="629100" cy="3066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g13b91a9f9f6_1_214"/>
          <p:cNvSpPr/>
          <p:nvPr/>
        </p:nvSpPr>
        <p:spPr>
          <a:xfrm>
            <a:off x="9952364" y="4989707"/>
            <a:ext cx="687300" cy="306600"/>
          </a:xfrm>
          <a:prstGeom prst="parallelogram">
            <a:avLst>
              <a:gd name="adj" fmla="val 25000"/>
            </a:avLst>
          </a:prstGeom>
          <a:gradFill>
            <a:gsLst>
              <a:gs pos="0">
                <a:srgbClr val="7FB75F"/>
              </a:gs>
              <a:gs pos="50000">
                <a:srgbClr val="6EB141"/>
              </a:gs>
              <a:gs pos="100000">
                <a:srgbClr val="5FA134"/>
              </a:gs>
            </a:gsLst>
            <a:lin ang="5400012" scaled="0"/>
          </a:gradFill>
          <a:ln>
            <a:noFill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SP2B BLU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13b91a9f9f6_1_214"/>
          <p:cNvSpPr/>
          <p:nvPr/>
        </p:nvSpPr>
        <p:spPr>
          <a:xfrm>
            <a:off x="2901432" y="3225994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Input SP3B BLU</a:t>
            </a:r>
            <a:endParaRPr sz="1400" b="0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g13b91a9f9f6_1_214"/>
          <p:cNvSpPr/>
          <p:nvPr/>
        </p:nvSpPr>
        <p:spPr>
          <a:xfrm rot="5400000">
            <a:off x="3594551" y="3071367"/>
            <a:ext cx="1440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g13b91a9f9f6_1_214"/>
          <p:cNvSpPr/>
          <p:nvPr/>
        </p:nvSpPr>
        <p:spPr>
          <a:xfrm>
            <a:off x="2901432" y="3753210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Cetak SP3B</a:t>
            </a:r>
            <a:r>
              <a:rPr lang="en-US" sz="14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BLU</a:t>
            </a:r>
            <a:endParaRPr sz="1400" b="0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13b91a9f9f6_1_214"/>
          <p:cNvSpPr/>
          <p:nvPr/>
        </p:nvSpPr>
        <p:spPr>
          <a:xfrm>
            <a:off x="9160621" y="4713235"/>
            <a:ext cx="844800" cy="163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g13b91a9f9f6_1_214"/>
          <p:cNvSpPr/>
          <p:nvPr/>
        </p:nvSpPr>
        <p:spPr>
          <a:xfrm>
            <a:off x="2751256" y="2208640"/>
            <a:ext cx="294900" cy="280200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13b91a9f9f6_1_214"/>
          <p:cNvSpPr/>
          <p:nvPr/>
        </p:nvSpPr>
        <p:spPr>
          <a:xfrm rot="5400000">
            <a:off x="3577452" y="3577030"/>
            <a:ext cx="1782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13b91a9f9f6_1_214"/>
          <p:cNvSpPr/>
          <p:nvPr/>
        </p:nvSpPr>
        <p:spPr>
          <a:xfrm>
            <a:off x="188399" y="1387428"/>
            <a:ext cx="2340000" cy="4693200"/>
          </a:xfrm>
          <a:prstGeom prst="rect">
            <a:avLst/>
          </a:prstGeom>
          <a:solidFill>
            <a:srgbClr val="DDEAF6"/>
          </a:solidFill>
          <a:ln w="127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13b91a9f9f6_1_214"/>
          <p:cNvSpPr/>
          <p:nvPr/>
        </p:nvSpPr>
        <p:spPr>
          <a:xfrm>
            <a:off x="188399" y="1445768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g13b91a9f9f6_1_214"/>
          <p:cNvSpPr/>
          <p:nvPr/>
        </p:nvSpPr>
        <p:spPr>
          <a:xfrm>
            <a:off x="386819" y="1537780"/>
            <a:ext cx="1847700" cy="414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4"/>
              <a:buFont typeface="Arial"/>
              <a:buNone/>
            </a:pPr>
            <a:r>
              <a:rPr lang="en-US" sz="924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OPERATOR ASSET TETAP/PERSEDIAAN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g13b91a9f9f6_1_214"/>
          <p:cNvSpPr/>
          <p:nvPr/>
        </p:nvSpPr>
        <p:spPr>
          <a:xfrm>
            <a:off x="552535" y="2755778"/>
            <a:ext cx="1611600" cy="3192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9"/>
              <a:buFont typeface="Arial"/>
              <a:buNone/>
            </a:pPr>
            <a:r>
              <a:rPr lang="en-US" sz="1039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Pendetailan Aset Tetap/Persediaan</a:t>
            </a:r>
            <a:endParaRPr sz="1039" b="0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g13b91a9f9f6_1_214"/>
          <p:cNvSpPr/>
          <p:nvPr/>
        </p:nvSpPr>
        <p:spPr>
          <a:xfrm rot="10800000">
            <a:off x="2211144" y="2834913"/>
            <a:ext cx="6480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13b91a9f9f6_1_214"/>
          <p:cNvSpPr/>
          <p:nvPr/>
        </p:nvSpPr>
        <p:spPr>
          <a:xfrm>
            <a:off x="2888670" y="4230784"/>
            <a:ext cx="1607700" cy="3240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Upload Dokumen Pendukung</a:t>
            </a:r>
            <a:endParaRPr sz="1400" b="0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86186" y="2628132"/>
            <a:ext cx="4594481" cy="51523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ular Callout 2"/>
          <p:cNvSpPr/>
          <p:nvPr/>
        </p:nvSpPr>
        <p:spPr>
          <a:xfrm>
            <a:off x="327923" y="3915210"/>
            <a:ext cx="1965492" cy="525358"/>
          </a:xfrm>
          <a:prstGeom prst="wedgeRectCallout">
            <a:avLst>
              <a:gd name="adj1" fmla="val 69213"/>
              <a:gd name="adj2" fmla="val -19525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 smtClean="0">
                <a:solidFill>
                  <a:srgbClr val="FF0000"/>
                </a:solidFill>
              </a:rPr>
              <a:t>TITIK INTERKONEKSI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7a320f899_0_6"/>
          <p:cNvSpPr/>
          <p:nvPr/>
        </p:nvSpPr>
        <p:spPr>
          <a:xfrm>
            <a:off x="1195036" y="3424166"/>
            <a:ext cx="3344700" cy="1172100"/>
          </a:xfrm>
          <a:prstGeom prst="roundRect">
            <a:avLst>
              <a:gd name="adj" fmla="val 16667"/>
            </a:avLst>
          </a:prstGeom>
          <a:solidFill>
            <a:srgbClr val="0C5ADB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107a320f899_0_6"/>
          <p:cNvSpPr txBox="1"/>
          <p:nvPr/>
        </p:nvSpPr>
        <p:spPr>
          <a:xfrm>
            <a:off x="3359696" y="975296"/>
            <a:ext cx="49461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g107a320f899_0_6"/>
          <p:cNvSpPr txBox="1"/>
          <p:nvPr/>
        </p:nvSpPr>
        <p:spPr>
          <a:xfrm>
            <a:off x="1195036" y="1204118"/>
            <a:ext cx="94044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MEKANISME INTERKONEKSI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SAKTI – </a:t>
            </a:r>
            <a:r>
              <a:rPr lang="en-US" sz="44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SIMRS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g107a320f899_0_6"/>
          <p:cNvSpPr/>
          <p:nvPr/>
        </p:nvSpPr>
        <p:spPr>
          <a:xfrm>
            <a:off x="1370086" y="3686093"/>
            <a:ext cx="2994600" cy="6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3000" b="0" i="0" u="none" strike="noStrike" cap="none" dirty="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SATKER BLU</a:t>
            </a:r>
            <a:endParaRPr sz="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107a320f899_0_6"/>
          <p:cNvSpPr/>
          <p:nvPr/>
        </p:nvSpPr>
        <p:spPr>
          <a:xfrm>
            <a:off x="4571420" y="3870988"/>
            <a:ext cx="633900" cy="23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107a320f899_0_6"/>
          <p:cNvSpPr/>
          <p:nvPr/>
        </p:nvSpPr>
        <p:spPr>
          <a:xfrm>
            <a:off x="6743060" y="3870988"/>
            <a:ext cx="633900" cy="23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107a320f899_0_6"/>
          <p:cNvSpPr/>
          <p:nvPr/>
        </p:nvSpPr>
        <p:spPr>
          <a:xfrm>
            <a:off x="7492599" y="3404338"/>
            <a:ext cx="2872927" cy="1172100"/>
          </a:xfrm>
          <a:prstGeom prst="roundRect">
            <a:avLst>
              <a:gd name="adj" fmla="val 16667"/>
            </a:avLst>
          </a:prstGeom>
          <a:solidFill>
            <a:srgbClr val="0C5ADB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g107a320f899_0_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09591" y="3509704"/>
            <a:ext cx="1535567" cy="10010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ounded Rectangle 1"/>
          <p:cNvSpPr/>
          <p:nvPr/>
        </p:nvSpPr>
        <p:spPr>
          <a:xfrm>
            <a:off x="4767444" y="4374259"/>
            <a:ext cx="2345332" cy="86553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 smtClean="0"/>
              <a:t>Transaksi</a:t>
            </a:r>
            <a:r>
              <a:rPr lang="en-US" sz="1200" dirty="0" smtClean="0"/>
              <a:t> </a:t>
            </a:r>
            <a:r>
              <a:rPr lang="en-US" sz="1200" dirty="0" err="1" smtClean="0"/>
              <a:t>Pencatatan</a:t>
            </a:r>
            <a:r>
              <a:rPr lang="en-US" sz="1200" dirty="0" smtClean="0"/>
              <a:t> </a:t>
            </a:r>
            <a:r>
              <a:rPr lang="en-US" sz="1200" dirty="0" err="1" smtClean="0"/>
              <a:t>Penerimaan</a:t>
            </a:r>
            <a:r>
              <a:rPr lang="en-US" sz="1200" dirty="0" smtClean="0"/>
              <a:t> </a:t>
            </a:r>
            <a:r>
              <a:rPr lang="en-US" sz="1200" dirty="0" err="1" smtClean="0"/>
              <a:t>Barang</a:t>
            </a:r>
            <a:r>
              <a:rPr lang="en-US" sz="1200" dirty="0"/>
              <a:t> </a:t>
            </a:r>
            <a:r>
              <a:rPr lang="en-US" sz="1200" dirty="0" err="1" smtClean="0"/>
              <a:t>Satker</a:t>
            </a:r>
            <a:r>
              <a:rPr lang="en-US" sz="1200" dirty="0" smtClean="0"/>
              <a:t> BLU yang </a:t>
            </a:r>
            <a:r>
              <a:rPr lang="en-US" sz="1200" dirty="0" err="1" smtClean="0"/>
              <a:t>menghasilkan</a:t>
            </a:r>
            <a:r>
              <a:rPr lang="en-US" sz="1200" dirty="0" smtClean="0"/>
              <a:t> </a:t>
            </a:r>
            <a:r>
              <a:rPr lang="en-US" sz="1200" dirty="0" err="1" smtClean="0"/>
              <a:t>Persediaan</a:t>
            </a:r>
            <a:r>
              <a:rPr lang="en-US" sz="1200" dirty="0" smtClean="0"/>
              <a:t> </a:t>
            </a:r>
            <a:endParaRPr lang="en-US" sz="1200" dirty="0"/>
          </a:p>
        </p:txBody>
      </p:sp>
      <p:sp>
        <p:nvSpPr>
          <p:cNvPr id="262" name="Google Shape;262;g107a320f899_0_6"/>
          <p:cNvSpPr/>
          <p:nvPr/>
        </p:nvSpPr>
        <p:spPr>
          <a:xfrm>
            <a:off x="5226389" y="3672900"/>
            <a:ext cx="1442400" cy="757200"/>
          </a:xfrm>
          <a:prstGeom prst="rect">
            <a:avLst/>
          </a:prstGeom>
          <a:solidFill>
            <a:srgbClr val="DDEAF6"/>
          </a:solidFill>
          <a:ln w="12700" cap="flat" cmpd="sng">
            <a:solidFill>
              <a:srgbClr val="DDEAF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Upload ADK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107a320f899_1_33"/>
          <p:cNvSpPr/>
          <p:nvPr/>
        </p:nvSpPr>
        <p:spPr>
          <a:xfrm>
            <a:off x="3837572" y="1018032"/>
            <a:ext cx="2340000" cy="3561738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07a320f899_1_33"/>
          <p:cNvSpPr/>
          <p:nvPr/>
        </p:nvSpPr>
        <p:spPr>
          <a:xfrm>
            <a:off x="6194335" y="1018032"/>
            <a:ext cx="2340000" cy="4971300"/>
          </a:xfrm>
          <a:prstGeom prst="rect">
            <a:avLst/>
          </a:prstGeom>
          <a:solidFill>
            <a:srgbClr val="9CC2E5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107a320f899_1_33"/>
          <p:cNvSpPr/>
          <p:nvPr/>
        </p:nvSpPr>
        <p:spPr>
          <a:xfrm>
            <a:off x="8545736" y="1018032"/>
            <a:ext cx="2340000" cy="4971300"/>
          </a:xfrm>
          <a:prstGeom prst="rect">
            <a:avLst/>
          </a:prstGeom>
          <a:solidFill>
            <a:srgbClr val="8DA9DB"/>
          </a:solidFill>
          <a:ln w="12700" cap="flat" cmpd="sng">
            <a:solidFill>
              <a:srgbClr val="BBD6EE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107a320f899_1_33"/>
          <p:cNvSpPr/>
          <p:nvPr/>
        </p:nvSpPr>
        <p:spPr>
          <a:xfrm>
            <a:off x="8560730" y="1076372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107a320f899_1_33"/>
          <p:cNvSpPr/>
          <p:nvPr/>
        </p:nvSpPr>
        <p:spPr>
          <a:xfrm>
            <a:off x="6200350" y="1076372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107a320f899_1_33"/>
          <p:cNvSpPr/>
          <p:nvPr/>
        </p:nvSpPr>
        <p:spPr>
          <a:xfrm>
            <a:off x="3844505" y="1076372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107a320f899_1_33"/>
          <p:cNvSpPr/>
          <p:nvPr/>
        </p:nvSpPr>
        <p:spPr>
          <a:xfrm>
            <a:off x="1481353" y="1018032"/>
            <a:ext cx="2340000" cy="4971300"/>
          </a:xfrm>
          <a:prstGeom prst="rect">
            <a:avLst/>
          </a:prstGeom>
          <a:solidFill>
            <a:srgbClr val="DDEAF6"/>
          </a:solidFill>
          <a:ln w="12700" cap="flat" cmpd="sng">
            <a:solidFill>
              <a:srgbClr val="DDEAF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107a320f899_1_33"/>
          <p:cNvSpPr/>
          <p:nvPr/>
        </p:nvSpPr>
        <p:spPr>
          <a:xfrm>
            <a:off x="1481353" y="1076372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107a320f899_1_33"/>
          <p:cNvSpPr/>
          <p:nvPr/>
        </p:nvSpPr>
        <p:spPr>
          <a:xfrm>
            <a:off x="1816482" y="2171564"/>
            <a:ext cx="1607700" cy="602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Data </a:t>
            </a:r>
            <a:r>
              <a:rPr lang="en-US" sz="1200" b="0" i="0" u="none" strike="noStrike" cap="none" dirty="0" err="1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Transaksi</a:t>
            </a:r>
            <a:endParaRPr sz="1200" b="0" i="0" u="none" strike="noStrike" cap="none" dirty="0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Pembelian</a:t>
            </a:r>
            <a:r>
              <a:rPr lang="en-US" sz="1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dirty="0" err="1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Persediaan</a:t>
            </a:r>
            <a:r>
              <a:rPr lang="en-US" sz="12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b="0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BLU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g107a320f899_1_33"/>
          <p:cNvSpPr/>
          <p:nvPr/>
        </p:nvSpPr>
        <p:spPr>
          <a:xfrm>
            <a:off x="3439753" y="2386587"/>
            <a:ext cx="648000" cy="14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107a320f899_1_33"/>
          <p:cNvSpPr txBox="1"/>
          <p:nvPr/>
        </p:nvSpPr>
        <p:spPr>
          <a:xfrm>
            <a:off x="3435896" y="441896"/>
            <a:ext cx="49461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7" name="Google Shape;287;g107a320f899_1_33"/>
          <p:cNvSpPr txBox="1"/>
          <p:nvPr/>
        </p:nvSpPr>
        <p:spPr>
          <a:xfrm>
            <a:off x="1481352" y="179655"/>
            <a:ext cx="9404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ALUR </a:t>
            </a:r>
            <a:r>
              <a:rPr lang="en-US" sz="28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INTERKONEKSI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(TRANSAKSI SP3B)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107a320f899_1_33"/>
          <p:cNvSpPr/>
          <p:nvPr/>
        </p:nvSpPr>
        <p:spPr>
          <a:xfrm>
            <a:off x="1792507" y="1164884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>
            <a:noFill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BLU</a:t>
            </a:r>
            <a:endParaRPr sz="9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g107a320f899_1_33"/>
          <p:cNvSpPr/>
          <p:nvPr/>
        </p:nvSpPr>
        <p:spPr>
          <a:xfrm>
            <a:off x="4103400" y="1164884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SAKTI KOMITMEN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107a320f899_1_33"/>
          <p:cNvSpPr/>
          <p:nvPr/>
        </p:nvSpPr>
        <p:spPr>
          <a:xfrm>
            <a:off x="6464047" y="1164884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SAKTI PEMBAYARAN</a:t>
            </a:r>
            <a:endParaRPr sz="9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g107a320f899_1_33"/>
          <p:cNvSpPr/>
          <p:nvPr/>
        </p:nvSpPr>
        <p:spPr>
          <a:xfrm>
            <a:off x="8895551" y="1164884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KPPN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(SPAN)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g107a320f899_1_33"/>
          <p:cNvSpPr/>
          <p:nvPr/>
        </p:nvSpPr>
        <p:spPr>
          <a:xfrm>
            <a:off x="8973747" y="1906645"/>
            <a:ext cx="1607700" cy="7509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Proses KPPN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g107a320f899_1_33"/>
          <p:cNvSpPr/>
          <p:nvPr/>
        </p:nvSpPr>
        <p:spPr>
          <a:xfrm>
            <a:off x="1694636" y="2015807"/>
            <a:ext cx="294900" cy="280200"/>
          </a:xfrm>
          <a:prstGeom prst="ellipse">
            <a:avLst/>
          </a:prstGeom>
          <a:solidFill>
            <a:schemeClr val="accent2"/>
          </a:solidFill>
          <a:ln w="12700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107a320f899_1_33"/>
          <p:cNvSpPr txBox="1"/>
          <p:nvPr/>
        </p:nvSpPr>
        <p:spPr>
          <a:xfrm>
            <a:off x="7012547" y="4842975"/>
            <a:ext cx="1164900" cy="2616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KIRIM</a:t>
            </a:r>
            <a:r>
              <a:rPr lang="en-US" sz="1100" b="0" i="0" u="none" strike="noStrike" cap="none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 SP3B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g107a320f899_1_33"/>
          <p:cNvSpPr/>
          <p:nvPr/>
        </p:nvSpPr>
        <p:spPr>
          <a:xfrm rot="5400000">
            <a:off x="4499596" y="2891793"/>
            <a:ext cx="471000" cy="15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g107a320f899_1_33"/>
          <p:cNvSpPr/>
          <p:nvPr/>
        </p:nvSpPr>
        <p:spPr>
          <a:xfrm rot="5400000">
            <a:off x="7357410" y="4504170"/>
            <a:ext cx="471000" cy="15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g107a320f899_1_33"/>
          <p:cNvSpPr/>
          <p:nvPr/>
        </p:nvSpPr>
        <p:spPr>
          <a:xfrm>
            <a:off x="4144849" y="2376498"/>
            <a:ext cx="1607700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0" u="none" strike="noStrike" cap="none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UPLOAD ADK ZIP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107a320f899_1_33"/>
          <p:cNvSpPr/>
          <p:nvPr/>
        </p:nvSpPr>
        <p:spPr>
          <a:xfrm>
            <a:off x="6909600" y="3660250"/>
            <a:ext cx="1472400" cy="669800"/>
          </a:xfrm>
          <a:prstGeom prst="flowChartInputOutput">
            <a:avLst/>
          </a:prstGeom>
          <a:solidFill>
            <a:srgbClr val="92D050"/>
          </a:solidFill>
          <a:ln w="12700" cap="flat" cmpd="sng">
            <a:solidFill>
              <a:srgbClr val="A8D08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F2F2F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SP3B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107a320f899_1_33"/>
          <p:cNvSpPr/>
          <p:nvPr/>
        </p:nvSpPr>
        <p:spPr>
          <a:xfrm>
            <a:off x="6631400" y="2216970"/>
            <a:ext cx="1583100" cy="669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100">
                <a:solidFill>
                  <a:schemeClr val="lt1"/>
                </a:solidFill>
              </a:rPr>
              <a:t>RUH SP3B</a:t>
            </a:r>
            <a:endParaRPr sz="11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g107a320f899_1_33"/>
          <p:cNvSpPr/>
          <p:nvPr/>
        </p:nvSpPr>
        <p:spPr>
          <a:xfrm rot="5400000" flipH="1">
            <a:off x="7926670" y="2940193"/>
            <a:ext cx="2330700" cy="1811700"/>
          </a:xfrm>
          <a:prstGeom prst="bentArrow">
            <a:avLst>
              <a:gd name="adj1" fmla="val 5070"/>
              <a:gd name="adj2" fmla="val 5077"/>
              <a:gd name="adj3" fmla="val 7375"/>
              <a:gd name="adj4" fmla="val 4303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07a320f899_1_33"/>
          <p:cNvSpPr/>
          <p:nvPr/>
        </p:nvSpPr>
        <p:spPr>
          <a:xfrm flipH="1">
            <a:off x="3461368" y="2566065"/>
            <a:ext cx="615600" cy="1488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107a320f899_1_33"/>
          <p:cNvSpPr/>
          <p:nvPr/>
        </p:nvSpPr>
        <p:spPr>
          <a:xfrm>
            <a:off x="4108694" y="4045198"/>
            <a:ext cx="1664796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dirty="0" smtClean="0">
                <a:solidFill>
                  <a:srgbClr val="F2F2F2"/>
                </a:solidFill>
                <a:latin typeface="Calibri"/>
                <a:cs typeface="Calibri"/>
                <a:sym typeface="Calibri"/>
              </a:rPr>
              <a:t>INSERT DATA KE TABEL KOM (BAST REALISASI BLU)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107a320f899_1_33"/>
          <p:cNvSpPr/>
          <p:nvPr/>
        </p:nvSpPr>
        <p:spPr>
          <a:xfrm rot="5400000" flipH="1">
            <a:off x="5616600" y="3058350"/>
            <a:ext cx="1446900" cy="1139100"/>
          </a:xfrm>
          <a:prstGeom prst="bentArrow">
            <a:avLst>
              <a:gd name="adj1" fmla="val 10109"/>
              <a:gd name="adj2" fmla="val 10128"/>
              <a:gd name="adj3" fmla="val 16844"/>
              <a:gd name="adj4" fmla="val 25834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g107a320f899_1_33"/>
          <p:cNvSpPr/>
          <p:nvPr/>
        </p:nvSpPr>
        <p:spPr>
          <a:xfrm rot="5400000">
            <a:off x="7253250" y="3203832"/>
            <a:ext cx="785100" cy="15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03;g107a320f899_1_33"/>
          <p:cNvSpPr/>
          <p:nvPr/>
        </p:nvSpPr>
        <p:spPr>
          <a:xfrm>
            <a:off x="4144849" y="3210968"/>
            <a:ext cx="1607700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 smtClean="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PROSES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295;g107a320f899_1_33"/>
          <p:cNvSpPr/>
          <p:nvPr/>
        </p:nvSpPr>
        <p:spPr>
          <a:xfrm rot="5400000">
            <a:off x="4499596" y="3734098"/>
            <a:ext cx="471000" cy="15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81;g107a320f899_1_33"/>
          <p:cNvSpPr/>
          <p:nvPr/>
        </p:nvSpPr>
        <p:spPr>
          <a:xfrm>
            <a:off x="3837572" y="5377332"/>
            <a:ext cx="2340000" cy="6120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289;g107a320f899_1_33"/>
          <p:cNvSpPr/>
          <p:nvPr/>
        </p:nvSpPr>
        <p:spPr>
          <a:xfrm>
            <a:off x="4096467" y="5465844"/>
            <a:ext cx="1764000" cy="396000"/>
          </a:xfrm>
          <a:prstGeom prst="roundRect">
            <a:avLst>
              <a:gd name="adj" fmla="val 16667"/>
            </a:avLst>
          </a:prstGeom>
          <a:solidFill>
            <a:srgbClr val="1E4E79"/>
          </a:solidFill>
          <a:ln w="12700" cap="flat" cmpd="sng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8398" dir="3806097" algn="ctr" rotWithShape="0">
              <a:srgbClr val="243F60"/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SAKTI </a:t>
            </a:r>
            <a:r>
              <a:rPr lang="en-US" b="1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PERSEDIAAN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295;g107a320f899_1_33"/>
          <p:cNvSpPr/>
          <p:nvPr/>
        </p:nvSpPr>
        <p:spPr>
          <a:xfrm rot="5400000">
            <a:off x="4423996" y="4552198"/>
            <a:ext cx="471000" cy="151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303;g107a320f899_1_33"/>
          <p:cNvSpPr/>
          <p:nvPr/>
        </p:nvSpPr>
        <p:spPr>
          <a:xfrm>
            <a:off x="4127548" y="4857554"/>
            <a:ext cx="1664796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 smtClean="0">
                <a:solidFill>
                  <a:srgbClr val="F2F2F2"/>
                </a:solidFill>
                <a:latin typeface="Calibri"/>
                <a:cs typeface="Calibri"/>
                <a:sym typeface="Calibri"/>
              </a:rPr>
              <a:t>INSERT DATA KE TABEL PSD (PENDETILAN)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950427807"/>
              </p:ext>
            </p:extLst>
          </p:nvPr>
        </p:nvGraphicFramePr>
        <p:xfrm>
          <a:off x="1899377" y="538182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104717651"/>
              </p:ext>
            </p:extLst>
          </p:nvPr>
        </p:nvGraphicFramePr>
        <p:xfrm>
          <a:off x="1655071" y="788758"/>
          <a:ext cx="9820299" cy="54584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133981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656793" y="1307370"/>
            <a:ext cx="3999627" cy="4634822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1" name="Google Shape;261;g107a320f899_0_6"/>
          <p:cNvSpPr/>
          <p:nvPr/>
        </p:nvSpPr>
        <p:spPr>
          <a:xfrm>
            <a:off x="2377179" y="2088185"/>
            <a:ext cx="2482851" cy="917489"/>
          </a:xfrm>
          <a:prstGeom prst="roundRect">
            <a:avLst>
              <a:gd name="adj" fmla="val 16667"/>
            </a:avLst>
          </a:prstGeom>
          <a:solidFill>
            <a:srgbClr val="0C5ADB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200" b="1" i="0" u="none" strike="noStrike" cap="none" dirty="0" smtClean="0">
                <a:solidFill>
                  <a:schemeClr val="bg1"/>
                </a:solidFill>
                <a:latin typeface="Arial"/>
                <a:ea typeface="Arial"/>
                <a:cs typeface="Arial"/>
                <a:sym typeface="Arial"/>
              </a:rPr>
              <a:t>ADK CSV HEADER</a:t>
            </a:r>
            <a:endParaRPr sz="1200" b="1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107a320f899_0_6"/>
          <p:cNvSpPr txBox="1"/>
          <p:nvPr/>
        </p:nvSpPr>
        <p:spPr>
          <a:xfrm>
            <a:off x="3359696" y="975296"/>
            <a:ext cx="49461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g107a320f899_0_6"/>
          <p:cNvSpPr txBox="1"/>
          <p:nvPr/>
        </p:nvSpPr>
        <p:spPr>
          <a:xfrm>
            <a:off x="1306718" y="347846"/>
            <a:ext cx="9404400" cy="627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lang="en-US" sz="36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STRUKTUR ADK INTERKONEKSI</a:t>
            </a:r>
            <a:endParaRPr sz="11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61;g107a320f899_0_6"/>
          <p:cNvSpPr/>
          <p:nvPr/>
        </p:nvSpPr>
        <p:spPr>
          <a:xfrm>
            <a:off x="2377177" y="3238751"/>
            <a:ext cx="2482851" cy="917489"/>
          </a:xfrm>
          <a:prstGeom prst="roundRect">
            <a:avLst>
              <a:gd name="adj" fmla="val 16667"/>
            </a:avLst>
          </a:prstGeom>
          <a:solidFill>
            <a:srgbClr val="0C5ADB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en-US" sz="1200" b="1" dirty="0">
                <a:solidFill>
                  <a:schemeClr val="bg1"/>
                </a:solidFill>
              </a:rPr>
              <a:t>ADK CSV DETIL </a:t>
            </a:r>
            <a:r>
              <a:rPr lang="en-US" sz="1200" b="1" dirty="0" smtClean="0">
                <a:solidFill>
                  <a:schemeClr val="bg1"/>
                </a:solidFill>
              </a:rPr>
              <a:t>BARANG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Google Shape;261;g107a320f899_0_6"/>
          <p:cNvSpPr/>
          <p:nvPr/>
        </p:nvSpPr>
        <p:spPr>
          <a:xfrm>
            <a:off x="2377178" y="4483724"/>
            <a:ext cx="2482851" cy="917489"/>
          </a:xfrm>
          <a:prstGeom prst="roundRect">
            <a:avLst>
              <a:gd name="adj" fmla="val 16667"/>
            </a:avLst>
          </a:prstGeom>
          <a:solidFill>
            <a:srgbClr val="0C5ADB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>
              <a:buSzPts val="1400"/>
            </a:pPr>
            <a:r>
              <a:rPr lang="en-US" sz="1200" b="1" dirty="0">
                <a:solidFill>
                  <a:schemeClr val="bg1"/>
                </a:solidFill>
              </a:rPr>
              <a:t>ADK CSV DETIL </a:t>
            </a:r>
            <a:r>
              <a:rPr lang="en-US" sz="1200" b="1" dirty="0" smtClean="0">
                <a:solidFill>
                  <a:schemeClr val="bg1"/>
                </a:solidFill>
              </a:rPr>
              <a:t>COA</a:t>
            </a:r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493" y="4976666"/>
            <a:ext cx="1109069" cy="61533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9934" y="1307370"/>
            <a:ext cx="1607374" cy="92858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495" y="3730656"/>
            <a:ext cx="1109069" cy="615331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5492" y="2546929"/>
            <a:ext cx="1109069" cy="6153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 contrast="-5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129" y="1374536"/>
            <a:ext cx="844937" cy="641107"/>
          </a:xfrm>
          <a:prstGeom prst="rect">
            <a:avLst/>
          </a:prstGeom>
        </p:spPr>
      </p:pic>
      <p:sp>
        <p:nvSpPr>
          <p:cNvPr id="15" name="Google Shape;348;g13b91a9f9f6_1_214"/>
          <p:cNvSpPr/>
          <p:nvPr/>
        </p:nvSpPr>
        <p:spPr>
          <a:xfrm>
            <a:off x="5167157" y="2779257"/>
            <a:ext cx="1554730" cy="15067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348;g13b91a9f9f6_1_214"/>
          <p:cNvSpPr/>
          <p:nvPr/>
        </p:nvSpPr>
        <p:spPr>
          <a:xfrm>
            <a:off x="5167161" y="3962984"/>
            <a:ext cx="1554730" cy="15067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48;g13b91a9f9f6_1_214"/>
          <p:cNvSpPr/>
          <p:nvPr/>
        </p:nvSpPr>
        <p:spPr>
          <a:xfrm>
            <a:off x="5167157" y="5208994"/>
            <a:ext cx="1554730" cy="15067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97;g107a320f899_1_33"/>
          <p:cNvSpPr/>
          <p:nvPr/>
        </p:nvSpPr>
        <p:spPr>
          <a:xfrm>
            <a:off x="6721887" y="2681044"/>
            <a:ext cx="3483096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 smtClean="0">
                <a:solidFill>
                  <a:srgbClr val="F2F2F2"/>
                </a:solidFill>
                <a:latin typeface="Calibri"/>
                <a:cs typeface="Calibri"/>
                <a:sym typeface="Calibri"/>
              </a:rPr>
              <a:t>BASTA+KODESATKER+YYYYMMDD+SEQUENCE(3digit)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97;g107a320f899_1_33"/>
          <p:cNvSpPr/>
          <p:nvPr/>
        </p:nvSpPr>
        <p:spPr>
          <a:xfrm>
            <a:off x="6721887" y="3864771"/>
            <a:ext cx="3483096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 smtClean="0">
                <a:solidFill>
                  <a:srgbClr val="F2F2F2"/>
                </a:solidFill>
                <a:latin typeface="Calibri"/>
                <a:cs typeface="Calibri"/>
                <a:sym typeface="Calibri"/>
              </a:rPr>
              <a:t>BASTB+KODESATKER+YYYYMMDD+SEQUENCE(3digit)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97;g107a320f899_1_33"/>
          <p:cNvSpPr/>
          <p:nvPr/>
        </p:nvSpPr>
        <p:spPr>
          <a:xfrm>
            <a:off x="6721891" y="5110781"/>
            <a:ext cx="3483096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 smtClean="0">
                <a:solidFill>
                  <a:srgbClr val="F2F2F2"/>
                </a:solidFill>
                <a:latin typeface="Calibri"/>
                <a:cs typeface="Calibri"/>
                <a:sym typeface="Calibri"/>
              </a:rPr>
              <a:t>BASTC+KODESATKER+YYYYMMDD+SEQUENCE(3digit)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348;g13b91a9f9f6_1_214"/>
          <p:cNvSpPr/>
          <p:nvPr/>
        </p:nvSpPr>
        <p:spPr>
          <a:xfrm>
            <a:off x="5637391" y="1707859"/>
            <a:ext cx="1084496" cy="11302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F7CAA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97;g107a320f899_1_33"/>
          <p:cNvSpPr/>
          <p:nvPr/>
        </p:nvSpPr>
        <p:spPr>
          <a:xfrm>
            <a:off x="6721891" y="1609646"/>
            <a:ext cx="3483096" cy="347100"/>
          </a:xfrm>
          <a:prstGeom prst="roundRect">
            <a:avLst>
              <a:gd name="adj" fmla="val 16667"/>
            </a:avLst>
          </a:prstGeom>
          <a:solidFill>
            <a:srgbClr val="59595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dirty="0" smtClean="0">
                <a:solidFill>
                  <a:srgbClr val="F2F2F2"/>
                </a:solidFill>
                <a:latin typeface="Calibri"/>
                <a:cs typeface="Calibri"/>
                <a:sym typeface="Calibri"/>
              </a:rPr>
              <a:t>BAST+KODESATKER+YYYYMMDD+SEQUENCE(3digit)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97;g107a320f899_1_33"/>
          <p:cNvSpPr/>
          <p:nvPr/>
        </p:nvSpPr>
        <p:spPr>
          <a:xfrm>
            <a:off x="7922474" y="1935596"/>
            <a:ext cx="2282514" cy="26315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100"/>
            </a:pPr>
            <a:r>
              <a:rPr lang="en-US" sz="1000" dirty="0" err="1" smtClean="0"/>
              <a:t>Cth</a:t>
            </a:r>
            <a:r>
              <a:rPr lang="en-US" sz="1000" dirty="0" smtClean="0"/>
              <a:t>: BAST41558220230111004.ZIP</a:t>
            </a:r>
            <a:endParaRPr sz="100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1" name="Google Shape;297;g107a320f899_1_33"/>
          <p:cNvSpPr/>
          <p:nvPr/>
        </p:nvSpPr>
        <p:spPr>
          <a:xfrm>
            <a:off x="7922473" y="3031989"/>
            <a:ext cx="2282509" cy="26315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100"/>
            </a:pPr>
            <a:r>
              <a:rPr lang="en-US" sz="900" dirty="0" err="1" smtClean="0"/>
              <a:t>Cth</a:t>
            </a:r>
            <a:r>
              <a:rPr lang="en-US" sz="900" dirty="0" smtClean="0"/>
              <a:t>: </a:t>
            </a:r>
            <a:r>
              <a:rPr lang="en-US" sz="900" dirty="0" smtClean="0"/>
              <a:t>BASTA41558220230111004.CSV</a:t>
            </a:r>
            <a:endParaRPr sz="9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2" name="Google Shape;297;g107a320f899_1_33"/>
          <p:cNvSpPr/>
          <p:nvPr/>
        </p:nvSpPr>
        <p:spPr>
          <a:xfrm>
            <a:off x="7922474" y="4211871"/>
            <a:ext cx="2282514" cy="26315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100"/>
            </a:pPr>
            <a:r>
              <a:rPr lang="en-US" sz="900" dirty="0" err="1" smtClean="0"/>
              <a:t>Cth</a:t>
            </a:r>
            <a:r>
              <a:rPr lang="en-US" sz="900" dirty="0" smtClean="0"/>
              <a:t>: </a:t>
            </a:r>
            <a:r>
              <a:rPr lang="en-US" sz="900" dirty="0" smtClean="0"/>
              <a:t>BASTB41558220230111004.CSV</a:t>
            </a:r>
            <a:endParaRPr sz="9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  <p:sp>
        <p:nvSpPr>
          <p:cNvPr id="33" name="Google Shape;297;g107a320f899_1_33"/>
          <p:cNvSpPr/>
          <p:nvPr/>
        </p:nvSpPr>
        <p:spPr>
          <a:xfrm>
            <a:off x="7922469" y="5460421"/>
            <a:ext cx="2282514" cy="26315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ts val="1100"/>
            </a:pPr>
            <a:r>
              <a:rPr lang="en-US" sz="900" dirty="0" err="1" smtClean="0"/>
              <a:t>Cth</a:t>
            </a:r>
            <a:r>
              <a:rPr lang="en-US" sz="900" dirty="0" smtClean="0"/>
              <a:t>: </a:t>
            </a:r>
            <a:r>
              <a:rPr lang="en-US" sz="900" dirty="0" smtClean="0"/>
              <a:t>BASTC41558220230111004.CSV</a:t>
            </a:r>
            <a:endParaRPr sz="900" b="0" i="0" u="none" strike="noStrike" cap="none" dirty="0">
              <a:solidFill>
                <a:srgbClr val="000000"/>
              </a:solidFill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226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3;g107a320f899_0_6"/>
          <p:cNvSpPr txBox="1"/>
          <p:nvPr/>
        </p:nvSpPr>
        <p:spPr>
          <a:xfrm>
            <a:off x="539714" y="571346"/>
            <a:ext cx="4227729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 smtClean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KAMUS DATA HEADER </a:t>
            </a:r>
            <a:endParaRPr sz="2400" b="1" i="0" u="none" strike="noStrike" cap="none" dirty="0">
              <a:solidFill>
                <a:schemeClr val="bg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5"/>
          <a:stretch/>
        </p:blipFill>
        <p:spPr>
          <a:xfrm>
            <a:off x="127485" y="1379246"/>
            <a:ext cx="11865883" cy="5384522"/>
          </a:xfrm>
          <a:prstGeom prst="rect">
            <a:avLst/>
          </a:prstGeom>
        </p:spPr>
      </p:pic>
      <p:sp>
        <p:nvSpPr>
          <p:cNvPr id="4" name="Google Shape;263;g107a320f899_0_6"/>
          <p:cNvSpPr txBox="1"/>
          <p:nvPr/>
        </p:nvSpPr>
        <p:spPr>
          <a:xfrm>
            <a:off x="3359696" y="975296"/>
            <a:ext cx="4946100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1" i="0" u="none" strike="noStrike" cap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191395" y="4502199"/>
            <a:ext cx="530492" cy="2233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tipe</a:t>
            </a:r>
            <a:r>
              <a:rPr lang="en-US" sz="1100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</a:t>
            </a:r>
            <a:endParaRPr lang="en-US" sz="11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24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63;g107a320f899_0_6"/>
          <p:cNvSpPr txBox="1"/>
          <p:nvPr/>
        </p:nvSpPr>
        <p:spPr>
          <a:xfrm>
            <a:off x="539714" y="571346"/>
            <a:ext cx="4562778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 smtClean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KAMUS DATA DETIL BARANG</a:t>
            </a:r>
            <a:endParaRPr sz="2400" b="1" i="0" u="none" strike="noStrike" cap="none" dirty="0">
              <a:solidFill>
                <a:schemeClr val="bg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Google Shape;263;g107a320f899_0_6"/>
          <p:cNvSpPr txBox="1"/>
          <p:nvPr/>
        </p:nvSpPr>
        <p:spPr>
          <a:xfrm>
            <a:off x="490853" y="2713088"/>
            <a:ext cx="4227729" cy="8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 b="1" i="0" u="none" strike="noStrike" cap="none" dirty="0" smtClean="0">
                <a:solidFill>
                  <a:schemeClr val="bg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KAMUS DATA COA</a:t>
            </a:r>
            <a:endParaRPr sz="2400" b="1" i="0" u="none" strike="noStrike" cap="none" dirty="0">
              <a:solidFill>
                <a:schemeClr val="bg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14" y="3479108"/>
            <a:ext cx="10058400" cy="156056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714" y="1362194"/>
            <a:ext cx="10058400" cy="126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47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40" t="8759"/>
          <a:stretch/>
        </p:blipFill>
        <p:spPr>
          <a:xfrm>
            <a:off x="143245" y="1312269"/>
            <a:ext cx="11897518" cy="5031580"/>
          </a:xfrm>
          <a:prstGeom prst="rect">
            <a:avLst/>
          </a:prstGeom>
        </p:spPr>
      </p:pic>
      <p:sp>
        <p:nvSpPr>
          <p:cNvPr id="313" name="Google Shape;313;g107a320f899_1_72"/>
          <p:cNvSpPr txBox="1"/>
          <p:nvPr/>
        </p:nvSpPr>
        <p:spPr>
          <a:xfrm>
            <a:off x="1434943" y="117354"/>
            <a:ext cx="9404400" cy="56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 INTERKONEKSI </a:t>
            </a:r>
            <a:r>
              <a:rPr lang="en-US" sz="2800" b="1" i="0" u="none" strike="noStrike" cap="none" dirty="0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BAST Non </a:t>
            </a:r>
            <a:r>
              <a:rPr lang="en-US" sz="2800" b="1" i="0" u="none" strike="noStrike" cap="none" dirty="0" err="1" smtClean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Kontraktual</a:t>
            </a:r>
            <a:endParaRPr lang="en-US" sz="2800" b="1" i="0" u="none" strike="noStrike" cap="none" dirty="0" smtClean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 sz="2800" b="1" dirty="0" smtClean="0">
                <a:solidFill>
                  <a:schemeClr val="lt1"/>
                </a:solidFill>
                <a:latin typeface="Calibri"/>
                <a:cs typeface="Calibri"/>
                <a:sym typeface="Calibri"/>
              </a:rPr>
              <a:t>SAKTI - SIMRS</a:t>
            </a:r>
            <a:endParaRPr sz="1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8783358" y="5639498"/>
            <a:ext cx="1172665" cy="414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ular Callout 2"/>
          <p:cNvSpPr/>
          <p:nvPr/>
        </p:nvSpPr>
        <p:spPr>
          <a:xfrm>
            <a:off x="5179273" y="5368753"/>
            <a:ext cx="2477955" cy="543436"/>
          </a:xfrm>
          <a:prstGeom prst="wedgeRectCallout">
            <a:avLst>
              <a:gd name="adj1" fmla="val 94750"/>
              <a:gd name="adj2" fmla="val -73651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2. </a:t>
            </a:r>
            <a:r>
              <a:rPr lang="en-US" dirty="0" err="1" smtClean="0">
                <a:solidFill>
                  <a:schemeClr val="tx1"/>
                </a:solidFill>
              </a:rPr>
              <a:t>Cari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dan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dirty="0" err="1" smtClean="0">
                <a:solidFill>
                  <a:schemeClr val="tx1"/>
                </a:solidFill>
              </a:rPr>
              <a:t>Unggah</a:t>
            </a:r>
            <a:r>
              <a:rPr lang="en-US" dirty="0" smtClean="0">
                <a:solidFill>
                  <a:schemeClr val="tx1"/>
                </a:solidFill>
              </a:rPr>
              <a:t> ADK Zip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ular Callout 9"/>
          <p:cNvSpPr/>
          <p:nvPr/>
        </p:nvSpPr>
        <p:spPr>
          <a:xfrm>
            <a:off x="5437539" y="3390069"/>
            <a:ext cx="2477955" cy="543436"/>
          </a:xfrm>
          <a:prstGeom prst="wedgeRectCallout">
            <a:avLst>
              <a:gd name="adj1" fmla="val -120461"/>
              <a:gd name="adj2" fmla="val -204665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3. Data </a:t>
            </a:r>
            <a:r>
              <a:rPr lang="en-US" dirty="0" err="1" smtClean="0">
                <a:solidFill>
                  <a:schemeClr val="tx1"/>
                </a:solidFill>
              </a:rPr>
              <a:t>hasil</a:t>
            </a:r>
            <a:r>
              <a:rPr lang="en-US" dirty="0" smtClean="0">
                <a:solidFill>
                  <a:schemeClr val="tx1"/>
                </a:solidFill>
              </a:rPr>
              <a:t> upload ADK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6903" y="1607275"/>
            <a:ext cx="11581237" cy="9474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783358" y="5052509"/>
            <a:ext cx="2979691" cy="4148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ular Callout 12"/>
          <p:cNvSpPr/>
          <p:nvPr/>
        </p:nvSpPr>
        <p:spPr>
          <a:xfrm>
            <a:off x="6994112" y="6222675"/>
            <a:ext cx="2477955" cy="543436"/>
          </a:xfrm>
          <a:prstGeom prst="wedgeRectCallout">
            <a:avLst>
              <a:gd name="adj1" fmla="val 49116"/>
              <a:gd name="adj2" fmla="val -86496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4. Proses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ular Callout 13"/>
          <p:cNvSpPr/>
          <p:nvPr/>
        </p:nvSpPr>
        <p:spPr>
          <a:xfrm>
            <a:off x="1757835" y="5096062"/>
            <a:ext cx="2477955" cy="543436"/>
          </a:xfrm>
          <a:prstGeom prst="wedgeRectCallout">
            <a:avLst>
              <a:gd name="adj1" fmla="val 58130"/>
              <a:gd name="adj2" fmla="val -274025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1. </a:t>
            </a:r>
            <a:r>
              <a:rPr lang="en-US" dirty="0" err="1" smtClean="0">
                <a:solidFill>
                  <a:schemeClr val="tx1"/>
                </a:solidFill>
              </a:rPr>
              <a:t>Pilih</a:t>
            </a:r>
            <a:r>
              <a:rPr lang="en-US" dirty="0" smtClean="0">
                <a:solidFill>
                  <a:schemeClr val="tx1"/>
                </a:solidFill>
              </a:rPr>
              <a:t> Filter Data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Google Shape;313;g107a320f899_1_72"/>
          <p:cNvSpPr txBox="1"/>
          <p:nvPr/>
        </p:nvSpPr>
        <p:spPr>
          <a:xfrm>
            <a:off x="143245" y="918286"/>
            <a:ext cx="9404400" cy="341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lang="en-US" sz="1600" b="1" i="0" u="none" strike="noStrike" cap="none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Komitmen</a:t>
            </a:r>
            <a:r>
              <a:rPr lang="en-US" sz="1600" b="1" i="0" u="none" strike="noStrike" cap="none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600" b="1" i="0" u="none" strike="noStrike" cap="none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 RUH  </a:t>
            </a:r>
            <a:r>
              <a:rPr lang="en-US" sz="1600" b="1" i="0" u="none" strike="noStrike" cap="none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Interkoneksi</a:t>
            </a:r>
            <a:r>
              <a:rPr lang="en-US" sz="1600" b="1" i="0" u="none" strike="noStrike" cap="none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 BAST Non </a:t>
            </a:r>
            <a:r>
              <a:rPr lang="en-US" sz="1600" b="1" i="0" u="none" strike="noStrike" cap="none" dirty="0" err="1" smtClean="0">
                <a:solidFill>
                  <a:schemeClr val="accent4">
                    <a:lumMod val="60000"/>
                    <a:lumOff val="40000"/>
                  </a:schemeClr>
                </a:solidFill>
                <a:latin typeface="Calibri"/>
                <a:ea typeface="Calibri"/>
                <a:cs typeface="Calibri"/>
                <a:sym typeface="Wingdings" panose="05000000000000000000" pitchFamily="2" charset="2"/>
              </a:rPr>
              <a:t>Kontraktual</a:t>
            </a:r>
            <a:endParaRPr sz="1000" b="0" i="0" u="none" strike="noStrike" cap="none" dirty="0">
              <a:solidFill>
                <a:schemeClr val="accent4">
                  <a:lumMod val="60000"/>
                  <a:lumOff val="40000"/>
                </a:schemeClr>
              </a:solidFill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07a320f899_2_3"/>
          <p:cNvSpPr/>
          <p:nvPr/>
        </p:nvSpPr>
        <p:spPr>
          <a:xfrm>
            <a:off x="4556467" y="3805900"/>
            <a:ext cx="2616000" cy="12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75" tIns="45700" rIns="9147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43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Terima Kasih</a:t>
            </a:r>
            <a:endParaRPr sz="43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4" name="Google Shape;334;g107a320f899_2_3"/>
          <p:cNvPicPr preferRelativeResize="0"/>
          <p:nvPr/>
        </p:nvPicPr>
        <p:blipFill rotWithShape="1">
          <a:blip r:embed="rId3">
            <a:alphaModFix/>
          </a:blip>
          <a:srcRect l="3526" t="15958" r="2159"/>
          <a:stretch/>
        </p:blipFill>
        <p:spPr>
          <a:xfrm>
            <a:off x="4295655" y="1333096"/>
            <a:ext cx="3137827" cy="2236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605</TotalTime>
  <Words>371</Words>
  <Application>Microsoft Office PowerPoint</Application>
  <PresentationFormat>Custom</PresentationFormat>
  <Paragraphs>139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Quattrocento Sans</vt:lpstr>
      <vt:lpstr>Arial Black</vt:lpstr>
      <vt:lpstr>Century Gothic</vt:lpstr>
      <vt:lpstr>Wingdings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Ophand Albana</dc:creator>
  <cp:lastModifiedBy>fachrimunand</cp:lastModifiedBy>
  <cp:revision>24</cp:revision>
  <dcterms:created xsi:type="dcterms:W3CDTF">2019-03-08T03:01:57Z</dcterms:created>
  <dcterms:modified xsi:type="dcterms:W3CDTF">2023-03-28T03:52:53Z</dcterms:modified>
</cp:coreProperties>
</file>