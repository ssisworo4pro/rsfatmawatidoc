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7" r:id="rId4"/>
    <p:sldId id="277" r:id="rId5"/>
    <p:sldId id="265" r:id="rId6"/>
  </p:sldIdLst>
  <p:sldSz cx="18288000" cy="10287000"/>
  <p:notesSz cx="6858000" cy="9144000"/>
  <p:embeddedFontLst>
    <p:embeddedFont>
      <p:font typeface="Bahnschrift Condensed" panose="020B0502040204020203" pitchFamily="34" charset="0"/>
      <p:regular r:id="rId8"/>
      <p:bold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Franklin Gothic Book" panose="020B0503020102020204" pitchFamily="34" charset="0"/>
      <p:regular r:id="rId14"/>
      <p:italic r:id="rId15"/>
    </p:embeddedFont>
    <p:embeddedFont>
      <p:font typeface="Franklin Gothic Medium Cond" panose="020B0606030402020204" pitchFamily="34" charset="0"/>
      <p:regular r:id="rId16"/>
    </p:embeddedFont>
    <p:embeddedFont>
      <p:font typeface="Open Sans Extra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0099FF"/>
    <a:srgbClr val="33CCFF"/>
    <a:srgbClr val="66CCFF"/>
    <a:srgbClr val="1A1EC8"/>
    <a:srgbClr val="425BD6"/>
    <a:srgbClr val="336699"/>
    <a:srgbClr val="3366CC"/>
    <a:srgbClr val="3973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1634" autoAdjust="0"/>
  </p:normalViewPr>
  <p:slideViewPr>
    <p:cSldViewPr>
      <p:cViewPr varScale="1">
        <p:scale>
          <a:sx n="68" d="100"/>
          <a:sy n="68" d="100"/>
        </p:scale>
        <p:origin x="214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47D8-E1D0-421A-8B9F-36DFFEF059E6}" type="datetimeFigureOut">
              <a:rPr lang="en-ID" smtClean="0"/>
              <a:t>26/09/2024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4881A-493C-4138-B640-C41F5D9E1A0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53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097502" y="5590237"/>
            <a:ext cx="14099416" cy="1409941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45DA0">
                    <a:shade val="30000"/>
                    <a:satMod val="115000"/>
                  </a:srgbClr>
                </a:gs>
                <a:gs pos="50000">
                  <a:srgbClr val="145DA0">
                    <a:shade val="67500"/>
                    <a:satMod val="115000"/>
                  </a:srgbClr>
                </a:gs>
                <a:gs pos="100000">
                  <a:srgbClr val="145DA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20234" y="-1717598"/>
            <a:ext cx="3735531" cy="373553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7857" y="-643475"/>
            <a:ext cx="1286950" cy="1286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45DA0">
                    <a:shade val="30000"/>
                    <a:satMod val="115000"/>
                  </a:srgbClr>
                </a:gs>
                <a:gs pos="50000">
                  <a:srgbClr val="145DA0">
                    <a:shade val="67500"/>
                    <a:satMod val="115000"/>
                  </a:srgbClr>
                </a:gs>
                <a:gs pos="100000">
                  <a:srgbClr val="145DA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929195" y="8389571"/>
            <a:ext cx="3735531" cy="373553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757394" y="7522582"/>
            <a:ext cx="8779632" cy="1733977"/>
          </a:xfrm>
          <a:custGeom>
            <a:avLst/>
            <a:gdLst/>
            <a:ahLst/>
            <a:cxnLst/>
            <a:rect l="l" t="t" r="r" b="b"/>
            <a:pathLst>
              <a:path w="8779632" h="1733977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8" name="TextBox 18"/>
          <p:cNvSpPr txBox="1"/>
          <p:nvPr/>
        </p:nvSpPr>
        <p:spPr>
          <a:xfrm>
            <a:off x="783417" y="6464869"/>
            <a:ext cx="858773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55"/>
              </a:lnSpc>
              <a:spcBef>
                <a:spcPct val="0"/>
              </a:spcBef>
            </a:pPr>
            <a:r>
              <a:rPr lang="id-ID" sz="4000" spc="-55" dirty="0">
                <a:solidFill>
                  <a:srgbClr val="0070C0"/>
                </a:solidFill>
                <a:latin typeface="Bahnschrift Condensed" panose="020B0502040204020203" pitchFamily="34" charset="0"/>
              </a:rPr>
              <a:t>Instalasi Sistem Informasi Manajemen </a:t>
            </a:r>
          </a:p>
          <a:p>
            <a:pPr>
              <a:lnSpc>
                <a:spcPts val="3855"/>
              </a:lnSpc>
              <a:spcBef>
                <a:spcPct val="0"/>
              </a:spcBef>
            </a:pPr>
            <a:r>
              <a:rPr lang="id-ID" sz="4000" spc="-55" dirty="0">
                <a:solidFill>
                  <a:srgbClr val="0070C0"/>
                </a:solidFill>
                <a:latin typeface="Bahnschrift Condensed" panose="020B0502040204020203" pitchFamily="34" charset="0"/>
              </a:rPr>
              <a:t>Rumah Sakit (ISIMRS)</a:t>
            </a:r>
            <a:endParaRPr lang="en-US" sz="4000" spc="-55" dirty="0">
              <a:solidFill>
                <a:srgbClr val="0070C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27" name="图形" descr="C:/Users/Administrator/AppData/Local/Temp/picturecompress_20220709155216/output_1.pngoutput_1">
            <a:extLst>
              <a:ext uri="{FF2B5EF4-FFF2-40B4-BE49-F238E27FC236}">
                <a16:creationId xmlns:a16="http://schemas.microsoft.com/office/drawing/2014/main" id="{1687A17D-1548-160C-C1F0-B023A12B874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1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8624560" y="1416091"/>
            <a:ext cx="9500083" cy="7236491"/>
          </a:xfrm>
          <a:prstGeom prst="rect">
            <a:avLst/>
          </a:prstGeom>
        </p:spPr>
      </p:pic>
      <p:sp>
        <p:nvSpPr>
          <p:cNvPr id="29" name="Round Same Side Corner Rectangle 28"/>
          <p:cNvSpPr/>
          <p:nvPr/>
        </p:nvSpPr>
        <p:spPr>
          <a:xfrm rot="5400000">
            <a:off x="2816595" y="-35298"/>
            <a:ext cx="2819400" cy="9062198"/>
          </a:xfrm>
          <a:prstGeom prst="round2Same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TextBox 6"/>
          <p:cNvSpPr txBox="1"/>
          <p:nvPr/>
        </p:nvSpPr>
        <p:spPr>
          <a:xfrm>
            <a:off x="783417" y="3609314"/>
            <a:ext cx="8360583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 Cond" panose="020B0606030402020204" pitchFamily="34" charset="0"/>
              </a:rPr>
              <a:t>Program </a:t>
            </a:r>
            <a:r>
              <a:rPr lang="en-US" sz="5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 Cond" panose="020B0606030402020204" pitchFamily="34" charset="0"/>
              </a:rPr>
              <a:t>Kerja</a:t>
            </a: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 Cond" panose="020B0606030402020204" pitchFamily="34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 Cond" panose="020B0606030402020204" pitchFamily="34" charset="0"/>
              </a:rPr>
              <a:t>Penyempurnaan</a:t>
            </a:r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 Cond" panose="020B0606030402020204" pitchFamily="34" charset="0"/>
              </a:rPr>
              <a:t> EMR 2024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130" y="706950"/>
            <a:ext cx="6096004" cy="25858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22" y="1064827"/>
            <a:ext cx="1343814" cy="16555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8FF946-D3E0-EF06-93B8-C5FED287CA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95" y="7148011"/>
            <a:ext cx="1851398" cy="5558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340FD3-F4AB-A54C-970E-6228DC110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4300"/>
            <a:ext cx="14755725" cy="10058400"/>
          </a:xfrm>
          <a:prstGeom prst="rect">
            <a:avLst/>
          </a:prstGeom>
        </p:spPr>
      </p:pic>
      <p:sp>
        <p:nvSpPr>
          <p:cNvPr id="9" name="Round Same Side Corner Rectangle 55">
            <a:extLst>
              <a:ext uri="{FF2B5EF4-FFF2-40B4-BE49-F238E27FC236}">
                <a16:creationId xmlns:a16="http://schemas.microsoft.com/office/drawing/2014/main" id="{0D073118-E8EC-0C7D-9D9B-70774D724E39}"/>
              </a:ext>
            </a:extLst>
          </p:cNvPr>
          <p:cNvSpPr/>
          <p:nvPr/>
        </p:nvSpPr>
        <p:spPr>
          <a:xfrm rot="5400000">
            <a:off x="-661712" y="747988"/>
            <a:ext cx="4172374" cy="3247050"/>
          </a:xfrm>
          <a:prstGeom prst="round2Same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9" name="TextBox 5">
            <a:extLst>
              <a:ext uri="{FF2B5EF4-FFF2-40B4-BE49-F238E27FC236}">
                <a16:creationId xmlns:a16="http://schemas.microsoft.com/office/drawing/2014/main" id="{453233A6-A025-FA70-42A6-9F26E808E881}"/>
              </a:ext>
            </a:extLst>
          </p:cNvPr>
          <p:cNvSpPr txBox="1"/>
          <p:nvPr/>
        </p:nvSpPr>
        <p:spPr>
          <a:xfrm>
            <a:off x="142612" y="782198"/>
            <a:ext cx="2563725" cy="3178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4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MODUL</a:t>
            </a:r>
          </a:p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EMR</a:t>
            </a:r>
            <a:endParaRPr lang="en-US" sz="4400" b="1" u="none" strike="noStrik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&amp;</a:t>
            </a:r>
          </a:p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400" b="1" u="none" strike="noStrik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LOKUS</a:t>
            </a:r>
          </a:p>
        </p:txBody>
      </p:sp>
      <p:pic>
        <p:nvPicPr>
          <p:cNvPr id="181" name="Picture 180">
            <a:extLst>
              <a:ext uri="{FF2B5EF4-FFF2-40B4-BE49-F238E27FC236}">
                <a16:creationId xmlns:a16="http://schemas.microsoft.com/office/drawing/2014/main" id="{5248D164-F482-F4EF-2E9F-2EAF25E66D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0" y="323425"/>
            <a:ext cx="1851398" cy="5558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8" name="Title 2">
            <a:extLst>
              <a:ext uri="{FF2B5EF4-FFF2-40B4-BE49-F238E27FC236}">
                <a16:creationId xmlns:a16="http://schemas.microsoft.com/office/drawing/2014/main" id="{79D4ADC4-01B6-AA8C-9B56-49464B100BE3}"/>
              </a:ext>
            </a:extLst>
          </p:cNvPr>
          <p:cNvSpPr txBox="1">
            <a:spLocks/>
          </p:cNvSpPr>
          <p:nvPr/>
        </p:nvSpPr>
        <p:spPr>
          <a:xfrm>
            <a:off x="137160" y="163295"/>
            <a:ext cx="18013680" cy="101498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JADWAL KERJA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F9D634E-9463-A840-B829-E0F26A3EEC64}"/>
              </a:ext>
            </a:extLst>
          </p:cNvPr>
          <p:cNvGrpSpPr/>
          <p:nvPr/>
        </p:nvGrpSpPr>
        <p:grpSpPr>
          <a:xfrm>
            <a:off x="494063" y="419100"/>
            <a:ext cx="3918258" cy="9417746"/>
            <a:chOff x="91440" y="1392047"/>
            <a:chExt cx="3922212" cy="7665151"/>
          </a:xfrm>
        </p:grpSpPr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AB5C5C2D-E39F-BFEC-0DD1-BBBC092720CD}"/>
                </a:ext>
              </a:extLst>
            </p:cNvPr>
            <p:cNvSpPr/>
            <p:nvPr/>
          </p:nvSpPr>
          <p:spPr>
            <a:xfrm>
              <a:off x="91440" y="2819413"/>
              <a:ext cx="3922212" cy="529958"/>
            </a:xfrm>
            <a:prstGeom prst="cube">
              <a:avLst>
                <a:gd name="adj" fmla="val 17308"/>
              </a:avLst>
            </a:prstGeom>
            <a:solidFill>
              <a:srgbClr val="66CC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Franklin Gothic Book" panose="020B05030201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C373498-8408-47B2-29E0-52E1FE989564}"/>
                </a:ext>
              </a:extLst>
            </p:cNvPr>
            <p:cNvSpPr txBox="1"/>
            <p:nvPr/>
          </p:nvSpPr>
          <p:spPr>
            <a:xfrm>
              <a:off x="91440" y="3871829"/>
              <a:ext cx="3922212" cy="5185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DEV 1, Hasil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akhir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:</a:t>
              </a: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STRUKTUR LOGIKA PROGRAM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Persiapan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Server &amp;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konfigurasinya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mencakup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proses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pembuatan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,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ujicoba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, dan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produksi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Analisa &amp; Desain interface (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gui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)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mengikuti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pola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SIMRSGOS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Analisa &amp; Desain proses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penyimpanan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dan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pengolahan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data,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menyempurnakan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dari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data TRANSMEDIK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Membuat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Logika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proses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alur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program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2347CB-BFCB-4FB7-B019-C8067B7F624B}"/>
                </a:ext>
              </a:extLst>
            </p:cNvPr>
            <p:cNvSpPr txBox="1"/>
            <p:nvPr/>
          </p:nvSpPr>
          <p:spPr>
            <a:xfrm>
              <a:off x="291065" y="2917987"/>
              <a:ext cx="3657600" cy="450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SEPTEMBER 2024</a:t>
              </a:r>
              <a:endParaRPr lang="ko-KR" altLang="en-US" sz="30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  <p:sp>
          <p:nvSpPr>
            <p:cNvPr id="64" name="Teardrop 12">
              <a:extLst>
                <a:ext uri="{FF2B5EF4-FFF2-40B4-BE49-F238E27FC236}">
                  <a16:creationId xmlns:a16="http://schemas.microsoft.com/office/drawing/2014/main" id="{DBBF8C73-2F52-C5A0-9FB2-149EEA7D04BA}"/>
                </a:ext>
              </a:extLst>
            </p:cNvPr>
            <p:cNvSpPr/>
            <p:nvPr/>
          </p:nvSpPr>
          <p:spPr>
            <a:xfrm rot="8100000">
              <a:off x="1551097" y="1392047"/>
              <a:ext cx="1239172" cy="1048181"/>
            </a:xfrm>
            <a:custGeom>
              <a:avLst/>
              <a:gdLst/>
              <a:ahLst/>
              <a:cxnLst/>
              <a:rect l="l" t="t" r="r" b="b"/>
              <a:pathLst>
                <a:path w="1239172" h="1239172">
                  <a:moveTo>
                    <a:pt x="226976" y="1012196"/>
                  </a:moveTo>
                  <a:cubicBezTo>
                    <a:pt x="425211" y="1210431"/>
                    <a:pt x="746612" y="1210431"/>
                    <a:pt x="944847" y="1012196"/>
                  </a:cubicBezTo>
                  <a:cubicBezTo>
                    <a:pt x="1143081" y="813962"/>
                    <a:pt x="1143081" y="492561"/>
                    <a:pt x="944847" y="294326"/>
                  </a:cubicBezTo>
                  <a:cubicBezTo>
                    <a:pt x="746612" y="96092"/>
                    <a:pt x="425211" y="96092"/>
                    <a:pt x="226976" y="294326"/>
                  </a:cubicBezTo>
                  <a:cubicBezTo>
                    <a:pt x="28742" y="492561"/>
                    <a:pt x="28742" y="813962"/>
                    <a:pt x="226976" y="1012196"/>
                  </a:cubicBezTo>
                  <a:close/>
                  <a:moveTo>
                    <a:pt x="171609" y="1067563"/>
                  </a:moveTo>
                  <a:cubicBezTo>
                    <a:pt x="65580" y="961534"/>
                    <a:pt x="0" y="815056"/>
                    <a:pt x="0" y="653261"/>
                  </a:cubicBezTo>
                  <a:lnTo>
                    <a:pt x="1" y="653261"/>
                  </a:lnTo>
                  <a:cubicBezTo>
                    <a:pt x="1" y="329671"/>
                    <a:pt x="262322" y="67350"/>
                    <a:pt x="585912" y="67350"/>
                  </a:cubicBezTo>
                  <a:cubicBezTo>
                    <a:pt x="803665" y="67350"/>
                    <a:pt x="1021419" y="44900"/>
                    <a:pt x="1239172" y="0"/>
                  </a:cubicBezTo>
                  <a:cubicBezTo>
                    <a:pt x="1194272" y="217753"/>
                    <a:pt x="1171822" y="435507"/>
                    <a:pt x="1171822" y="653261"/>
                  </a:cubicBezTo>
                  <a:cubicBezTo>
                    <a:pt x="1171822" y="976851"/>
                    <a:pt x="909501" y="1239172"/>
                    <a:pt x="585911" y="1239172"/>
                  </a:cubicBezTo>
                  <a:cubicBezTo>
                    <a:pt x="424116" y="1239172"/>
                    <a:pt x="277638" y="1173592"/>
                    <a:pt x="171609" y="106756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50"/>
            </a:p>
          </p:txBody>
        </p:sp>
        <p:pic>
          <p:nvPicPr>
            <p:cNvPr id="65" name="Picture 4" descr="Online Application Icon #275106 - Free Icons Library">
              <a:extLst>
                <a:ext uri="{FF2B5EF4-FFF2-40B4-BE49-F238E27FC236}">
                  <a16:creationId xmlns:a16="http://schemas.microsoft.com/office/drawing/2014/main" id="{FE5E1415-4097-9B97-4FCC-A9F6C9D7F8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prstClr val="black"/>
                <a:srgbClr val="00B0F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5094" y="1638130"/>
              <a:ext cx="522317" cy="522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680A022-7731-4E51-AE10-001E61B3BD94}"/>
              </a:ext>
            </a:extLst>
          </p:cNvPr>
          <p:cNvGrpSpPr/>
          <p:nvPr/>
        </p:nvGrpSpPr>
        <p:grpSpPr>
          <a:xfrm>
            <a:off x="9108944" y="2704288"/>
            <a:ext cx="4149856" cy="2439212"/>
            <a:chOff x="4033012" y="2816677"/>
            <a:chExt cx="3922213" cy="1934850"/>
          </a:xfrm>
        </p:grpSpPr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227E63EA-140C-6DA3-A0B0-5CB0C9104130}"/>
                </a:ext>
              </a:extLst>
            </p:cNvPr>
            <p:cNvSpPr/>
            <p:nvPr/>
          </p:nvSpPr>
          <p:spPr>
            <a:xfrm>
              <a:off x="4033013" y="2816677"/>
              <a:ext cx="3922212" cy="529958"/>
            </a:xfrm>
            <a:prstGeom prst="cube">
              <a:avLst>
                <a:gd name="adj" fmla="val 17308"/>
              </a:avLst>
            </a:prstGeom>
            <a:solidFill>
              <a:srgbClr val="0099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Franklin Gothic Book" panose="020B05030201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0344008-DB15-05C4-B436-55085A32A454}"/>
                </a:ext>
              </a:extLst>
            </p:cNvPr>
            <p:cNvSpPr txBox="1"/>
            <p:nvPr/>
          </p:nvSpPr>
          <p:spPr>
            <a:xfrm>
              <a:off x="4033012" y="3506430"/>
              <a:ext cx="3922212" cy="1245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TEST 1, Hasil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akhir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:</a:t>
              </a: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PROGRAM SIAP PAKAI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Testing PELAYANAN FARMASI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774D8A4-EBAF-50DD-7281-8509A24408E2}"/>
                </a:ext>
              </a:extLst>
            </p:cNvPr>
            <p:cNvSpPr txBox="1"/>
            <p:nvPr/>
          </p:nvSpPr>
          <p:spPr>
            <a:xfrm>
              <a:off x="4170173" y="2877513"/>
              <a:ext cx="3657600" cy="43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2 – 7 </a:t>
              </a:r>
              <a:r>
                <a:rPr lang="en-US" altLang="ko-KR" sz="3000" b="1" dirty="0" err="1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endParaRPr lang="ko-KR" altLang="en-US" sz="30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</p:grpSp>
      <p:sp>
        <p:nvSpPr>
          <p:cNvPr id="2" name="AutoShape 2" descr="Home - Jasamedika Transmedi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5" name="Group 14"/>
          <p:cNvGrpSpPr/>
          <p:nvPr/>
        </p:nvGrpSpPr>
        <p:grpSpPr>
          <a:xfrm>
            <a:off x="13640835" y="1262447"/>
            <a:ext cx="4149855" cy="8368007"/>
            <a:chOff x="13335000" y="3713396"/>
            <a:chExt cx="4149855" cy="8368007"/>
          </a:xfrm>
        </p:grpSpPr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27E63EA-140C-6DA3-A0B0-5CB0C9104130}"/>
                </a:ext>
              </a:extLst>
            </p:cNvPr>
            <p:cNvSpPr/>
            <p:nvPr/>
          </p:nvSpPr>
          <p:spPr>
            <a:xfrm>
              <a:off x="13335000" y="3713396"/>
              <a:ext cx="4149855" cy="668104"/>
            </a:xfrm>
            <a:prstGeom prst="cube">
              <a:avLst>
                <a:gd name="adj" fmla="val 17308"/>
              </a:avLst>
            </a:prstGeom>
            <a:solidFill>
              <a:srgbClr val="0000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Franklin Gothic Book" panose="020B05030201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0344008-DB15-05C4-B436-55085A32A454}"/>
                </a:ext>
              </a:extLst>
            </p:cNvPr>
            <p:cNvSpPr txBox="1"/>
            <p:nvPr/>
          </p:nvSpPr>
          <p:spPr>
            <a:xfrm>
              <a:off x="13335000" y="4971764"/>
              <a:ext cx="4149855" cy="7109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7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Pelayanan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Farmasi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Pelayanan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Ruang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Operasi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endParaRPr lang="en-US" altLang="ko-KR" sz="2400" b="1" dirty="0">
                <a:solidFill>
                  <a:srgbClr val="0000FF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11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Pelayanan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Dokter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Terima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Konsul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Dokter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endParaRPr lang="en-US" altLang="ko-KR" sz="2400" b="1" dirty="0">
                <a:solidFill>
                  <a:srgbClr val="0000FF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18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CPPT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Dokter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Terima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Order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Penunjang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Input Hasil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Penunjang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Bridging Hasil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Penunjang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Admission</a:t>
              </a:r>
            </a:p>
            <a:p>
              <a:pPr algn="ctr"/>
              <a:endParaRPr lang="en-US" altLang="ko-KR" sz="2400" b="1" dirty="0">
                <a:solidFill>
                  <a:srgbClr val="0000FF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20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Kasir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774D8A4-EBAF-50DD-7281-8509A24408E2}"/>
                </a:ext>
              </a:extLst>
            </p:cNvPr>
            <p:cNvSpPr txBox="1"/>
            <p:nvPr/>
          </p:nvSpPr>
          <p:spPr>
            <a:xfrm>
              <a:off x="13480121" y="3785937"/>
              <a:ext cx="386988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MODUL SIAP PAKAI</a:t>
              </a:r>
              <a:endParaRPr lang="ko-KR" altLang="en-US" sz="30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A736111-0223-FB2D-3255-C8B2645B03A5}"/>
              </a:ext>
            </a:extLst>
          </p:cNvPr>
          <p:cNvSpPr txBox="1"/>
          <p:nvPr/>
        </p:nvSpPr>
        <p:spPr>
          <a:xfrm>
            <a:off x="473705" y="2992056"/>
            <a:ext cx="3918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rPr>
              <a:t>Status : 90%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6A6AB8-8DFE-9A77-15B2-EE9BEC6AE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7857" y="93828"/>
            <a:ext cx="1851398" cy="55584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3F55E75-A0B4-B009-7715-05AAECA0B904}"/>
              </a:ext>
            </a:extLst>
          </p:cNvPr>
          <p:cNvGrpSpPr/>
          <p:nvPr/>
        </p:nvGrpSpPr>
        <p:grpSpPr>
          <a:xfrm>
            <a:off x="4572000" y="2130924"/>
            <a:ext cx="4223849" cy="3894491"/>
            <a:chOff x="3963078" y="2816677"/>
            <a:chExt cx="3992147" cy="3089217"/>
          </a:xfrm>
        </p:grpSpPr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411899E2-A59C-DAC0-6C39-B95513904F09}"/>
                </a:ext>
              </a:extLst>
            </p:cNvPr>
            <p:cNvSpPr/>
            <p:nvPr/>
          </p:nvSpPr>
          <p:spPr>
            <a:xfrm>
              <a:off x="4033013" y="2816677"/>
              <a:ext cx="3922212" cy="529958"/>
            </a:xfrm>
            <a:prstGeom prst="cube">
              <a:avLst>
                <a:gd name="adj" fmla="val 17308"/>
              </a:avLst>
            </a:prstGeom>
            <a:solidFill>
              <a:srgbClr val="0099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Franklin Gothic Book" panose="020B05030201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06CB76-32C3-845B-DDFE-7131580AF76F}"/>
                </a:ext>
              </a:extLst>
            </p:cNvPr>
            <p:cNvSpPr txBox="1"/>
            <p:nvPr/>
          </p:nvSpPr>
          <p:spPr>
            <a:xfrm>
              <a:off x="3963078" y="3488940"/>
              <a:ext cx="3922212" cy="24169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DEV 2, Hasil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akhir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:</a:t>
              </a: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PROGRAM SIAP TESTING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Membuat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Tampilan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(GUI),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sesuai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modul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EMR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Membuat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Proses CRUD (create, read, update, delete)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Membuat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Cetakan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Aplikasi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5D4FA8-BE04-C1F7-B13D-C9F5A7AA77AD}"/>
                </a:ext>
              </a:extLst>
            </p:cNvPr>
            <p:cNvSpPr txBox="1"/>
            <p:nvPr/>
          </p:nvSpPr>
          <p:spPr>
            <a:xfrm>
              <a:off x="4170173" y="2877513"/>
              <a:ext cx="3657600" cy="43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1 – 5 </a:t>
              </a:r>
              <a:r>
                <a:rPr lang="en-US" altLang="ko-KR" sz="3000" b="1" dirty="0" err="1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endParaRPr lang="ko-KR" altLang="en-US" sz="30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8F41FB0-49F6-9F94-C606-BD1E1EDB6624}"/>
              </a:ext>
            </a:extLst>
          </p:cNvPr>
          <p:cNvGrpSpPr/>
          <p:nvPr/>
        </p:nvGrpSpPr>
        <p:grpSpPr>
          <a:xfrm>
            <a:off x="9108944" y="5703345"/>
            <a:ext cx="4149856" cy="2761181"/>
            <a:chOff x="4033012" y="2816677"/>
            <a:chExt cx="3922213" cy="2190244"/>
          </a:xfrm>
        </p:grpSpPr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FA5409AD-32D3-A566-40F4-02058963CA3C}"/>
                </a:ext>
              </a:extLst>
            </p:cNvPr>
            <p:cNvSpPr/>
            <p:nvPr/>
          </p:nvSpPr>
          <p:spPr>
            <a:xfrm>
              <a:off x="4033013" y="2816677"/>
              <a:ext cx="3922212" cy="529958"/>
            </a:xfrm>
            <a:prstGeom prst="cube">
              <a:avLst>
                <a:gd name="adj" fmla="val 17308"/>
              </a:avLst>
            </a:prstGeom>
            <a:solidFill>
              <a:srgbClr val="0099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Franklin Gothic Book" panose="020B05030201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7FB201-D7FB-DD7D-4E64-E49FAD90FF4D}"/>
                </a:ext>
              </a:extLst>
            </p:cNvPr>
            <p:cNvSpPr txBox="1"/>
            <p:nvPr/>
          </p:nvSpPr>
          <p:spPr>
            <a:xfrm>
              <a:off x="4033012" y="3468860"/>
              <a:ext cx="3922212" cy="1538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TEST 2, Hasil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akhir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:</a:t>
              </a: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PROGRAM SIAP PAKAI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Testing PELAYANAN DOKTER (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diluar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CPPT /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Catatan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Medis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1EF5B1-8AD9-5394-7C84-7F768026B2F2}"/>
                </a:ext>
              </a:extLst>
            </p:cNvPr>
            <p:cNvSpPr txBox="1"/>
            <p:nvPr/>
          </p:nvSpPr>
          <p:spPr>
            <a:xfrm>
              <a:off x="4170173" y="2877513"/>
              <a:ext cx="3657600" cy="43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7 – 11 </a:t>
              </a:r>
              <a:r>
                <a:rPr lang="en-US" altLang="ko-KR" sz="3000" b="1" dirty="0" err="1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endParaRPr lang="ko-KR" altLang="en-US" sz="30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8D71F9-6BAA-81DD-3F04-710613B489D9}"/>
              </a:ext>
            </a:extLst>
          </p:cNvPr>
          <p:cNvGrpSpPr/>
          <p:nvPr/>
        </p:nvGrpSpPr>
        <p:grpSpPr>
          <a:xfrm>
            <a:off x="4650288" y="6494613"/>
            <a:ext cx="4149855" cy="2458886"/>
            <a:chOff x="4033013" y="2816677"/>
            <a:chExt cx="3922212" cy="1950456"/>
          </a:xfrm>
        </p:grpSpPr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77D8E1F4-FEF1-BE54-2010-DA08F2884180}"/>
                </a:ext>
              </a:extLst>
            </p:cNvPr>
            <p:cNvSpPr/>
            <p:nvPr/>
          </p:nvSpPr>
          <p:spPr>
            <a:xfrm>
              <a:off x="4033013" y="2816677"/>
              <a:ext cx="3922212" cy="529958"/>
            </a:xfrm>
            <a:prstGeom prst="cube">
              <a:avLst>
                <a:gd name="adj" fmla="val 17308"/>
              </a:avLst>
            </a:prstGeom>
            <a:solidFill>
              <a:srgbClr val="0099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Franklin Gothic Book" panose="020B05030201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1D4872-427A-5E6F-5CAA-6F462CB94D00}"/>
                </a:ext>
              </a:extLst>
            </p:cNvPr>
            <p:cNvSpPr txBox="1"/>
            <p:nvPr/>
          </p:nvSpPr>
          <p:spPr>
            <a:xfrm>
              <a:off x="4033013" y="3522036"/>
              <a:ext cx="3922212" cy="1245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DEV 3, Hasil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akhir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:</a:t>
              </a: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PROGRAM SIAP TESTING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Mengikuti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Modul yang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akan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ditest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EAB42A-F32B-4D1D-D2F0-AE6C182E394D}"/>
                </a:ext>
              </a:extLst>
            </p:cNvPr>
            <p:cNvSpPr txBox="1"/>
            <p:nvPr/>
          </p:nvSpPr>
          <p:spPr>
            <a:xfrm>
              <a:off x="4170173" y="2877513"/>
              <a:ext cx="3657600" cy="43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6 – 20 </a:t>
              </a:r>
              <a:r>
                <a:rPr lang="en-US" altLang="ko-KR" sz="3000" b="1" dirty="0" err="1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endParaRPr lang="ko-KR" altLang="en-US" sz="30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500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8" name="Title 2">
            <a:extLst>
              <a:ext uri="{FF2B5EF4-FFF2-40B4-BE49-F238E27FC236}">
                <a16:creationId xmlns:a16="http://schemas.microsoft.com/office/drawing/2014/main" id="{79D4ADC4-01B6-AA8C-9B56-49464B100BE3}"/>
              </a:ext>
            </a:extLst>
          </p:cNvPr>
          <p:cNvSpPr txBox="1">
            <a:spLocks/>
          </p:cNvSpPr>
          <p:nvPr/>
        </p:nvSpPr>
        <p:spPr>
          <a:xfrm>
            <a:off x="137160" y="163295"/>
            <a:ext cx="18013680" cy="101498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STRATEGI IMPLEMENTASI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F9D634E-9463-A840-B829-E0F26A3EEC64}"/>
              </a:ext>
            </a:extLst>
          </p:cNvPr>
          <p:cNvGrpSpPr/>
          <p:nvPr/>
        </p:nvGrpSpPr>
        <p:grpSpPr>
          <a:xfrm>
            <a:off x="838200" y="2345357"/>
            <a:ext cx="3985509" cy="4464960"/>
            <a:chOff x="91440" y="1392047"/>
            <a:chExt cx="3989531" cy="3634054"/>
          </a:xfrm>
        </p:grpSpPr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AB5C5C2D-E39F-BFEC-0DD1-BBBC092720CD}"/>
                </a:ext>
              </a:extLst>
            </p:cNvPr>
            <p:cNvSpPr/>
            <p:nvPr/>
          </p:nvSpPr>
          <p:spPr>
            <a:xfrm>
              <a:off x="91440" y="2819413"/>
              <a:ext cx="3922212" cy="529958"/>
            </a:xfrm>
            <a:prstGeom prst="cube">
              <a:avLst>
                <a:gd name="adj" fmla="val 17308"/>
              </a:avLst>
            </a:prstGeom>
            <a:solidFill>
              <a:srgbClr val="66CC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Franklin Gothic Book" panose="020B05030201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C373498-8408-47B2-29E0-52E1FE989564}"/>
                </a:ext>
              </a:extLst>
            </p:cNvPr>
            <p:cNvSpPr txBox="1"/>
            <p:nvPr/>
          </p:nvSpPr>
          <p:spPr>
            <a:xfrm>
              <a:off x="158759" y="3447945"/>
              <a:ext cx="3922212" cy="1578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PELAYANAN FARMASI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Double Input, Depo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Griya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Husada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, 7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SEMUA DEPO &amp; GUDANG,                   9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2347CB-BFCB-4FB7-B019-C8067B7F624B}"/>
                </a:ext>
              </a:extLst>
            </p:cNvPr>
            <p:cNvSpPr txBox="1"/>
            <p:nvPr/>
          </p:nvSpPr>
          <p:spPr>
            <a:xfrm>
              <a:off x="291065" y="2917987"/>
              <a:ext cx="3657600" cy="450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7-18 </a:t>
              </a:r>
              <a:r>
                <a:rPr lang="en-US" altLang="ko-KR" sz="3000" b="1" dirty="0" err="1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  <a:endParaRPr lang="ko-KR" altLang="en-US" sz="30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  <p:sp>
          <p:nvSpPr>
            <p:cNvPr id="64" name="Teardrop 12">
              <a:extLst>
                <a:ext uri="{FF2B5EF4-FFF2-40B4-BE49-F238E27FC236}">
                  <a16:creationId xmlns:a16="http://schemas.microsoft.com/office/drawing/2014/main" id="{DBBF8C73-2F52-C5A0-9FB2-149EEA7D04BA}"/>
                </a:ext>
              </a:extLst>
            </p:cNvPr>
            <p:cNvSpPr/>
            <p:nvPr/>
          </p:nvSpPr>
          <p:spPr>
            <a:xfrm rot="8100000">
              <a:off x="1551097" y="1392047"/>
              <a:ext cx="1239172" cy="1048181"/>
            </a:xfrm>
            <a:custGeom>
              <a:avLst/>
              <a:gdLst/>
              <a:ahLst/>
              <a:cxnLst/>
              <a:rect l="l" t="t" r="r" b="b"/>
              <a:pathLst>
                <a:path w="1239172" h="1239172">
                  <a:moveTo>
                    <a:pt x="226976" y="1012196"/>
                  </a:moveTo>
                  <a:cubicBezTo>
                    <a:pt x="425211" y="1210431"/>
                    <a:pt x="746612" y="1210431"/>
                    <a:pt x="944847" y="1012196"/>
                  </a:cubicBezTo>
                  <a:cubicBezTo>
                    <a:pt x="1143081" y="813962"/>
                    <a:pt x="1143081" y="492561"/>
                    <a:pt x="944847" y="294326"/>
                  </a:cubicBezTo>
                  <a:cubicBezTo>
                    <a:pt x="746612" y="96092"/>
                    <a:pt x="425211" y="96092"/>
                    <a:pt x="226976" y="294326"/>
                  </a:cubicBezTo>
                  <a:cubicBezTo>
                    <a:pt x="28742" y="492561"/>
                    <a:pt x="28742" y="813962"/>
                    <a:pt x="226976" y="1012196"/>
                  </a:cubicBezTo>
                  <a:close/>
                  <a:moveTo>
                    <a:pt x="171609" y="1067563"/>
                  </a:moveTo>
                  <a:cubicBezTo>
                    <a:pt x="65580" y="961534"/>
                    <a:pt x="0" y="815056"/>
                    <a:pt x="0" y="653261"/>
                  </a:cubicBezTo>
                  <a:lnTo>
                    <a:pt x="1" y="653261"/>
                  </a:lnTo>
                  <a:cubicBezTo>
                    <a:pt x="1" y="329671"/>
                    <a:pt x="262322" y="67350"/>
                    <a:pt x="585912" y="67350"/>
                  </a:cubicBezTo>
                  <a:cubicBezTo>
                    <a:pt x="803665" y="67350"/>
                    <a:pt x="1021419" y="44900"/>
                    <a:pt x="1239172" y="0"/>
                  </a:cubicBezTo>
                  <a:cubicBezTo>
                    <a:pt x="1194272" y="217753"/>
                    <a:pt x="1171822" y="435507"/>
                    <a:pt x="1171822" y="653261"/>
                  </a:cubicBezTo>
                  <a:cubicBezTo>
                    <a:pt x="1171822" y="976851"/>
                    <a:pt x="909501" y="1239172"/>
                    <a:pt x="585911" y="1239172"/>
                  </a:cubicBezTo>
                  <a:cubicBezTo>
                    <a:pt x="424116" y="1239172"/>
                    <a:pt x="277638" y="1173592"/>
                    <a:pt x="171609" y="106756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50"/>
            </a:p>
          </p:txBody>
        </p:sp>
        <p:pic>
          <p:nvPicPr>
            <p:cNvPr id="65" name="Picture 4" descr="Online Application Icon #275106 - Free Icons Library">
              <a:extLst>
                <a:ext uri="{FF2B5EF4-FFF2-40B4-BE49-F238E27FC236}">
                  <a16:creationId xmlns:a16="http://schemas.microsoft.com/office/drawing/2014/main" id="{FE5E1415-4097-9B97-4FCC-A9F6C9D7F8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prstClr val="black"/>
                <a:srgbClr val="00B0F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5094" y="1638130"/>
              <a:ext cx="522317" cy="522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AutoShape 2" descr="Home - Jasamedika Transmedi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5" name="Group 14"/>
          <p:cNvGrpSpPr/>
          <p:nvPr/>
        </p:nvGrpSpPr>
        <p:grpSpPr>
          <a:xfrm>
            <a:off x="11401817" y="1172915"/>
            <a:ext cx="4202044" cy="8999226"/>
            <a:chOff x="13335000" y="3713396"/>
            <a:chExt cx="4202044" cy="8999226"/>
          </a:xfrm>
        </p:grpSpPr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27E63EA-140C-6DA3-A0B0-5CB0C9104130}"/>
                </a:ext>
              </a:extLst>
            </p:cNvPr>
            <p:cNvSpPr/>
            <p:nvPr/>
          </p:nvSpPr>
          <p:spPr>
            <a:xfrm>
              <a:off x="13335000" y="3713396"/>
              <a:ext cx="4149855" cy="668104"/>
            </a:xfrm>
            <a:prstGeom prst="cube">
              <a:avLst>
                <a:gd name="adj" fmla="val 17308"/>
              </a:avLst>
            </a:prstGeom>
            <a:solidFill>
              <a:srgbClr val="0000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Franklin Gothic Book" panose="020B05030201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0344008-DB15-05C4-B436-55085A32A454}"/>
                </a:ext>
              </a:extLst>
            </p:cNvPr>
            <p:cNvSpPr txBox="1"/>
            <p:nvPr/>
          </p:nvSpPr>
          <p:spPr>
            <a:xfrm>
              <a:off x="13387189" y="4494988"/>
              <a:ext cx="4149855" cy="8217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23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Patologi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24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Laboratorium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25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Radiologi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endParaRPr lang="en-US" altLang="ko-KR" sz="2400" b="1" dirty="0">
                <a:solidFill>
                  <a:srgbClr val="0000FF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28 </a:t>
              </a:r>
              <a:r>
                <a:rPr lang="en-US" altLang="ko-KR" sz="2400" b="1" dirty="0" err="1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Griya</a:t>
              </a: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Husada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endParaRPr lang="en-US" altLang="ko-KR" sz="2400" b="1" dirty="0">
                <a:solidFill>
                  <a:srgbClr val="0000FF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4 November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Rawat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Inap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endParaRPr lang="en-US" altLang="ko-KR" sz="2400" b="1" dirty="0">
                <a:solidFill>
                  <a:srgbClr val="0000FF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11 November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Rawat </a:t>
              </a: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Darurat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18 November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Rawat Jalan</a:t>
              </a:r>
            </a:p>
            <a:p>
              <a:pPr marL="342900" indent="-342900">
                <a:buFontTx/>
                <a:buChar char="-"/>
              </a:pP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25 November 2024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 err="1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Kasir</a:t>
              </a: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  <a:p>
              <a:pPr marL="342900" indent="-342900">
                <a:buFontTx/>
                <a:buChar char="-"/>
              </a:pPr>
              <a:endParaRPr lang="en-US" altLang="ko-KR" sz="2400" b="1" dirty="0">
                <a:solidFill>
                  <a:schemeClr val="tx2">
                    <a:lumMod val="75000"/>
                  </a:schemeClr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774D8A4-EBAF-50DD-7281-8509A24408E2}"/>
                </a:ext>
              </a:extLst>
            </p:cNvPr>
            <p:cNvSpPr txBox="1"/>
            <p:nvPr/>
          </p:nvSpPr>
          <p:spPr>
            <a:xfrm>
              <a:off x="13480121" y="3785937"/>
              <a:ext cx="386988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TAHAPAN</a:t>
              </a:r>
              <a:endParaRPr lang="ko-KR" altLang="en-US" sz="30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E6A6AB8-8DFE-9A77-15B2-EE9BEC6AE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7857" y="93828"/>
            <a:ext cx="1851398" cy="55584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3F55E75-A0B4-B009-7715-05AAECA0B904}"/>
              </a:ext>
            </a:extLst>
          </p:cNvPr>
          <p:cNvGrpSpPr/>
          <p:nvPr/>
        </p:nvGrpSpPr>
        <p:grpSpPr>
          <a:xfrm>
            <a:off x="5821239" y="2813265"/>
            <a:ext cx="4223849" cy="2047832"/>
            <a:chOff x="3963078" y="2816677"/>
            <a:chExt cx="3992147" cy="1624397"/>
          </a:xfrm>
        </p:grpSpPr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411899E2-A59C-DAC0-6C39-B95513904F09}"/>
                </a:ext>
              </a:extLst>
            </p:cNvPr>
            <p:cNvSpPr/>
            <p:nvPr/>
          </p:nvSpPr>
          <p:spPr>
            <a:xfrm>
              <a:off x="4033013" y="2816677"/>
              <a:ext cx="3922212" cy="529958"/>
            </a:xfrm>
            <a:prstGeom prst="cube">
              <a:avLst>
                <a:gd name="adj" fmla="val 17308"/>
              </a:avLst>
            </a:prstGeom>
            <a:solidFill>
              <a:srgbClr val="0099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Franklin Gothic Book" panose="020B05030201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06CB76-32C3-845B-DDFE-7131580AF76F}"/>
                </a:ext>
              </a:extLst>
            </p:cNvPr>
            <p:cNvSpPr txBox="1"/>
            <p:nvPr/>
          </p:nvSpPr>
          <p:spPr>
            <a:xfrm>
              <a:off x="3963078" y="3488940"/>
              <a:ext cx="3922212" cy="952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PELAYANAN RUANG OPERASI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ADMISSION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PELAYANAN DOKTER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5D4FA8-BE04-C1F7-B13D-C9F5A7AA77AD}"/>
                </a:ext>
              </a:extLst>
            </p:cNvPr>
            <p:cNvSpPr txBox="1"/>
            <p:nvPr/>
          </p:nvSpPr>
          <p:spPr>
            <a:xfrm>
              <a:off x="4170173" y="2877513"/>
              <a:ext cx="3657600" cy="43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11 </a:t>
              </a:r>
              <a:r>
                <a:rPr lang="en-US" altLang="ko-KR" sz="3000" b="1" dirty="0" err="1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  <a:endParaRPr lang="ko-KR" altLang="en-US" sz="30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69D56E-104E-9031-33C9-C0C67B51988C}"/>
              </a:ext>
            </a:extLst>
          </p:cNvPr>
          <p:cNvGrpSpPr/>
          <p:nvPr/>
        </p:nvGrpSpPr>
        <p:grpSpPr>
          <a:xfrm>
            <a:off x="5788779" y="6329537"/>
            <a:ext cx="4223849" cy="2047832"/>
            <a:chOff x="3963078" y="2816677"/>
            <a:chExt cx="3992147" cy="1624397"/>
          </a:xfrm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5A332C67-AF11-F94A-E0AA-50E4C2443DB3}"/>
                </a:ext>
              </a:extLst>
            </p:cNvPr>
            <p:cNvSpPr/>
            <p:nvPr/>
          </p:nvSpPr>
          <p:spPr>
            <a:xfrm>
              <a:off x="4033013" y="2816677"/>
              <a:ext cx="3922212" cy="529958"/>
            </a:xfrm>
            <a:prstGeom prst="cube">
              <a:avLst>
                <a:gd name="adj" fmla="val 17308"/>
              </a:avLst>
            </a:prstGeom>
            <a:solidFill>
              <a:srgbClr val="0099FF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latin typeface="Franklin Gothic Book" panose="020B05030201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14A499-F18A-3645-2A8C-B527253182A5}"/>
                </a:ext>
              </a:extLst>
            </p:cNvPr>
            <p:cNvSpPr txBox="1"/>
            <p:nvPr/>
          </p:nvSpPr>
          <p:spPr>
            <a:xfrm>
              <a:off x="3963078" y="3488940"/>
              <a:ext cx="3922212" cy="952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rgbClr val="0000FF"/>
                  </a:solidFill>
                  <a:latin typeface="Franklin Gothic Book" panose="020B0503020102020204" pitchFamily="34" charset="0"/>
                  <a:cs typeface="Arial" pitchFamily="34" charset="0"/>
                </a:rPr>
                <a:t>FOC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ADMISSION</a:t>
              </a:r>
            </a:p>
            <a:p>
              <a:pPr marL="342900" indent="-342900">
                <a:buFontTx/>
                <a:buChar char="-"/>
              </a:pPr>
              <a:r>
                <a:rPr lang="en-US" altLang="ko-KR" sz="2400" b="1" dirty="0">
                  <a:solidFill>
                    <a:schemeClr val="tx2">
                      <a:lumMod val="75000"/>
                    </a:schemeClr>
                  </a:solidFill>
                  <a:latin typeface="Franklin Gothic Book" panose="020B0503020102020204" pitchFamily="34" charset="0"/>
                  <a:cs typeface="Arial" pitchFamily="34" charset="0"/>
                </a:rPr>
                <a:t>PELAYANAN DOKTER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81F4054-E440-E9BD-AC02-C53ABED7EAA4}"/>
                </a:ext>
              </a:extLst>
            </p:cNvPr>
            <p:cNvSpPr txBox="1"/>
            <p:nvPr/>
          </p:nvSpPr>
          <p:spPr>
            <a:xfrm>
              <a:off x="4170173" y="2877513"/>
              <a:ext cx="3657600" cy="43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21 </a:t>
              </a:r>
              <a:r>
                <a:rPr lang="en-US" altLang="ko-KR" sz="3000" b="1" dirty="0" err="1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Oktober</a:t>
              </a:r>
              <a:r>
                <a:rPr lang="en-US" altLang="ko-KR" sz="3000" b="1" dirty="0">
                  <a:solidFill>
                    <a:schemeClr val="bg1"/>
                  </a:solidFill>
                  <a:latin typeface="Franklin Gothic Book" panose="020B0503020102020204" pitchFamily="34" charset="0"/>
                  <a:cs typeface="Arial" pitchFamily="34" charset="0"/>
                </a:rPr>
                <a:t> 2024</a:t>
              </a:r>
              <a:endParaRPr lang="ko-KR" altLang="en-US" sz="30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0995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12398912" y="0"/>
            <a:ext cx="5889088" cy="756959"/>
            <a:chOff x="0" y="0"/>
            <a:chExt cx="1551036" cy="199364"/>
          </a:xfrm>
          <a:solidFill>
            <a:srgbClr val="336699"/>
          </a:solidFill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98912" y="9530041"/>
            <a:ext cx="5889088" cy="756959"/>
            <a:chOff x="0" y="0"/>
            <a:chExt cx="1551036" cy="1993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33669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-4925441" y="3609788"/>
            <a:ext cx="9392643" cy="9529477"/>
          </a:xfrm>
          <a:custGeom>
            <a:avLst/>
            <a:gdLst/>
            <a:ahLst/>
            <a:cxnLst/>
            <a:rect l="l" t="t" r="r" b="b"/>
            <a:pathLst>
              <a:path w="9392643" h="9529477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pic>
        <p:nvPicPr>
          <p:cNvPr id="3076" name="Picture 4" descr="Thank You Gif - GIFcen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057" y="5033069"/>
            <a:ext cx="5313910" cy="3985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"/>
          <p:cNvSpPr txBox="1"/>
          <p:nvPr/>
        </p:nvSpPr>
        <p:spPr>
          <a:xfrm>
            <a:off x="2819400" y="3358713"/>
            <a:ext cx="8819592" cy="1712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4510"/>
              </a:lnSpc>
              <a:spcBef>
                <a:spcPct val="0"/>
              </a:spcBef>
            </a:pPr>
            <a:r>
              <a:rPr lang="id-ID" sz="9600" dirty="0">
                <a:solidFill>
                  <a:srgbClr val="3973AD"/>
                </a:solidFill>
                <a:latin typeface="Open Sans Extra Bold"/>
              </a:rPr>
              <a:t>TERIMA KASIH</a:t>
            </a:r>
            <a:endParaRPr lang="en-US" sz="9600" dirty="0">
              <a:solidFill>
                <a:srgbClr val="3973AD"/>
              </a:solidFill>
              <a:latin typeface="Open Sans Extra Bold"/>
            </a:endParaRPr>
          </a:p>
        </p:txBody>
      </p:sp>
      <p:pic>
        <p:nvPicPr>
          <p:cNvPr id="2050" name="Picture 2" descr="Benefits of Teamwork and understanding each other - Pro Development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2206" y="2425154"/>
            <a:ext cx="4762500" cy="529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291</Words>
  <Application>Microsoft Office PowerPoint</Application>
  <PresentationFormat>Custom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Franklin Gothic Medium Cond</vt:lpstr>
      <vt:lpstr>Bahnschrift Condensed</vt:lpstr>
      <vt:lpstr>Franklin Gothic Book</vt:lpstr>
      <vt:lpstr>Open Sans Extra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Professional Modern Technology Pitch Deck Presentation</dc:title>
  <dc:creator>Dell OptiPlex</dc:creator>
  <cp:lastModifiedBy>Dell OptiPlex</cp:lastModifiedBy>
  <cp:revision>90</cp:revision>
  <dcterms:created xsi:type="dcterms:W3CDTF">2006-08-16T00:00:00Z</dcterms:created>
  <dcterms:modified xsi:type="dcterms:W3CDTF">2024-09-26T03:03:56Z</dcterms:modified>
  <dc:identifier>DAF27wZCZa4</dc:identifier>
</cp:coreProperties>
</file>