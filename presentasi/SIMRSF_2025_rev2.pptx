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40" r:id="rId1"/>
  </p:sldMasterIdLst>
  <p:notesMasterIdLst>
    <p:notesMasterId r:id="rId11"/>
  </p:notesMasterIdLst>
  <p:sldIdLst>
    <p:sldId id="256" r:id="rId2"/>
    <p:sldId id="283" r:id="rId3"/>
    <p:sldId id="284" r:id="rId4"/>
    <p:sldId id="288" r:id="rId5"/>
    <p:sldId id="287" r:id="rId6"/>
    <p:sldId id="285" r:id="rId7"/>
    <p:sldId id="286" r:id="rId8"/>
    <p:sldId id="289" r:id="rId9"/>
    <p:sldId id="265" r:id="rId10"/>
  </p:sldIdLst>
  <p:sldSz cx="18288000" cy="10287000"/>
  <p:notesSz cx="6858000" cy="9144000"/>
  <p:embeddedFontLst>
    <p:embeddedFont>
      <p:font typeface="Bahnschrift Condensed" panose="020B0502040204020203" pitchFamily="34" charset="0"/>
      <p:regular r:id="rId12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orbel" panose="020B0503020204020204" pitchFamily="34" charset="0"/>
      <p:regular r:id="rId18"/>
      <p:bold r:id="rId19"/>
      <p:italic r:id="rId20"/>
      <p:boldItalic r:id="rId21"/>
    </p:embeddedFont>
    <p:embeddedFont>
      <p:font typeface="Franklin Gothic Medium Cond" panose="020B0606030402020204" pitchFamily="34" charset="0"/>
      <p:regular r:id="rId22"/>
    </p:embeddedFont>
    <p:embeddedFont>
      <p:font typeface="Open Sans Extra Bold" panose="020B0604020202020204" charset="0"/>
      <p:regular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FF"/>
    <a:srgbClr val="0066FF"/>
    <a:srgbClr val="33CCFF"/>
    <a:srgbClr val="66CCFF"/>
    <a:srgbClr val="1A1EC8"/>
    <a:srgbClr val="425BD6"/>
    <a:srgbClr val="336699"/>
    <a:srgbClr val="3366CC"/>
    <a:srgbClr val="3973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1634" autoAdjust="0"/>
  </p:normalViewPr>
  <p:slideViewPr>
    <p:cSldViewPr>
      <p:cViewPr varScale="1">
        <p:scale>
          <a:sx n="70" d="100"/>
          <a:sy n="70" d="100"/>
        </p:scale>
        <p:origin x="142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147D8-E1D0-421A-8B9F-36DFFEF059E6}" type="datetimeFigureOut">
              <a:rPr lang="en-ID" smtClean="0"/>
              <a:t>06/10/2025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4881A-493C-4138-B640-C41F5D9E1A0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533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4881A-493C-4138-B640-C41F5D9E1A05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0632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4881A-493C-4138-B640-C41F5D9E1A05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45153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4881A-493C-4138-B640-C41F5D9E1A05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3292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4881A-493C-4138-B640-C41F5D9E1A05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985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4881A-493C-4138-B640-C41F5D9E1A05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2901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4881A-493C-4138-B640-C41F5D9E1A05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0641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4881A-493C-4138-B640-C41F5D9E1A05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3809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819150" y="-7144"/>
            <a:ext cx="7522368" cy="10294145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2602" y="2070103"/>
            <a:ext cx="12861933" cy="3924299"/>
          </a:xfrm>
        </p:spPr>
        <p:txBody>
          <a:bodyPr anchor="b">
            <a:normAutofit/>
          </a:bodyPr>
          <a:lstStyle>
            <a:lvl1pPr algn="r">
              <a:defRPr sz="9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73066" y="5994401"/>
            <a:ext cx="10481468" cy="2082801"/>
          </a:xfrm>
        </p:spPr>
        <p:txBody>
          <a:bodyPr anchor="t">
            <a:normAutofit/>
          </a:bodyPr>
          <a:lstStyle>
            <a:lvl1pPr marL="0" indent="0" algn="r">
              <a:buNone/>
              <a:defRPr sz="3150">
                <a:solidFill>
                  <a:schemeClr val="tx1"/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98618" y="8824913"/>
            <a:ext cx="648606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7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427785" y="8800697"/>
            <a:ext cx="8267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8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8419" y="4000498"/>
            <a:ext cx="13396121" cy="3165573"/>
          </a:xfrm>
        </p:spPr>
        <p:txBody>
          <a:bodyPr anchor="b"/>
          <a:lstStyle>
            <a:lvl1pPr algn="r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8417" y="7166072"/>
            <a:ext cx="13396122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8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7" y="1028701"/>
            <a:ext cx="15028070" cy="26288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6469" y="4000499"/>
            <a:ext cx="7342583" cy="4686302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1951" y="4000500"/>
            <a:ext cx="7342584" cy="4686300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1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8269" y="3987800"/>
            <a:ext cx="6910782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6467" y="5003006"/>
            <a:ext cx="7342584" cy="3683793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320731" y="4000500"/>
            <a:ext cx="6933806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911951" y="5003006"/>
            <a:ext cx="7342584" cy="3683793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02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14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78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9" y="2400300"/>
            <a:ext cx="5323682" cy="2057400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3050" y="1028699"/>
            <a:ext cx="9361485" cy="7658102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6469" y="4457700"/>
            <a:ext cx="5323682" cy="2743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02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4086" y="2628899"/>
            <a:ext cx="8139237" cy="2057400"/>
          </a:xfrm>
        </p:spPr>
        <p:txBody>
          <a:bodyPr anchor="b">
            <a:normAutofit/>
          </a:bodyPr>
          <a:lstStyle>
            <a:lvl1pPr algn="ctr">
              <a:defRPr sz="4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392023" y="1371600"/>
            <a:ext cx="4921461" cy="6858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4086" y="4686299"/>
            <a:ext cx="8139237" cy="2743200"/>
          </a:xfrm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08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7" y="7099298"/>
            <a:ext cx="15028067" cy="850107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9018" y="1398168"/>
            <a:ext cx="12338916" cy="474746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6467" y="7949405"/>
            <a:ext cx="15028067" cy="740568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47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9" y="1028700"/>
            <a:ext cx="15028067" cy="4572000"/>
          </a:xfrm>
        </p:spPr>
        <p:txBody>
          <a:bodyPr anchor="ctr">
            <a:normAutofit/>
          </a:bodyPr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9" y="6515100"/>
            <a:ext cx="15028070" cy="21717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42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318" y="1028701"/>
            <a:ext cx="13485018" cy="4114799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655217" y="5143499"/>
            <a:ext cx="12799223" cy="5715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700"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7" y="6515100"/>
            <a:ext cx="15028067" cy="21717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171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70" y="4962872"/>
            <a:ext cx="15028064" cy="2203200"/>
          </a:xfrm>
        </p:spPr>
        <p:txBody>
          <a:bodyPr anchor="b">
            <a:normAutofit/>
          </a:bodyPr>
          <a:lstStyle>
            <a:lvl1pPr algn="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8" y="7166072"/>
            <a:ext cx="15028065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99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318" y="1028701"/>
            <a:ext cx="13485018" cy="4114799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226470" y="5829300"/>
            <a:ext cx="15028065" cy="13335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36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8" y="7162800"/>
            <a:ext cx="15028065" cy="1524000"/>
          </a:xfrm>
        </p:spPr>
        <p:txBody>
          <a:bodyPr anchor="t">
            <a:normAutofit/>
          </a:bodyPr>
          <a:lstStyle>
            <a:lvl1pPr marL="0" indent="0" algn="r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867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70" y="1028701"/>
            <a:ext cx="15028068" cy="409098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226469" y="5257800"/>
            <a:ext cx="15028070" cy="12573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2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7" y="6515100"/>
            <a:ext cx="15028070" cy="21717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064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93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598983" y="1028700"/>
            <a:ext cx="2655554" cy="7658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6468" y="1028700"/>
            <a:ext cx="12029613" cy="76581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31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26219" y="1"/>
            <a:ext cx="3655220" cy="10287002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5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</p:sldLayoutIdLst>
  <p:txStyles>
    <p:titleStyle>
      <a:lvl1pPr algn="ctr" defTabSz="685800" rtl="0" eaLnBrk="1" latinLnBrk="0" hangingPunct="1">
        <a:spcBef>
          <a:spcPct val="0"/>
        </a:spcBef>
        <a:buNone/>
        <a:defRPr sz="6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7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097502" y="5590237"/>
            <a:ext cx="14099416" cy="1409941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45DA0">
                    <a:shade val="30000"/>
                    <a:satMod val="115000"/>
                  </a:srgbClr>
                </a:gs>
                <a:gs pos="50000">
                  <a:srgbClr val="145DA0">
                    <a:shade val="67500"/>
                    <a:satMod val="115000"/>
                  </a:srgbClr>
                </a:gs>
                <a:gs pos="100000">
                  <a:srgbClr val="145DA0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</p:spPr>
          <p:txBody>
            <a:bodyPr/>
            <a:lstStyle/>
            <a:p>
              <a:endParaRPr lang="en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20234" y="-1717598"/>
            <a:ext cx="3735531" cy="373553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7857" y="-643475"/>
            <a:ext cx="1286950" cy="1286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45DA0">
                    <a:shade val="30000"/>
                    <a:satMod val="115000"/>
                  </a:srgbClr>
                </a:gs>
                <a:gs pos="50000">
                  <a:srgbClr val="145DA0">
                    <a:shade val="67500"/>
                    <a:satMod val="115000"/>
                  </a:srgbClr>
                </a:gs>
                <a:gs pos="100000">
                  <a:srgbClr val="145DA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929195" y="8389571"/>
            <a:ext cx="3735531" cy="373553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8757394" y="7522582"/>
            <a:ext cx="8779632" cy="1733977"/>
          </a:xfrm>
          <a:custGeom>
            <a:avLst/>
            <a:gdLst/>
            <a:ahLst/>
            <a:cxnLst/>
            <a:rect l="l" t="t" r="r" b="b"/>
            <a:pathLst>
              <a:path w="8779632" h="1733977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8" name="TextBox 18"/>
          <p:cNvSpPr txBox="1"/>
          <p:nvPr/>
        </p:nvSpPr>
        <p:spPr>
          <a:xfrm>
            <a:off x="783417" y="6464869"/>
            <a:ext cx="858773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55"/>
              </a:lnSpc>
              <a:spcBef>
                <a:spcPct val="0"/>
              </a:spcBef>
            </a:pPr>
            <a:r>
              <a:rPr lang="id-ID" sz="4000" spc="-55" dirty="0">
                <a:solidFill>
                  <a:srgbClr val="0070C0"/>
                </a:solidFill>
                <a:latin typeface="Bahnschrift Condensed" panose="020B0502040204020203" pitchFamily="34" charset="0"/>
              </a:rPr>
              <a:t>Instalasi Sistem Informasi Manajemen </a:t>
            </a:r>
          </a:p>
          <a:p>
            <a:pPr>
              <a:lnSpc>
                <a:spcPts val="3855"/>
              </a:lnSpc>
              <a:spcBef>
                <a:spcPct val="0"/>
              </a:spcBef>
            </a:pPr>
            <a:r>
              <a:rPr lang="id-ID" sz="4000" spc="-55" dirty="0">
                <a:solidFill>
                  <a:srgbClr val="0070C0"/>
                </a:solidFill>
                <a:latin typeface="Bahnschrift Condensed" panose="020B0502040204020203" pitchFamily="34" charset="0"/>
              </a:rPr>
              <a:t>Rumah Sakit (ISIMRS)</a:t>
            </a:r>
            <a:endParaRPr lang="en-US" sz="4000" spc="-55" dirty="0">
              <a:solidFill>
                <a:srgbClr val="0070C0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27" name="图形" descr="C:/Users/Administrator/AppData/Local/Temp/picturecompress_20220709155216/output_1.pngoutput_1">
            <a:extLst>
              <a:ext uri="{FF2B5EF4-FFF2-40B4-BE49-F238E27FC236}">
                <a16:creationId xmlns:a16="http://schemas.microsoft.com/office/drawing/2014/main" id="{1687A17D-1548-160C-C1F0-B023A12B874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1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8624560" y="1416091"/>
            <a:ext cx="9500083" cy="7236491"/>
          </a:xfrm>
          <a:prstGeom prst="rect">
            <a:avLst/>
          </a:prstGeom>
        </p:spPr>
      </p:pic>
      <p:sp>
        <p:nvSpPr>
          <p:cNvPr id="29" name="Round Same Side Corner Rectangle 28"/>
          <p:cNvSpPr/>
          <p:nvPr/>
        </p:nvSpPr>
        <p:spPr>
          <a:xfrm rot="5400000">
            <a:off x="2894695" y="346499"/>
            <a:ext cx="2819400" cy="9062198"/>
          </a:xfrm>
          <a:prstGeom prst="round2Same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" name="TextBox 6"/>
          <p:cNvSpPr txBox="1"/>
          <p:nvPr/>
        </p:nvSpPr>
        <p:spPr>
          <a:xfrm>
            <a:off x="783417" y="3609314"/>
            <a:ext cx="8360583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 Cond" panose="020B0606030402020204" pitchFamily="34" charset="0"/>
              </a:rPr>
              <a:t>SIMRS 2025</a:t>
            </a:r>
          </a:p>
          <a:p>
            <a:pPr>
              <a:spcBef>
                <a:spcPct val="0"/>
              </a:spcBef>
            </a:pPr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 Cond" panose="020B0606030402020204" pitchFamily="34" charset="0"/>
              </a:rPr>
              <a:t>KINERJA TAHUNAN</a:t>
            </a:r>
          </a:p>
          <a:p>
            <a:pPr>
              <a:spcBef>
                <a:spcPct val="0"/>
              </a:spcBef>
            </a:pPr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 Cond" panose="020B0606030402020204" pitchFamily="34" charset="0"/>
              </a:rPr>
              <a:t>(</a:t>
            </a:r>
            <a:r>
              <a:rPr lang="en-US" sz="5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 Cond" panose="020B0606030402020204" pitchFamily="34" charset="0"/>
              </a:rPr>
              <a:t>Oktober</a:t>
            </a:r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 Cond" panose="020B0606030402020204" pitchFamily="34" charset="0"/>
              </a:rPr>
              <a:t> 2024)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130" y="706950"/>
            <a:ext cx="6096004" cy="25858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22" y="1064827"/>
            <a:ext cx="1343814" cy="16555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8FF946-D3E0-EF06-93B8-C5FED287CA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395" y="7148011"/>
            <a:ext cx="1851398" cy="5558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8"/>
          <p:cNvSpPr txBox="1"/>
          <p:nvPr/>
        </p:nvSpPr>
        <p:spPr>
          <a:xfrm>
            <a:off x="609600" y="629682"/>
            <a:ext cx="9372600" cy="728737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9560E67-05C7-3715-7024-BD66A443BB7E}"/>
              </a:ext>
            </a:extLst>
          </p:cNvPr>
          <p:cNvSpPr txBox="1">
            <a:spLocks/>
          </p:cNvSpPr>
          <p:nvPr/>
        </p:nvSpPr>
        <p:spPr>
          <a:xfrm>
            <a:off x="711109" y="1943100"/>
            <a:ext cx="7848600" cy="7134537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713" indent="0">
              <a:buNone/>
            </a:pPr>
            <a:endParaRPr lang="en-US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2713" indent="0">
              <a:buNone/>
            </a:pP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KEKUATAN PENGEMBANGAN SISTEM</a:t>
            </a:r>
            <a:endParaRPr lang="id-ID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PENGUATAN METODOLOGI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pengembangan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Hasil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pemikiran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dari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beberapa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pengalaman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aplikasi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sebelum-sebelumnya</a:t>
            </a:r>
            <a:endParaRPr lang="en-ID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TERSTRUKTUR, agar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mudah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pemeliharaan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penyelesaian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masalah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KEMUDAHAN,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pembagian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yang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jelas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antara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logika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tampilan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user (user experience) , data yang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disimpan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database, dan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aturan-aturan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bisnis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Menjadikan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proses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penyelesaian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masalah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pengembangan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aplikasi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menjadi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sederhana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tetapi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powerfull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lvl="1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DOKUMENTASI,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mempunyai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pola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dokumentasi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yang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dapat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dijadikan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bahan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untuk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Analisa proses,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mencari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penyelesaian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masalah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TUJUAN UTAMA,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membangun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yang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stabil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melangkah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depan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menghindari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permasalahan</a:t>
            </a: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berulang</a:t>
            </a:r>
            <a:endParaRPr lang="en-ID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l">
              <a:buNone/>
            </a:pPr>
            <a:endParaRPr lang="en-ID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9560E67-05C7-3715-7024-BD66A443BB7E}"/>
              </a:ext>
            </a:extLst>
          </p:cNvPr>
          <p:cNvSpPr txBox="1">
            <a:spLocks/>
          </p:cNvSpPr>
          <p:nvPr/>
        </p:nvSpPr>
        <p:spPr>
          <a:xfrm>
            <a:off x="9016909" y="2247900"/>
            <a:ext cx="9271091" cy="7010400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713" indent="0">
              <a:buNone/>
            </a:pP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GARIS BESAR CAPAIAN 2025</a:t>
            </a:r>
            <a:endParaRPr lang="id-ID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FRONT OFFICE : EMR (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tahun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2025)</a:t>
            </a:r>
          </a:p>
          <a:p>
            <a:pPr lvl="1"/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Pendaftaran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lvl="1"/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Layanan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Pasien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Secara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Elektronik</a:t>
            </a:r>
            <a:endParaRPr lang="en-ID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Billing dan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Pembayaran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(on progress)</a:t>
            </a:r>
          </a:p>
          <a:p>
            <a:pPr lvl="1"/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Pengembangan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Work Flow &amp;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Validasi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(on progress)</a:t>
            </a:r>
          </a:p>
          <a:p>
            <a:pPr lvl="2"/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Contoh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: Close Billing, Close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Operasi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Close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Klaim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MONITORING &amp; DASHBOARD (on progress)</a:t>
            </a:r>
          </a:p>
          <a:p>
            <a:pPr lvl="1"/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Contoh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: monitoring IGD, dashboard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Jabatan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Fungsional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dashboard LAYANAN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rajal</a:t>
            </a:r>
            <a:endParaRPr lang="en-ID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pengembangan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DASHBOARD INDIKATOR MUTU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 OFFICE</a:t>
            </a:r>
          </a:p>
          <a:p>
            <a:pPr lvl="1"/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Beriringan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dengan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EMR</a:t>
            </a:r>
          </a:p>
          <a:p>
            <a:pPr lvl="2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KEUANGAN,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modul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klaim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sudah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berjalan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pengembangan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baru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IDRG)</a:t>
            </a:r>
          </a:p>
          <a:p>
            <a:pPr lvl="1"/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Target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Tahun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2025 (on progress)</a:t>
            </a:r>
          </a:p>
          <a:p>
            <a:pPr lvl="2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LOGISTIK (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perencanaan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s.d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penerimaan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yang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terkoneksi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dengan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barang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masuk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SAKTI</a:t>
            </a:r>
          </a:p>
          <a:p>
            <a:pPr lvl="2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GUDANG / DEPO, yang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terkoneksi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dengan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barang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keluar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SAKTI</a:t>
            </a:r>
          </a:p>
          <a:p>
            <a:pPr lvl="2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SDM (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pencatatan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historis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pegawai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secara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system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informasi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</p:txBody>
      </p:sp>
      <p:sp>
        <p:nvSpPr>
          <p:cNvPr id="26" name="Round Same Side Corner Rectangle 25"/>
          <p:cNvSpPr/>
          <p:nvPr/>
        </p:nvSpPr>
        <p:spPr>
          <a:xfrm rot="5400000">
            <a:off x="4022923" y="-4282729"/>
            <a:ext cx="1132802" cy="10023751"/>
          </a:xfrm>
          <a:prstGeom prst="round2Same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0" y="266700"/>
            <a:ext cx="9144000" cy="914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SIMRSF</a:t>
            </a:r>
          </a:p>
          <a:p>
            <a:pPr algn="ctr"/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Menuju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SMART HOSPITAL</a:t>
            </a:r>
            <a:endParaRPr 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866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8"/>
          <p:cNvSpPr txBox="1"/>
          <p:nvPr/>
        </p:nvSpPr>
        <p:spPr>
          <a:xfrm>
            <a:off x="609600" y="629682"/>
            <a:ext cx="9372600" cy="728737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9560E67-05C7-3715-7024-BD66A443BB7E}"/>
              </a:ext>
            </a:extLst>
          </p:cNvPr>
          <p:cNvSpPr txBox="1">
            <a:spLocks/>
          </p:cNvSpPr>
          <p:nvPr/>
        </p:nvSpPr>
        <p:spPr>
          <a:xfrm>
            <a:off x="3429000" y="1544281"/>
            <a:ext cx="8364091" cy="8579972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713" indent="0">
              <a:buNone/>
            </a:pPr>
            <a:endParaRPr lang="en-US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FRONT OFFICE</a:t>
            </a:r>
          </a:p>
          <a:p>
            <a:pPr lvl="1"/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Reservasi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Pendaftaran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EMR</a:t>
            </a:r>
          </a:p>
          <a:p>
            <a:pPr lvl="1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Billing</a:t>
            </a:r>
          </a:p>
          <a:p>
            <a:r>
              <a:rPr lang="en-ID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MONITORING, DASHBOARD dan LAPORAN</a:t>
            </a:r>
            <a:endParaRPr lang="en-ID" sz="2400" b="1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Monitoring IGD</a:t>
            </a:r>
          </a:p>
          <a:p>
            <a:pPr lvl="1"/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Laporan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Indikator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Dashboard </a:t>
            </a:r>
            <a:r>
              <a:rPr lang="en-ID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Indikator</a:t>
            </a:r>
            <a:endParaRPr lang="en-ID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dll</a:t>
            </a:r>
            <a:endParaRPr lang="en-ID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 OFFICE</a:t>
            </a:r>
          </a:p>
          <a:p>
            <a:pPr lvl="1"/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Anggaran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Logistik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endParaRPr lang="en-ID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Asset</a:t>
            </a:r>
            <a:endParaRPr lang="en-ID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Arus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Kas (in / out)</a:t>
            </a:r>
            <a:endParaRPr lang="en-ID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SDM</a:t>
            </a:r>
          </a:p>
          <a:p>
            <a:pPr lvl="1"/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Pembukuan</a:t>
            </a: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endParaRPr lang="en-ID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Round Same Side Corner Rectangle 25"/>
          <p:cNvSpPr/>
          <p:nvPr/>
        </p:nvSpPr>
        <p:spPr>
          <a:xfrm rot="5400000">
            <a:off x="4039396" y="-4299201"/>
            <a:ext cx="1104956" cy="10028850"/>
          </a:xfrm>
          <a:prstGeom prst="round2Same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0" y="353099"/>
            <a:ext cx="9049891" cy="7242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</a:t>
            </a:r>
            <a:endParaRPr 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493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8"/>
          <p:cNvSpPr txBox="1"/>
          <p:nvPr/>
        </p:nvSpPr>
        <p:spPr>
          <a:xfrm>
            <a:off x="609600" y="629682"/>
            <a:ext cx="9372600" cy="728737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9560E67-05C7-3715-7024-BD66A443BB7E}"/>
              </a:ext>
            </a:extLst>
          </p:cNvPr>
          <p:cNvSpPr txBox="1">
            <a:spLocks/>
          </p:cNvSpPr>
          <p:nvPr/>
        </p:nvSpPr>
        <p:spPr>
          <a:xfrm>
            <a:off x="685800" y="1544280"/>
            <a:ext cx="8364091" cy="8521591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ID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FITUR KHUSUS</a:t>
            </a:r>
          </a:p>
          <a:p>
            <a:pPr lvl="1"/>
            <a:r>
              <a:rPr lang="en-ID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FIND RSF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RESERVASI</a:t>
            </a:r>
          </a:p>
          <a:p>
            <a:pPr lvl="1"/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Pasien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Rawat Jalan</a:t>
            </a:r>
          </a:p>
          <a:p>
            <a:pPr lvl="1"/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Pasien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Griya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Husada</a:t>
            </a:r>
            <a:endParaRPr lang="en-ID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20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Pendonor</a:t>
            </a:r>
            <a:r>
              <a:rPr lang="en-ID" sz="2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UTD (</a:t>
            </a:r>
            <a:r>
              <a:rPr lang="en-ID" sz="20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aplikasi</a:t>
            </a:r>
            <a:r>
              <a:rPr lang="en-ID" sz="2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lama)</a:t>
            </a:r>
          </a:p>
          <a:p>
            <a:pPr lvl="1"/>
            <a:r>
              <a:rPr lang="en-ID" sz="20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Peserta</a:t>
            </a:r>
            <a:r>
              <a:rPr lang="en-ID" sz="2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MCU (google form)</a:t>
            </a:r>
          </a:p>
          <a:p>
            <a:r>
              <a:rPr lang="en-ID" sz="2000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PENDAFTARAN / ADMISI</a:t>
            </a:r>
          </a:p>
          <a:p>
            <a:pPr lvl="1"/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Jalur APM (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Anjungan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Pendaftaran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Mandiri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pPr lvl="1"/>
            <a:r>
              <a:rPr lang="en-ID" sz="20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Jalur </a:t>
            </a:r>
            <a:r>
              <a:rPr lang="en-ID" sz="20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Petugas</a:t>
            </a:r>
            <a:r>
              <a:rPr lang="en-ID" sz="20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Pendaftaran</a:t>
            </a:r>
            <a:r>
              <a:rPr lang="en-ID" sz="20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Langsung</a:t>
            </a:r>
            <a:endParaRPr lang="en-ID" sz="2000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2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IGD</a:t>
            </a:r>
          </a:p>
          <a:p>
            <a:pPr lvl="2"/>
            <a:r>
              <a:rPr lang="en-ID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RAWAT INAP</a:t>
            </a:r>
          </a:p>
          <a:p>
            <a:pPr lvl="3"/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Pencatatan</a:t>
            </a:r>
            <a:r>
              <a:rPr lang="en-ID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Pendaftaran</a:t>
            </a:r>
            <a:endParaRPr lang="en-ID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3"/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Pengembangan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Berdasarkan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: </a:t>
            </a:r>
          </a:p>
          <a:p>
            <a:pPr lvl="4"/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daftar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jadwal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operasi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</a:p>
          <a:p>
            <a:pPr lvl="4"/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status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akhir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Rawat Jalan, </a:t>
            </a:r>
          </a:p>
          <a:p>
            <a:pPr lvl="4"/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status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akhir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IGD</a:t>
            </a:r>
            <a:endParaRPr lang="en-ID" sz="2000" b="0" i="0" dirty="0">
              <a:solidFill>
                <a:srgbClr val="00B05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2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PENUNJANG</a:t>
            </a:r>
          </a:p>
          <a:p>
            <a:pPr lvl="2"/>
            <a:r>
              <a:rPr lang="en-ID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MCU</a:t>
            </a:r>
          </a:p>
          <a:p>
            <a:pPr lvl="2"/>
            <a:r>
              <a:rPr lang="en-ID" b="0" i="0" dirty="0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UTD (</a:t>
            </a:r>
            <a:r>
              <a:rPr lang="en-ID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pendonor</a:t>
            </a:r>
            <a:r>
              <a:rPr lang="en-ID" b="0" i="0" dirty="0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r>
              <a:rPr lang="en-ID" sz="2000" b="1" i="0" dirty="0">
                <a:effectLst/>
                <a:latin typeface="Roboto" panose="02000000000000000000" pitchFamily="2" charset="0"/>
              </a:rPr>
              <a:t>BILLING (</a:t>
            </a:r>
            <a:r>
              <a:rPr lang="en-ID" sz="2000" b="1" i="0" dirty="0" err="1">
                <a:effectLst/>
                <a:latin typeface="Roboto" panose="02000000000000000000" pitchFamily="2" charset="0"/>
              </a:rPr>
              <a:t>keuangan</a:t>
            </a:r>
            <a:r>
              <a:rPr lang="en-ID" sz="2000" b="1" i="0" dirty="0">
                <a:effectLst/>
                <a:latin typeface="Roboto" panose="02000000000000000000" pitchFamily="2" charset="0"/>
              </a:rPr>
              <a:t>)</a:t>
            </a:r>
          </a:p>
          <a:p>
            <a:pPr lvl="1"/>
            <a:r>
              <a:rPr lang="en-ID" sz="2000" dirty="0" err="1">
                <a:latin typeface="Roboto" panose="02000000000000000000" pitchFamily="2" charset="0"/>
              </a:rPr>
              <a:t>Gabung</a:t>
            </a:r>
            <a:r>
              <a:rPr lang="en-ID" sz="2000" dirty="0">
                <a:latin typeface="Roboto" panose="02000000000000000000" pitchFamily="2" charset="0"/>
              </a:rPr>
              <a:t> Billing</a:t>
            </a:r>
          </a:p>
          <a:p>
            <a:pPr lvl="1"/>
            <a:r>
              <a:rPr lang="en-ID" sz="2000" b="0" i="0" dirty="0" err="1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Pecah</a:t>
            </a:r>
            <a:r>
              <a:rPr lang="en-ID" sz="2000" b="0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 Billing</a:t>
            </a:r>
          </a:p>
          <a:p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KASIR MHAS</a:t>
            </a:r>
            <a:endParaRPr lang="en-ID" sz="2000" b="0" i="0" dirty="0">
              <a:solidFill>
                <a:srgbClr val="00B05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9560E67-05C7-3715-7024-BD66A443BB7E}"/>
              </a:ext>
            </a:extLst>
          </p:cNvPr>
          <p:cNvSpPr txBox="1">
            <a:spLocks/>
          </p:cNvSpPr>
          <p:nvPr/>
        </p:nvSpPr>
        <p:spPr>
          <a:xfrm>
            <a:off x="9231086" y="1267702"/>
            <a:ext cx="8447314" cy="8856551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sz="2000" b="1" dirty="0">
                <a:latin typeface="Roboto" panose="02000000000000000000" pitchFamily="2" charset="0"/>
              </a:rPr>
              <a:t>REKAM MEDIS ELEKTRONIK</a:t>
            </a:r>
          </a:p>
          <a:p>
            <a:pPr lvl="1"/>
            <a:r>
              <a:rPr lang="en-ID" sz="2000" dirty="0">
                <a:latin typeface="Roboto" panose="02000000000000000000" pitchFamily="2" charset="0"/>
              </a:rPr>
              <a:t>ORDER JADWAL OPERASI </a:t>
            </a:r>
            <a:r>
              <a:rPr lang="en-ID" sz="2000" dirty="0" err="1">
                <a:latin typeface="Roboto" panose="02000000000000000000" pitchFamily="2" charset="0"/>
              </a:rPr>
              <a:t>s.d</a:t>
            </a:r>
            <a:r>
              <a:rPr lang="en-ID" sz="2000" dirty="0">
                <a:latin typeface="Roboto" panose="02000000000000000000" pitchFamily="2" charset="0"/>
              </a:rPr>
              <a:t> REALISASI</a:t>
            </a:r>
          </a:p>
          <a:p>
            <a:pPr lvl="1"/>
            <a:r>
              <a:rPr lang="en-ID" sz="2000" dirty="0">
                <a:latin typeface="Roboto" panose="02000000000000000000" pitchFamily="2" charset="0"/>
              </a:rPr>
              <a:t>RESUME MEDIS</a:t>
            </a:r>
          </a:p>
          <a:p>
            <a:pPr lvl="1"/>
            <a:r>
              <a:rPr lang="en-ID" sz="2000" dirty="0">
                <a:latin typeface="Roboto" panose="02000000000000000000" pitchFamily="2" charset="0"/>
              </a:rPr>
              <a:t>ORDER &amp; HASIL LABORATORIUM (LIS)</a:t>
            </a:r>
          </a:p>
          <a:p>
            <a:pPr lvl="1"/>
            <a:r>
              <a:rPr lang="en-ID" sz="2000" dirty="0">
                <a:latin typeface="Roboto" panose="02000000000000000000" pitchFamily="2" charset="0"/>
              </a:rPr>
              <a:t>ORDER &amp; HASIL RADIOLOGI (PACS)</a:t>
            </a:r>
          </a:p>
          <a:p>
            <a:pPr lvl="1"/>
            <a:r>
              <a:rPr lang="en-ID" sz="2000" dirty="0">
                <a:latin typeface="Roboto" panose="02000000000000000000" pitchFamily="2" charset="0"/>
              </a:rPr>
              <a:t>PERESEPAN ORDER OBAT &amp; PELAYANANNYA</a:t>
            </a:r>
          </a:p>
          <a:p>
            <a:pPr lvl="1"/>
            <a:r>
              <a:rPr lang="en-ID" sz="2000" dirty="0">
                <a:latin typeface="Roboto" panose="02000000000000000000" pitchFamily="2" charset="0"/>
              </a:rPr>
              <a:t>MANAJEMEN KAMAR PASIEN (TTO)</a:t>
            </a:r>
          </a:p>
          <a:p>
            <a:pPr lvl="2"/>
            <a:r>
              <a:rPr lang="en-ID" dirty="0" err="1">
                <a:latin typeface="Roboto" panose="02000000000000000000" pitchFamily="2" charset="0"/>
              </a:rPr>
              <a:t>Pembentukan</a:t>
            </a:r>
            <a:r>
              <a:rPr lang="en-ID" dirty="0">
                <a:latin typeface="Roboto" panose="02000000000000000000" pitchFamily="2" charset="0"/>
              </a:rPr>
              <a:t> data TTO </a:t>
            </a:r>
            <a:r>
              <a:rPr lang="en-ID" dirty="0" err="1">
                <a:latin typeface="Roboto" panose="02000000000000000000" pitchFamily="2" charset="0"/>
              </a:rPr>
              <a:t>berdasarkan</a:t>
            </a:r>
            <a:r>
              <a:rPr lang="en-ID" dirty="0">
                <a:latin typeface="Roboto" panose="02000000000000000000" pitchFamily="2" charset="0"/>
              </a:rPr>
              <a:t> workflow </a:t>
            </a:r>
            <a:r>
              <a:rPr lang="en-ID" dirty="0" err="1">
                <a:latin typeface="Roboto" panose="02000000000000000000" pitchFamily="2" charset="0"/>
              </a:rPr>
              <a:t>pasien</a:t>
            </a:r>
            <a:endParaRPr lang="en-ID" dirty="0">
              <a:latin typeface="Roboto" panose="02000000000000000000" pitchFamily="2" charset="0"/>
            </a:endParaRPr>
          </a:p>
          <a:p>
            <a:pPr lvl="2"/>
            <a:r>
              <a:rPr lang="en-ID" dirty="0" err="1">
                <a:latin typeface="Roboto" panose="02000000000000000000" pitchFamily="2" charset="0"/>
              </a:rPr>
              <a:t>Pengembangan</a:t>
            </a:r>
            <a:r>
              <a:rPr lang="en-ID" dirty="0">
                <a:latin typeface="Roboto" panose="02000000000000000000" pitchFamily="2" charset="0"/>
              </a:rPr>
              <a:t> Modul </a:t>
            </a:r>
            <a:r>
              <a:rPr lang="en-ID" dirty="0" err="1">
                <a:latin typeface="Roboto" panose="02000000000000000000" pitchFamily="2" charset="0"/>
              </a:rPr>
              <a:t>Gizi</a:t>
            </a:r>
            <a:endParaRPr lang="en-ID" dirty="0">
              <a:latin typeface="Roboto" panose="02000000000000000000" pitchFamily="2" charset="0"/>
            </a:endParaRPr>
          </a:p>
          <a:p>
            <a:pPr lvl="2"/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</a:rPr>
              <a:t>Pengembangan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 Modul CARDEX OBAT</a:t>
            </a:r>
          </a:p>
          <a:p>
            <a:pPr lvl="1"/>
            <a:r>
              <a:rPr lang="en-ID" sz="2000" dirty="0">
                <a:latin typeface="Roboto" panose="02000000000000000000" pitchFamily="2" charset="0"/>
              </a:rPr>
              <a:t>FITUR FINGER-PRINT</a:t>
            </a:r>
          </a:p>
          <a:p>
            <a:pPr lvl="1"/>
            <a:r>
              <a:rPr lang="en-ID" sz="2000" dirty="0">
                <a:latin typeface="Roboto" panose="02000000000000000000" pitchFamily="2" charset="0"/>
              </a:rPr>
              <a:t>DOKUMEN-DOKUMEN RME :</a:t>
            </a:r>
          </a:p>
          <a:p>
            <a:pPr lvl="2"/>
            <a:r>
              <a:rPr lang="en-ID" dirty="0">
                <a:latin typeface="Roboto" panose="02000000000000000000" pitchFamily="2" charset="0"/>
              </a:rPr>
              <a:t>TRIASE, KAJIAN AWAL DOKTER, CPPT, ICD-10, ICD-9CM, RESUME MEDIS</a:t>
            </a:r>
          </a:p>
          <a:p>
            <a:pPr lvl="2"/>
            <a:r>
              <a:rPr lang="en-ID" dirty="0">
                <a:latin typeface="Roboto" panose="02000000000000000000" pitchFamily="2" charset="0"/>
              </a:rPr>
              <a:t>VITAL SIGN, KAJIAN AWAL PERAWAT</a:t>
            </a:r>
          </a:p>
          <a:p>
            <a:pPr lvl="1"/>
            <a:r>
              <a:rPr lang="en-ID" sz="2000" dirty="0">
                <a:latin typeface="Roboto" panose="02000000000000000000" pitchFamily="2" charset="0"/>
              </a:rPr>
              <a:t>WORKFLOW PASIEN :</a:t>
            </a:r>
          </a:p>
          <a:p>
            <a:pPr lvl="2"/>
            <a:r>
              <a:rPr lang="en-ID" dirty="0">
                <a:latin typeface="Roboto" panose="02000000000000000000" pitchFamily="2" charset="0"/>
              </a:rPr>
              <a:t>STATUS AKHIR IGD / RANAP</a:t>
            </a:r>
          </a:p>
          <a:p>
            <a:pPr lvl="2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STATUS AKHIR RAWAT JALAN</a:t>
            </a:r>
          </a:p>
          <a:p>
            <a:pPr lvl="2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TERIMA PASIEN MASUK RAWAT INAP</a:t>
            </a:r>
          </a:p>
          <a:p>
            <a:pPr lvl="2"/>
            <a:r>
              <a:rPr lang="en-ID" dirty="0">
                <a:latin typeface="Roboto" panose="02000000000000000000" pitchFamily="2" charset="0"/>
              </a:rPr>
              <a:t>TERIMA PASIEN MUTASI RAWAT INAP</a:t>
            </a:r>
          </a:p>
          <a:p>
            <a:pPr lvl="1"/>
            <a:r>
              <a:rPr lang="en-ID" sz="2000" dirty="0">
                <a:latin typeface="Roboto" panose="02000000000000000000" pitchFamily="2" charset="0"/>
              </a:rPr>
              <a:t>RABER :</a:t>
            </a:r>
          </a:p>
          <a:p>
            <a:pPr lvl="2"/>
            <a:r>
              <a:rPr lang="en-ID" dirty="0" err="1">
                <a:latin typeface="Roboto" panose="02000000000000000000" pitchFamily="2" charset="0"/>
              </a:rPr>
              <a:t>Baru</a:t>
            </a:r>
            <a:r>
              <a:rPr lang="en-ID" dirty="0">
                <a:latin typeface="Roboto" panose="02000000000000000000" pitchFamily="2" charset="0"/>
              </a:rPr>
              <a:t> </a:t>
            </a:r>
            <a:r>
              <a:rPr lang="en-ID" dirty="0" err="1">
                <a:latin typeface="Roboto" panose="02000000000000000000" pitchFamily="2" charset="0"/>
              </a:rPr>
              <a:t>Pencatatan</a:t>
            </a:r>
            <a:endParaRPr lang="en-ID" dirty="0">
              <a:latin typeface="Roboto" panose="02000000000000000000" pitchFamily="2" charset="0"/>
            </a:endParaRPr>
          </a:p>
          <a:p>
            <a:pPr lvl="2"/>
            <a:r>
              <a:rPr lang="en-ID" dirty="0" err="1">
                <a:solidFill>
                  <a:schemeClr val="accent5"/>
                </a:solidFill>
                <a:latin typeface="Roboto" panose="02000000000000000000" pitchFamily="2" charset="0"/>
              </a:rPr>
              <a:t>Pengembangan</a:t>
            </a:r>
            <a:r>
              <a:rPr lang="en-ID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en-ID" dirty="0" err="1">
                <a:solidFill>
                  <a:schemeClr val="accent5"/>
                </a:solidFill>
                <a:latin typeface="Roboto" panose="02000000000000000000" pitchFamily="2" charset="0"/>
              </a:rPr>
              <a:t>Raber</a:t>
            </a:r>
            <a:endParaRPr lang="en-ID" dirty="0">
              <a:solidFill>
                <a:schemeClr val="accent5"/>
              </a:solidFill>
              <a:latin typeface="Roboto" panose="02000000000000000000" pitchFamily="2" charset="0"/>
            </a:endParaRPr>
          </a:p>
          <a:p>
            <a:pPr lvl="1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AI :</a:t>
            </a:r>
          </a:p>
          <a:p>
            <a:pPr lvl="2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SERENIC,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</a:rPr>
              <a:t>integrasi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</a:rPr>
              <a:t>hasil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 AI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</a:rPr>
              <a:t>Serenic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,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</a:rPr>
              <a:t>berupa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 ICD-10/9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</a:rPr>
              <a:t>versi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 AI</a:t>
            </a:r>
          </a:p>
          <a:p>
            <a:pPr lvl="2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QURE AI,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</a:rPr>
              <a:t>integrasi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</a:rPr>
              <a:t>melihat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 tuberculosis pada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</a:rPr>
              <a:t>foto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</a:rPr>
              <a:t>radiologi</a:t>
            </a:r>
            <a:endParaRPr lang="en-ID" dirty="0">
              <a:solidFill>
                <a:srgbClr val="00B050"/>
              </a:solidFill>
              <a:latin typeface="Roboto" panose="02000000000000000000" pitchFamily="2" charset="0"/>
            </a:endParaRPr>
          </a:p>
        </p:txBody>
      </p:sp>
      <p:sp>
        <p:nvSpPr>
          <p:cNvPr id="26" name="Round Same Side Corner Rectangle 25"/>
          <p:cNvSpPr/>
          <p:nvPr/>
        </p:nvSpPr>
        <p:spPr>
          <a:xfrm rot="5400000">
            <a:off x="4039396" y="-4299201"/>
            <a:ext cx="1104956" cy="10028850"/>
          </a:xfrm>
          <a:prstGeom prst="round2Same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0" y="353099"/>
            <a:ext cx="9049891" cy="7242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FRONT OFFICE</a:t>
            </a:r>
            <a:endParaRPr 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EBB01B-8A3D-0276-D2DD-DEF9E7B92458}"/>
              </a:ext>
            </a:extLst>
          </p:cNvPr>
          <p:cNvSpPr txBox="1">
            <a:spLocks/>
          </p:cNvSpPr>
          <p:nvPr/>
        </p:nvSpPr>
        <p:spPr>
          <a:xfrm>
            <a:off x="14935200" y="72434"/>
            <a:ext cx="3276601" cy="156586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KETERANGAN WARNA :</a:t>
            </a:r>
          </a:p>
          <a:p>
            <a:pPr algn="ctr"/>
            <a:endParaRPr 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US" sz="1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MANUAL / APLIKASI LAMA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TERIMPLEMENTASI SIMRSF</a:t>
            </a:r>
          </a:p>
          <a:p>
            <a:pPr algn="ctr"/>
            <a:r>
              <a:rPr lang="en-US" sz="16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 PROSES SIMRSF 2025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BELUM/SEDANG DEFINISI</a:t>
            </a:r>
          </a:p>
        </p:txBody>
      </p:sp>
    </p:spTree>
    <p:extLst>
      <p:ext uri="{BB962C8B-B14F-4D97-AF65-F5344CB8AC3E}">
        <p14:creationId xmlns:p14="http://schemas.microsoft.com/office/powerpoint/2010/main" val="129358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8"/>
          <p:cNvSpPr txBox="1"/>
          <p:nvPr/>
        </p:nvSpPr>
        <p:spPr>
          <a:xfrm>
            <a:off x="609600" y="629682"/>
            <a:ext cx="9372600" cy="728737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9560E67-05C7-3715-7024-BD66A443BB7E}"/>
              </a:ext>
            </a:extLst>
          </p:cNvPr>
          <p:cNvSpPr txBox="1">
            <a:spLocks/>
          </p:cNvSpPr>
          <p:nvPr/>
        </p:nvSpPr>
        <p:spPr>
          <a:xfrm>
            <a:off x="685800" y="1544283"/>
            <a:ext cx="8364091" cy="8389618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713" indent="0">
              <a:buNone/>
            </a:pPr>
            <a:endParaRPr lang="en-US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DASHBOARD / LAPORAN</a:t>
            </a:r>
          </a:p>
          <a:p>
            <a:pPr lvl="1"/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Indikator</a:t>
            </a:r>
            <a:endParaRPr lang="en-ID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Layanan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Rawat Jalan</a:t>
            </a:r>
          </a:p>
          <a:p>
            <a:pPr lvl="1"/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Laboratorium</a:t>
            </a:r>
            <a:endParaRPr lang="en-ID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Radiologi</a:t>
            </a:r>
            <a:endParaRPr lang="en-ID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Terbesar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Diagnosa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ICD)</a:t>
            </a:r>
          </a:p>
          <a:p>
            <a:pPr lvl="1"/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Mutu</a:t>
            </a:r>
            <a:endParaRPr lang="en-ID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PENDAPATAN dan PENERIMAAN</a:t>
            </a:r>
          </a:p>
          <a:p>
            <a:pPr lvl="1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PROSES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Klaim</a:t>
            </a:r>
            <a:endParaRPr lang="en-ID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SDM :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Jabatan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Fungsional</a:t>
            </a:r>
            <a:endParaRPr lang="en-ID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lvl="1" indent="0">
              <a:buNone/>
            </a:pP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lvl="1" indent="0">
              <a:buNone/>
            </a:pPr>
            <a:endParaRPr lang="en-ID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FISIK :</a:t>
            </a:r>
          </a:p>
          <a:p>
            <a:pPr lvl="1"/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Command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Center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n-ID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Renovasi</a:t>
            </a:r>
            <a:r>
              <a:rPr lang="en-ID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Villa Jaga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9560E67-05C7-3715-7024-BD66A443BB7E}"/>
              </a:ext>
            </a:extLst>
          </p:cNvPr>
          <p:cNvSpPr txBox="1">
            <a:spLocks/>
          </p:cNvSpPr>
          <p:nvPr/>
        </p:nvSpPr>
        <p:spPr>
          <a:xfrm>
            <a:off x="9231086" y="1544282"/>
            <a:ext cx="8447314" cy="8389619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713" indent="0">
              <a:buNone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69913" indent="-457200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MONITORING</a:t>
            </a:r>
          </a:p>
          <a:p>
            <a:pPr marL="1027113" lvl="1" indent="-457200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PASIEN IGD</a:t>
            </a:r>
          </a:p>
          <a:p>
            <a:pPr marL="1027113" lvl="1" indent="-457200"/>
            <a:r>
              <a:rPr lang="en-US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PASIEN RAD / LAB </a:t>
            </a:r>
            <a:r>
              <a:rPr lang="en-US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dari</a:t>
            </a:r>
            <a:r>
              <a:rPr lang="en-US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IGD</a:t>
            </a:r>
          </a:p>
          <a:p>
            <a:pPr marL="1027113" lvl="1" indent="-457200"/>
            <a:r>
              <a:rPr lang="en-US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MUTU</a:t>
            </a:r>
          </a:p>
          <a:p>
            <a:pPr marL="1027113" lvl="1" indent="-457200"/>
            <a:r>
              <a:rPr lang="en-US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KENDALI BIAYA</a:t>
            </a:r>
          </a:p>
          <a:p>
            <a:pPr marL="1484313" lvl="2" indent="-457200"/>
            <a:r>
              <a:rPr lang="en-US" sz="24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Restriksi</a:t>
            </a:r>
            <a:r>
              <a:rPr lang="en-US" sz="24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Obat</a:t>
            </a:r>
            <a:endParaRPr lang="en-US" sz="24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027113" lvl="1" indent="-457200"/>
            <a:r>
              <a:rPr lang="en-US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INTEGRASI </a:t>
            </a:r>
          </a:p>
          <a:p>
            <a:pPr marL="1484313" lvl="2" indent="-457200"/>
            <a:r>
              <a:rPr lang="en-US" sz="24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Satu Sehat</a:t>
            </a:r>
          </a:p>
          <a:p>
            <a:pPr marL="1484313" lvl="2" indent="-457200"/>
            <a:r>
              <a:rPr lang="en-US" sz="24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SIRANAP</a:t>
            </a:r>
          </a:p>
          <a:p>
            <a:pPr marL="1484313" lvl="2" indent="-457200"/>
            <a:r>
              <a:rPr lang="en-US" sz="24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SISRS ONLINE</a:t>
            </a:r>
          </a:p>
          <a:p>
            <a:pPr marL="1484313" lvl="2" indent="-457200"/>
            <a:r>
              <a:rPr lang="en-US" sz="24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RS ONLINE</a:t>
            </a:r>
          </a:p>
        </p:txBody>
      </p:sp>
      <p:sp>
        <p:nvSpPr>
          <p:cNvPr id="26" name="Round Same Side Corner Rectangle 25"/>
          <p:cNvSpPr/>
          <p:nvPr/>
        </p:nvSpPr>
        <p:spPr>
          <a:xfrm rot="5400000">
            <a:off x="4039396" y="-4299201"/>
            <a:ext cx="1104956" cy="10028850"/>
          </a:xfrm>
          <a:prstGeom prst="round2Same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0" y="353099"/>
            <a:ext cx="9049891" cy="7242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MONITORING dan DASHBOARD</a:t>
            </a:r>
            <a:endParaRPr 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AC116227-3709-4F5A-0793-EAD9D3B865A9}"/>
              </a:ext>
            </a:extLst>
          </p:cNvPr>
          <p:cNvSpPr txBox="1">
            <a:spLocks/>
          </p:cNvSpPr>
          <p:nvPr/>
        </p:nvSpPr>
        <p:spPr>
          <a:xfrm>
            <a:off x="14935200" y="72434"/>
            <a:ext cx="3276601" cy="156586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KETERANGAN WARNA :</a:t>
            </a:r>
          </a:p>
          <a:p>
            <a:pPr algn="ctr"/>
            <a:endParaRPr 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US" sz="1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MANUAL / APLIKASI LAMA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TERIMPLEMENTASI SIMRSF</a:t>
            </a:r>
          </a:p>
          <a:p>
            <a:pPr algn="ctr"/>
            <a:r>
              <a:rPr lang="en-US" sz="16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 PROSES SIMRSF 2025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BELUM/SEDANG DEFINISI</a:t>
            </a:r>
          </a:p>
        </p:txBody>
      </p:sp>
    </p:spTree>
    <p:extLst>
      <p:ext uri="{BB962C8B-B14F-4D97-AF65-F5344CB8AC3E}">
        <p14:creationId xmlns:p14="http://schemas.microsoft.com/office/powerpoint/2010/main" val="3979743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8"/>
          <p:cNvSpPr txBox="1"/>
          <p:nvPr/>
        </p:nvSpPr>
        <p:spPr>
          <a:xfrm>
            <a:off x="609600" y="629682"/>
            <a:ext cx="9372600" cy="728737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9560E67-05C7-3715-7024-BD66A443BB7E}"/>
              </a:ext>
            </a:extLst>
          </p:cNvPr>
          <p:cNvSpPr txBox="1">
            <a:spLocks/>
          </p:cNvSpPr>
          <p:nvPr/>
        </p:nvSpPr>
        <p:spPr>
          <a:xfrm>
            <a:off x="685800" y="1562100"/>
            <a:ext cx="8364091" cy="8579972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ID" sz="1600" dirty="0">
                <a:latin typeface="Roboto" panose="02000000000000000000" pitchFamily="2" charset="0"/>
              </a:rPr>
              <a:t>KEUANGAN</a:t>
            </a:r>
          </a:p>
          <a:p>
            <a:pPr lvl="1"/>
            <a:r>
              <a:rPr lang="en-ID" sz="16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HUTANG / PIUTANG</a:t>
            </a:r>
          </a:p>
          <a:p>
            <a:pPr lvl="2"/>
            <a:r>
              <a:rPr lang="en-ID" sz="16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Pencatatan</a:t>
            </a:r>
            <a:r>
              <a:rPr lang="en-ID" sz="16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D" sz="16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Hutang</a:t>
            </a:r>
            <a:r>
              <a:rPr lang="en-ID" sz="16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 non PENGADAAN</a:t>
            </a:r>
          </a:p>
          <a:p>
            <a:pPr lvl="2"/>
            <a:r>
              <a:rPr lang="en-ID" sz="16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Monitoring </a:t>
            </a:r>
            <a:r>
              <a:rPr lang="en-ID" sz="16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Hutang</a:t>
            </a:r>
            <a:r>
              <a:rPr lang="en-ID" sz="16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 (PENGADAAN dan non PENGADAAN)</a:t>
            </a:r>
          </a:p>
          <a:p>
            <a:pPr lvl="2"/>
            <a:r>
              <a:rPr lang="en-ID" sz="16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Pencatatan</a:t>
            </a:r>
            <a:r>
              <a:rPr lang="en-ID" sz="16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D" sz="16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Piutang</a:t>
            </a:r>
            <a:r>
              <a:rPr lang="en-ID" sz="16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 / </a:t>
            </a:r>
            <a:r>
              <a:rPr lang="en-ID" sz="16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Anggsuran</a:t>
            </a:r>
            <a:r>
              <a:rPr lang="en-ID" sz="16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D" sz="16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Pasien</a:t>
            </a:r>
            <a:endParaRPr lang="en-ID" sz="1600" b="0" i="0" dirty="0">
              <a:solidFill>
                <a:srgbClr val="0000FF"/>
              </a:solidFill>
              <a:effectLst/>
              <a:latin typeface="Roboto" panose="02000000000000000000" pitchFamily="2" charset="0"/>
            </a:endParaRPr>
          </a:p>
          <a:p>
            <a:pPr lvl="2"/>
            <a:r>
              <a:rPr lang="en-ID" sz="16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Pencatatan</a:t>
            </a:r>
            <a:r>
              <a:rPr lang="en-ID" sz="16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D" sz="16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Piutang</a:t>
            </a:r>
            <a:r>
              <a:rPr lang="en-ID" sz="16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D" sz="1600" dirty="0" err="1">
                <a:solidFill>
                  <a:srgbClr val="0000FF"/>
                </a:solidFill>
                <a:latin typeface="Roboto" panose="02000000000000000000" pitchFamily="2" charset="0"/>
              </a:rPr>
              <a:t>Lainnya</a:t>
            </a:r>
            <a:endParaRPr lang="en-ID" sz="1600" b="0" i="0" dirty="0">
              <a:solidFill>
                <a:srgbClr val="0000FF"/>
              </a:solidFill>
              <a:effectLst/>
              <a:latin typeface="Roboto" panose="02000000000000000000" pitchFamily="2" charset="0"/>
            </a:endParaRPr>
          </a:p>
          <a:p>
            <a:pPr lvl="2"/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Monitoring </a:t>
            </a:r>
            <a:r>
              <a:rPr lang="en-ID" sz="1600" dirty="0" err="1">
                <a:solidFill>
                  <a:srgbClr val="0000FF"/>
                </a:solidFill>
                <a:latin typeface="Roboto" panose="02000000000000000000" pitchFamily="2" charset="0"/>
              </a:rPr>
              <a:t>Piutang</a:t>
            </a:r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 (</a:t>
            </a:r>
            <a:r>
              <a:rPr lang="en-ID" sz="1600" dirty="0" err="1">
                <a:solidFill>
                  <a:srgbClr val="0000FF"/>
                </a:solidFill>
                <a:latin typeface="Roboto" panose="02000000000000000000" pitchFamily="2" charset="0"/>
              </a:rPr>
              <a:t>Pasien</a:t>
            </a:r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 dan </a:t>
            </a:r>
            <a:r>
              <a:rPr lang="en-ID" sz="1600" dirty="0" err="1">
                <a:solidFill>
                  <a:srgbClr val="0000FF"/>
                </a:solidFill>
                <a:latin typeface="Roboto" panose="02000000000000000000" pitchFamily="2" charset="0"/>
              </a:rPr>
              <a:t>lainnya</a:t>
            </a:r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)</a:t>
            </a:r>
            <a:endParaRPr lang="en-ID" sz="1600" b="0" i="0" dirty="0">
              <a:solidFill>
                <a:srgbClr val="0000FF"/>
              </a:solidFill>
              <a:effectLst/>
              <a:latin typeface="Roboto" panose="02000000000000000000" pitchFamily="2" charset="0"/>
            </a:endParaRPr>
          </a:p>
          <a:p>
            <a:pPr lvl="1"/>
            <a:r>
              <a:rPr lang="en-ID" sz="16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CASH OUT :</a:t>
            </a:r>
          </a:p>
          <a:p>
            <a:pPr lvl="2"/>
            <a:r>
              <a:rPr lang="en-ID" sz="16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ANGGARAN</a:t>
            </a:r>
          </a:p>
          <a:p>
            <a:pPr lvl="2"/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TERIMA PENAGIHAN VENDOR / SUPPLIER</a:t>
            </a:r>
          </a:p>
          <a:p>
            <a:pPr lvl="2"/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TERIMA NOTA SDM  (</a:t>
            </a:r>
            <a:r>
              <a:rPr lang="en-ID" sz="1600" dirty="0" err="1">
                <a:solidFill>
                  <a:srgbClr val="0000FF"/>
                </a:solidFill>
                <a:latin typeface="Roboto" panose="02000000000000000000" pitchFamily="2" charset="0"/>
              </a:rPr>
              <a:t>Gaji</a:t>
            </a:r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, </a:t>
            </a:r>
            <a:r>
              <a:rPr lang="en-ID" sz="1600" dirty="0" err="1">
                <a:solidFill>
                  <a:srgbClr val="0000FF"/>
                </a:solidFill>
                <a:latin typeface="Roboto" panose="02000000000000000000" pitchFamily="2" charset="0"/>
              </a:rPr>
              <a:t>Remun</a:t>
            </a:r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)</a:t>
            </a:r>
          </a:p>
          <a:p>
            <a:pPr lvl="2"/>
            <a:r>
              <a:rPr lang="en-ID" sz="16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VOUCHER</a:t>
            </a:r>
          </a:p>
          <a:p>
            <a:pPr lvl="2"/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PEMBAYARAN</a:t>
            </a:r>
            <a:endParaRPr lang="en-ID" sz="1600" b="0" i="0" dirty="0">
              <a:solidFill>
                <a:srgbClr val="0000FF"/>
              </a:solidFill>
              <a:effectLst/>
              <a:latin typeface="Roboto" panose="02000000000000000000" pitchFamily="2" charset="0"/>
            </a:endParaRPr>
          </a:p>
          <a:p>
            <a:pPr lvl="1"/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CASH IN :</a:t>
            </a:r>
          </a:p>
          <a:p>
            <a:pPr lvl="2"/>
            <a:r>
              <a:rPr lang="en-ID" sz="1600" dirty="0">
                <a:latin typeface="Roboto" panose="02000000000000000000" pitchFamily="2" charset="0"/>
              </a:rPr>
              <a:t>BILLING PASIEN &amp; DISKON</a:t>
            </a:r>
          </a:p>
          <a:p>
            <a:pPr lvl="2"/>
            <a:r>
              <a:rPr lang="en-ID" sz="1600" dirty="0">
                <a:solidFill>
                  <a:srgbClr val="00B050"/>
                </a:solidFill>
                <a:latin typeface="Roboto" panose="02000000000000000000" pitchFamily="2" charset="0"/>
              </a:rPr>
              <a:t>KASIR </a:t>
            </a:r>
            <a:r>
              <a:rPr lang="en-ID" sz="1600" dirty="0" err="1">
                <a:solidFill>
                  <a:srgbClr val="00B050"/>
                </a:solidFill>
                <a:latin typeface="Roboto" panose="02000000000000000000" pitchFamily="2" charset="0"/>
              </a:rPr>
              <a:t>pembayaran</a:t>
            </a:r>
            <a:r>
              <a:rPr lang="en-ID" sz="1600" dirty="0">
                <a:solidFill>
                  <a:srgbClr val="00B050"/>
                </a:solidFill>
                <a:latin typeface="Roboto" panose="02000000000000000000" pitchFamily="2" charset="0"/>
              </a:rPr>
              <a:t> </a:t>
            </a:r>
            <a:r>
              <a:rPr lang="en-ID" sz="1600" dirty="0" err="1">
                <a:solidFill>
                  <a:srgbClr val="00B050"/>
                </a:solidFill>
                <a:latin typeface="Roboto" panose="02000000000000000000" pitchFamily="2" charset="0"/>
              </a:rPr>
              <a:t>pasien</a:t>
            </a:r>
            <a:endParaRPr lang="en-ID" sz="1600" dirty="0">
              <a:solidFill>
                <a:srgbClr val="00B050"/>
              </a:solidFill>
              <a:latin typeface="Roboto" panose="02000000000000000000" pitchFamily="2" charset="0"/>
            </a:endParaRPr>
          </a:p>
          <a:p>
            <a:pPr lvl="3"/>
            <a:r>
              <a:rPr lang="en-ID" sz="1600" dirty="0">
                <a:solidFill>
                  <a:srgbClr val="00B050"/>
                </a:solidFill>
                <a:latin typeface="Roboto" panose="02000000000000000000" pitchFamily="2" charset="0"/>
              </a:rPr>
              <a:t>DEPOSIT</a:t>
            </a:r>
          </a:p>
          <a:p>
            <a:pPr lvl="3"/>
            <a:r>
              <a:rPr lang="en-ID" sz="1600" dirty="0">
                <a:solidFill>
                  <a:srgbClr val="00B050"/>
                </a:solidFill>
                <a:latin typeface="Roboto" panose="02000000000000000000" pitchFamily="2" charset="0"/>
              </a:rPr>
              <a:t>PELUNASAN</a:t>
            </a:r>
          </a:p>
          <a:p>
            <a:pPr lvl="3"/>
            <a:r>
              <a:rPr lang="en-ID" sz="1600" dirty="0">
                <a:solidFill>
                  <a:srgbClr val="00B050"/>
                </a:solidFill>
                <a:latin typeface="Roboto" panose="02000000000000000000" pitchFamily="2" charset="0"/>
              </a:rPr>
              <a:t>PIUTANG</a:t>
            </a:r>
          </a:p>
          <a:p>
            <a:pPr lvl="2"/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PROSES Non </a:t>
            </a:r>
            <a:r>
              <a:rPr lang="en-ID" sz="1600" dirty="0" err="1">
                <a:solidFill>
                  <a:srgbClr val="0000FF"/>
                </a:solidFill>
                <a:latin typeface="Roboto" panose="02000000000000000000" pitchFamily="2" charset="0"/>
              </a:rPr>
              <a:t>Tunai</a:t>
            </a:r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 (VA, QRIS, EDC)</a:t>
            </a:r>
          </a:p>
          <a:p>
            <a:pPr lvl="2"/>
            <a:r>
              <a:rPr lang="en-ID" sz="1600" dirty="0">
                <a:solidFill>
                  <a:srgbClr val="00B050"/>
                </a:solidFill>
                <a:latin typeface="Roboto" panose="02000000000000000000" pitchFamily="2" charset="0"/>
              </a:rPr>
              <a:t>PROSES KLAIM NON JKN </a:t>
            </a:r>
            <a:r>
              <a:rPr lang="en-ID" sz="1600" dirty="0" err="1">
                <a:solidFill>
                  <a:srgbClr val="00B050"/>
                </a:solidFill>
                <a:latin typeface="Roboto" panose="02000000000000000000" pitchFamily="2" charset="0"/>
              </a:rPr>
              <a:t>s.d</a:t>
            </a:r>
            <a:r>
              <a:rPr lang="en-ID" sz="1600" dirty="0">
                <a:solidFill>
                  <a:srgbClr val="00B050"/>
                </a:solidFill>
                <a:latin typeface="Roboto" panose="02000000000000000000" pitchFamily="2" charset="0"/>
              </a:rPr>
              <a:t> TERIMA PEMBAYARAN</a:t>
            </a:r>
          </a:p>
          <a:p>
            <a:pPr lvl="2"/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PROSES KLAIM JKN </a:t>
            </a:r>
            <a:r>
              <a:rPr lang="en-ID" sz="1600" dirty="0" err="1">
                <a:solidFill>
                  <a:srgbClr val="0000FF"/>
                </a:solidFill>
                <a:latin typeface="Roboto" panose="02000000000000000000" pitchFamily="2" charset="0"/>
              </a:rPr>
              <a:t>s.d</a:t>
            </a:r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 TERIMA PEMBAYARAN</a:t>
            </a:r>
          </a:p>
          <a:p>
            <a:pPr lvl="3"/>
            <a:r>
              <a:rPr lang="en-ID" sz="1600" dirty="0">
                <a:latin typeface="Roboto" panose="02000000000000000000" pitchFamily="2" charset="0"/>
              </a:rPr>
              <a:t>Coding &amp; grouping</a:t>
            </a:r>
          </a:p>
          <a:p>
            <a:pPr lvl="3"/>
            <a:r>
              <a:rPr lang="en-ID" sz="1600" dirty="0">
                <a:latin typeface="Roboto" panose="02000000000000000000" pitchFamily="2" charset="0"/>
              </a:rPr>
              <a:t>Bridging e-</a:t>
            </a:r>
            <a:r>
              <a:rPr lang="en-ID" sz="1600" dirty="0" err="1">
                <a:latin typeface="Roboto" panose="02000000000000000000" pitchFamily="2" charset="0"/>
              </a:rPr>
              <a:t>klaim</a:t>
            </a:r>
            <a:endParaRPr lang="en-ID" sz="1600" dirty="0">
              <a:latin typeface="Roboto" panose="02000000000000000000" pitchFamily="2" charset="0"/>
            </a:endParaRPr>
          </a:p>
          <a:p>
            <a:pPr lvl="3"/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Bridging </a:t>
            </a:r>
            <a:r>
              <a:rPr lang="en-ID" sz="1600" dirty="0" err="1">
                <a:solidFill>
                  <a:srgbClr val="0000FF"/>
                </a:solidFill>
                <a:latin typeface="Roboto" panose="02000000000000000000" pitchFamily="2" charset="0"/>
              </a:rPr>
              <a:t>Apotek</a:t>
            </a:r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 Online</a:t>
            </a:r>
          </a:p>
          <a:p>
            <a:pPr lvl="3"/>
            <a:r>
              <a:rPr lang="en-ID" sz="1600" dirty="0" err="1">
                <a:solidFill>
                  <a:srgbClr val="0000FF"/>
                </a:solidFill>
                <a:latin typeface="Roboto" panose="02000000000000000000" pitchFamily="2" charset="0"/>
              </a:rPr>
              <a:t>Manajemen</a:t>
            </a:r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 </a:t>
            </a:r>
            <a:r>
              <a:rPr lang="en-ID" sz="1600" dirty="0" err="1">
                <a:solidFill>
                  <a:srgbClr val="0000FF"/>
                </a:solidFill>
                <a:latin typeface="Roboto" panose="02000000000000000000" pitchFamily="2" charset="0"/>
              </a:rPr>
              <a:t>Dokumen</a:t>
            </a:r>
            <a:r>
              <a:rPr lang="en-ID" sz="1600" dirty="0">
                <a:solidFill>
                  <a:srgbClr val="0000FF"/>
                </a:solidFill>
                <a:latin typeface="Roboto" panose="02000000000000000000" pitchFamily="2" charset="0"/>
              </a:rPr>
              <a:t> </a:t>
            </a:r>
            <a:r>
              <a:rPr lang="en-ID" sz="1600" dirty="0" err="1">
                <a:solidFill>
                  <a:srgbClr val="0000FF"/>
                </a:solidFill>
                <a:latin typeface="Roboto" panose="02000000000000000000" pitchFamily="2" charset="0"/>
              </a:rPr>
              <a:t>Klaim</a:t>
            </a:r>
            <a:endParaRPr lang="en-ID" sz="1600" dirty="0">
              <a:solidFill>
                <a:srgbClr val="0000FF"/>
              </a:solidFill>
              <a:latin typeface="Roboto" panose="02000000000000000000" pitchFamily="2" charset="0"/>
            </a:endParaRPr>
          </a:p>
          <a:p>
            <a:pPr lvl="1"/>
            <a:r>
              <a:rPr lang="en-ID" sz="1600" dirty="0">
                <a:solidFill>
                  <a:srgbClr val="00B050"/>
                </a:solidFill>
                <a:latin typeface="Roboto" panose="02000000000000000000" pitchFamily="2" charset="0"/>
              </a:rPr>
              <a:t>LAPORAN</a:t>
            </a:r>
          </a:p>
          <a:p>
            <a:pPr lvl="2"/>
            <a:r>
              <a:rPr lang="en-ID" sz="1600" dirty="0" err="1">
                <a:solidFill>
                  <a:srgbClr val="00B050"/>
                </a:solidFill>
                <a:latin typeface="Roboto" panose="02000000000000000000" pitchFamily="2" charset="0"/>
              </a:rPr>
              <a:t>Laporan</a:t>
            </a:r>
            <a:r>
              <a:rPr lang="en-ID" sz="1600" dirty="0">
                <a:solidFill>
                  <a:srgbClr val="00B050"/>
                </a:solidFill>
                <a:latin typeface="Roboto" panose="02000000000000000000" pitchFamily="2" charset="0"/>
              </a:rPr>
              <a:t> </a:t>
            </a:r>
            <a:r>
              <a:rPr lang="en-ID" sz="1600" dirty="0" err="1">
                <a:solidFill>
                  <a:srgbClr val="00B050"/>
                </a:solidFill>
                <a:latin typeface="Roboto" panose="02000000000000000000" pitchFamily="2" charset="0"/>
              </a:rPr>
              <a:t>Pendapatan</a:t>
            </a:r>
            <a:endParaRPr lang="en-ID" sz="1600" dirty="0">
              <a:solidFill>
                <a:srgbClr val="00B050"/>
              </a:solidFill>
              <a:latin typeface="Roboto" panose="02000000000000000000" pitchFamily="2" charset="0"/>
            </a:endParaRPr>
          </a:p>
          <a:p>
            <a:pPr lvl="2"/>
            <a:r>
              <a:rPr lang="en-ID" sz="1600" dirty="0" err="1">
                <a:solidFill>
                  <a:srgbClr val="00B050"/>
                </a:solidFill>
                <a:latin typeface="Roboto" panose="02000000000000000000" pitchFamily="2" charset="0"/>
              </a:rPr>
              <a:t>Laporan</a:t>
            </a:r>
            <a:r>
              <a:rPr lang="en-ID" sz="1600" dirty="0">
                <a:solidFill>
                  <a:srgbClr val="00B050"/>
                </a:solidFill>
                <a:latin typeface="Roboto" panose="02000000000000000000" pitchFamily="2" charset="0"/>
              </a:rPr>
              <a:t> </a:t>
            </a:r>
            <a:r>
              <a:rPr lang="en-ID" sz="1600" dirty="0" err="1">
                <a:solidFill>
                  <a:srgbClr val="00B050"/>
                </a:solidFill>
                <a:latin typeface="Roboto" panose="02000000000000000000" pitchFamily="2" charset="0"/>
              </a:rPr>
              <a:t>Penerimaan</a:t>
            </a:r>
            <a:endParaRPr lang="en-ID" sz="1600" dirty="0">
              <a:solidFill>
                <a:srgbClr val="00B050"/>
              </a:solidFill>
              <a:latin typeface="Roboto" panose="02000000000000000000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9560E67-05C7-3715-7024-BD66A443BB7E}"/>
              </a:ext>
            </a:extLst>
          </p:cNvPr>
          <p:cNvSpPr txBox="1">
            <a:spLocks/>
          </p:cNvSpPr>
          <p:nvPr/>
        </p:nvSpPr>
        <p:spPr>
          <a:xfrm>
            <a:off x="9829800" y="439993"/>
            <a:ext cx="7995901" cy="9580307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ANGGARAN</a:t>
            </a:r>
          </a:p>
          <a:p>
            <a:pPr lvl="1"/>
            <a:r>
              <a:rPr lang="en-ID" sz="18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PROSES </a:t>
            </a:r>
            <a:r>
              <a:rPr lang="en-ID" sz="18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Anggaran</a:t>
            </a:r>
            <a:endParaRPr lang="en-ID" sz="1800" dirty="0">
              <a:solidFill>
                <a:srgbClr val="0000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18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Monitoring </a:t>
            </a:r>
            <a:r>
              <a:rPr lang="en-ID" sz="18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Penggunaan</a:t>
            </a:r>
            <a:r>
              <a:rPr lang="en-ID" sz="18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Anggaran</a:t>
            </a:r>
            <a:endParaRPr lang="en-ID" sz="1800" dirty="0">
              <a:solidFill>
                <a:srgbClr val="0000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sz="1800" b="0" i="0" dirty="0">
                <a:solidFill>
                  <a:srgbClr val="00B05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r>
              <a:rPr lang="en-ID" sz="1800" b="0" i="0" dirty="0">
                <a:solidFill>
                  <a:srgbClr val="00B05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 BARANG KELUAR SAKTI</a:t>
            </a:r>
            <a:endParaRPr lang="en-ID" sz="1800" b="0" i="0" dirty="0">
              <a:solidFill>
                <a:srgbClr val="00B05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18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GUDANG FARMASI</a:t>
            </a:r>
          </a:p>
          <a:p>
            <a:pPr lvl="1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GUDANG GIZI</a:t>
            </a:r>
          </a:p>
          <a:p>
            <a:pPr lvl="1"/>
            <a:r>
              <a:rPr lang="en-ID" sz="1800" b="0" i="0" dirty="0">
                <a:solidFill>
                  <a:srgbClr val="00B05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GUDANG RT</a:t>
            </a:r>
          </a:p>
          <a:p>
            <a:pPr lvl="1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GUDANG BARANG MEDIK</a:t>
            </a:r>
          </a:p>
          <a:p>
            <a:pPr lvl="1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MELIPUTI :</a:t>
            </a:r>
          </a:p>
          <a:p>
            <a:pPr lvl="2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Stok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Opname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</a:p>
          <a:p>
            <a:pPr lvl="2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Monitoring Stok, </a:t>
            </a:r>
          </a:p>
          <a:p>
            <a:pPr lvl="2"/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Produksi</a:t>
            </a:r>
            <a:endParaRPr lang="en-ID" sz="18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2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Monitoring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Kadaluarsa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</a:p>
          <a:p>
            <a:pPr lvl="2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Mastering dan protocol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penggunakan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obat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fornas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vs non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fornas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), </a:t>
            </a:r>
          </a:p>
          <a:p>
            <a:pPr lvl="2"/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Perhitungan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penilaian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stok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secara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FIFO</a:t>
            </a:r>
            <a:endParaRPr lang="en-ID" sz="1800" b="0" i="0" dirty="0">
              <a:solidFill>
                <a:srgbClr val="00B05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PROSES PERMINTAAN AMPRAHAN</a:t>
            </a:r>
          </a:p>
          <a:p>
            <a:pPr lvl="1"/>
            <a:r>
              <a:rPr lang="en-ID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FARMASI</a:t>
            </a:r>
          </a:p>
          <a:p>
            <a:pPr lvl="1"/>
            <a:r>
              <a:rPr lang="en-ID" sz="14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NON FARMASI</a:t>
            </a:r>
          </a:p>
          <a:p>
            <a:r>
              <a:rPr lang="en-ID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PROSES PENGADAAN </a:t>
            </a:r>
          </a:p>
          <a:p>
            <a:pPr lvl="1"/>
            <a:r>
              <a:rPr lang="en-ID" sz="14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FARMASI (</a:t>
            </a:r>
            <a:r>
              <a:rPr lang="en-ID" sz="14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fatmahost</a:t>
            </a:r>
            <a:r>
              <a:rPr lang="en-ID" sz="14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pPr lvl="2"/>
            <a:r>
              <a:rPr lang="en-ID" sz="14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PERENCANAAN, </a:t>
            </a:r>
          </a:p>
          <a:p>
            <a:pPr lvl="2"/>
            <a:r>
              <a:rPr lang="en-ID" sz="14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PEMBELIAN</a:t>
            </a:r>
          </a:p>
          <a:p>
            <a:pPr lvl="2"/>
            <a:r>
              <a:rPr lang="en-ID" sz="14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PENERIMAAN </a:t>
            </a:r>
            <a:r>
              <a:rPr lang="en-ID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 BARANG MASUK SAKTI</a:t>
            </a:r>
            <a:endParaRPr lang="en-ID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NON FARMASI</a:t>
            </a:r>
          </a:p>
          <a:p>
            <a:pPr lvl="2"/>
            <a:r>
              <a:rPr lang="en-ID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PERENCANAAN</a:t>
            </a:r>
          </a:p>
          <a:p>
            <a:pPr lvl="2"/>
            <a:r>
              <a:rPr lang="en-ID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PEMBELIAN</a:t>
            </a:r>
          </a:p>
          <a:p>
            <a:pPr lvl="2"/>
            <a:r>
              <a:rPr lang="en-ID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PENERIMAAN </a:t>
            </a:r>
            <a:r>
              <a:rPr lang="en-ID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 </a:t>
            </a:r>
            <a:r>
              <a:rPr lang="en-ID" sz="14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BARANG MASUK SAKTI</a:t>
            </a:r>
            <a:endParaRPr lang="en-ID" sz="14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MANAJEMEN ASSET (SAMRS)</a:t>
            </a:r>
          </a:p>
          <a:p>
            <a:pPr lvl="1"/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Perawatan</a:t>
            </a:r>
            <a:endParaRPr lang="en-ID" sz="18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Penyusutan</a:t>
            </a:r>
            <a:endParaRPr lang="en-ID" sz="18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Lokasi,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Mutasi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dan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Penghapusan</a:t>
            </a:r>
            <a:endParaRPr lang="en-ID" sz="18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ID" sz="1800" b="0" i="0" dirty="0">
              <a:solidFill>
                <a:srgbClr val="0000FF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Round Same Side Corner Rectangle 25"/>
          <p:cNvSpPr/>
          <p:nvPr/>
        </p:nvSpPr>
        <p:spPr>
          <a:xfrm rot="5400000">
            <a:off x="4039396" y="-4299201"/>
            <a:ext cx="1104956" cy="10028850"/>
          </a:xfrm>
          <a:prstGeom prst="round2Same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0" y="353099"/>
            <a:ext cx="9049891" cy="7242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 OFFICE</a:t>
            </a:r>
            <a:endParaRPr 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A90DB90-7912-8C08-10FB-E45A5DF5DD26}"/>
              </a:ext>
            </a:extLst>
          </p:cNvPr>
          <p:cNvSpPr txBox="1">
            <a:spLocks/>
          </p:cNvSpPr>
          <p:nvPr/>
        </p:nvSpPr>
        <p:spPr>
          <a:xfrm>
            <a:off x="14935200" y="72434"/>
            <a:ext cx="3276601" cy="156586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KETERANGAN WARNA :</a:t>
            </a:r>
          </a:p>
          <a:p>
            <a:pPr algn="ctr"/>
            <a:endParaRPr 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US" sz="1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MANUAL / APLIKASI LAMA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TERIMPLEMENTASI SIMRSF</a:t>
            </a:r>
          </a:p>
          <a:p>
            <a:pPr algn="ctr"/>
            <a:r>
              <a:rPr lang="en-US" sz="16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 PROSES SIMRSF 2025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BELUM/SEDANG DEFINISI</a:t>
            </a:r>
          </a:p>
        </p:txBody>
      </p:sp>
    </p:spTree>
    <p:extLst>
      <p:ext uri="{BB962C8B-B14F-4D97-AF65-F5344CB8AC3E}">
        <p14:creationId xmlns:p14="http://schemas.microsoft.com/office/powerpoint/2010/main" val="877204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8"/>
          <p:cNvSpPr txBox="1"/>
          <p:nvPr/>
        </p:nvSpPr>
        <p:spPr>
          <a:xfrm>
            <a:off x="609600" y="629682"/>
            <a:ext cx="9372600" cy="728737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9560E67-05C7-3715-7024-BD66A443BB7E}"/>
              </a:ext>
            </a:extLst>
          </p:cNvPr>
          <p:cNvSpPr txBox="1">
            <a:spLocks/>
          </p:cNvSpPr>
          <p:nvPr/>
        </p:nvSpPr>
        <p:spPr>
          <a:xfrm>
            <a:off x="685800" y="1562100"/>
            <a:ext cx="8364091" cy="8579972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ID" sz="2000" dirty="0">
                <a:latin typeface="Roboto" panose="02000000000000000000" pitchFamily="2" charset="0"/>
              </a:rPr>
              <a:t>SDM</a:t>
            </a:r>
          </a:p>
          <a:p>
            <a:pPr lvl="1"/>
            <a:r>
              <a:rPr lang="en-ID" sz="2000" b="0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DATA PEGAWAI dan </a:t>
            </a:r>
            <a:r>
              <a:rPr lang="en-ID" sz="2000" b="0" i="0" dirty="0" err="1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Riwayatnya</a:t>
            </a:r>
            <a:endParaRPr lang="en-ID" sz="2000" b="0" i="0" dirty="0">
              <a:solidFill>
                <a:srgbClr val="00B050"/>
              </a:solidFill>
              <a:effectLst/>
              <a:latin typeface="Roboto" panose="02000000000000000000" pitchFamily="2" charset="0"/>
            </a:endParaRPr>
          </a:p>
          <a:p>
            <a:pPr lvl="2"/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</a:rPr>
              <a:t>Identitas</a:t>
            </a:r>
            <a:endParaRPr lang="en-ID" b="0" i="0" dirty="0">
              <a:solidFill>
                <a:srgbClr val="00B050"/>
              </a:solidFill>
              <a:effectLst/>
              <a:latin typeface="Roboto" panose="02000000000000000000" pitchFamily="2" charset="0"/>
            </a:endParaRPr>
          </a:p>
          <a:p>
            <a:pPr lvl="2"/>
            <a:r>
              <a:rPr lang="en-ID" b="0" i="0" dirty="0" err="1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Mutasi</a:t>
            </a:r>
            <a:r>
              <a:rPr lang="en-ID" b="0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 dan </a:t>
            </a:r>
            <a:r>
              <a:rPr lang="en-ID" b="0" i="0" dirty="0" err="1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Penempatan</a:t>
            </a:r>
            <a:endParaRPr lang="en-ID" b="0" i="0" dirty="0">
              <a:solidFill>
                <a:srgbClr val="00B050"/>
              </a:solidFill>
              <a:effectLst/>
              <a:latin typeface="Roboto" panose="02000000000000000000" pitchFamily="2" charset="0"/>
            </a:endParaRPr>
          </a:p>
          <a:p>
            <a:pPr lvl="2"/>
            <a:r>
              <a:rPr lang="en-ID" b="0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Pendidikan</a:t>
            </a:r>
          </a:p>
          <a:p>
            <a:pPr lvl="2"/>
            <a:r>
              <a:rPr lang="en-ID" b="0" i="0" dirty="0" err="1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Pelatihan</a:t>
            </a:r>
            <a:endParaRPr lang="en-ID" b="0" i="0" dirty="0">
              <a:solidFill>
                <a:srgbClr val="00B050"/>
              </a:solidFill>
              <a:effectLst/>
              <a:latin typeface="Roboto" panose="02000000000000000000" pitchFamily="2" charset="0"/>
            </a:endParaRPr>
          </a:p>
          <a:p>
            <a:pPr lvl="2"/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</a:rPr>
              <a:t>Keluarga</a:t>
            </a:r>
            <a:endParaRPr lang="en-ID" dirty="0">
              <a:solidFill>
                <a:srgbClr val="00B050"/>
              </a:solidFill>
              <a:latin typeface="Roboto" panose="02000000000000000000" pitchFamily="2" charset="0"/>
            </a:endParaRPr>
          </a:p>
          <a:p>
            <a:pPr lvl="2"/>
            <a:r>
              <a:rPr lang="en-ID" b="0" i="0" dirty="0" err="1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Sertifikat</a:t>
            </a:r>
            <a:endParaRPr lang="en-ID" b="0" i="0" dirty="0">
              <a:solidFill>
                <a:srgbClr val="00B050"/>
              </a:solidFill>
              <a:effectLst/>
              <a:latin typeface="Roboto" panose="02000000000000000000" pitchFamily="2" charset="0"/>
            </a:endParaRPr>
          </a:p>
          <a:p>
            <a:pPr lvl="2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Status</a:t>
            </a:r>
          </a:p>
          <a:p>
            <a:pPr lvl="2"/>
            <a:r>
              <a:rPr lang="en-ID" b="0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STR SIP</a:t>
            </a:r>
          </a:p>
          <a:p>
            <a:pPr lvl="1"/>
            <a:r>
              <a:rPr lang="en-ID" sz="2000" dirty="0">
                <a:solidFill>
                  <a:srgbClr val="0000FF"/>
                </a:solidFill>
                <a:latin typeface="Roboto" panose="02000000000000000000" pitchFamily="2" charset="0"/>
              </a:rPr>
              <a:t>WORKFLOW / KERTAS KERJA yang </a:t>
            </a:r>
            <a:r>
              <a:rPr lang="en-ID" sz="2000" dirty="0" err="1">
                <a:solidFill>
                  <a:srgbClr val="0000FF"/>
                </a:solidFill>
                <a:latin typeface="Roboto" panose="02000000000000000000" pitchFamily="2" charset="0"/>
              </a:rPr>
              <a:t>membentuk</a:t>
            </a:r>
            <a:r>
              <a:rPr lang="en-ID" sz="2000" dirty="0">
                <a:solidFill>
                  <a:srgbClr val="0000FF"/>
                </a:solidFill>
                <a:latin typeface="Roboto" panose="02000000000000000000" pitchFamily="2" charset="0"/>
              </a:rPr>
              <a:t> </a:t>
            </a:r>
            <a:r>
              <a:rPr lang="en-ID" sz="2000" dirty="0" err="1">
                <a:solidFill>
                  <a:srgbClr val="0000FF"/>
                </a:solidFill>
                <a:latin typeface="Roboto" panose="02000000000000000000" pitchFamily="2" charset="0"/>
              </a:rPr>
              <a:t>historis</a:t>
            </a:r>
            <a:r>
              <a:rPr lang="en-ID" sz="2000" dirty="0">
                <a:solidFill>
                  <a:srgbClr val="0000FF"/>
                </a:solidFill>
                <a:latin typeface="Roboto" panose="02000000000000000000" pitchFamily="2" charset="0"/>
              </a:rPr>
              <a:t> </a:t>
            </a:r>
            <a:r>
              <a:rPr lang="en-ID" sz="20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:</a:t>
            </a:r>
          </a:p>
          <a:p>
            <a:pPr lvl="2"/>
            <a:r>
              <a:rPr lang="en-ID" dirty="0">
                <a:solidFill>
                  <a:srgbClr val="0000FF"/>
                </a:solidFill>
                <a:latin typeface="Roboto" panose="02000000000000000000" pitchFamily="2" charset="0"/>
              </a:rPr>
              <a:t>Proses </a:t>
            </a:r>
            <a:r>
              <a:rPr lang="en-ID" dirty="0" err="1">
                <a:solidFill>
                  <a:srgbClr val="0000FF"/>
                </a:solidFill>
                <a:latin typeface="Roboto" panose="02000000000000000000" pitchFamily="2" charset="0"/>
              </a:rPr>
              <a:t>Pengajuan</a:t>
            </a:r>
            <a:r>
              <a:rPr lang="en-ID" dirty="0">
                <a:solidFill>
                  <a:srgbClr val="0000FF"/>
                </a:solidFill>
                <a:latin typeface="Roboto" panose="02000000000000000000" pitchFamily="2" charset="0"/>
              </a:rPr>
              <a:t> </a:t>
            </a:r>
            <a:r>
              <a:rPr lang="en-ID" dirty="0" err="1">
                <a:solidFill>
                  <a:srgbClr val="0000FF"/>
                </a:solidFill>
                <a:latin typeface="Roboto" panose="02000000000000000000" pitchFamily="2" charset="0"/>
              </a:rPr>
              <a:t>Cuti</a:t>
            </a:r>
            <a:r>
              <a:rPr lang="en-ID" dirty="0">
                <a:solidFill>
                  <a:srgbClr val="0000FF"/>
                </a:solidFill>
                <a:latin typeface="Roboto" panose="02000000000000000000" pitchFamily="2" charset="0"/>
              </a:rPr>
              <a:t> </a:t>
            </a:r>
            <a:r>
              <a:rPr lang="en-ID" dirty="0" err="1">
                <a:solidFill>
                  <a:srgbClr val="0000FF"/>
                </a:solidFill>
                <a:latin typeface="Roboto" panose="02000000000000000000" pitchFamily="2" charset="0"/>
              </a:rPr>
              <a:t>hingga</a:t>
            </a:r>
            <a:r>
              <a:rPr lang="en-ID" dirty="0">
                <a:solidFill>
                  <a:srgbClr val="0000FF"/>
                </a:solidFill>
                <a:latin typeface="Roboto" panose="02000000000000000000" pitchFamily="2" charset="0"/>
              </a:rPr>
              <a:t> </a:t>
            </a:r>
            <a:r>
              <a:rPr lang="en-ID" dirty="0" err="1">
                <a:solidFill>
                  <a:srgbClr val="0000FF"/>
                </a:solidFill>
                <a:latin typeface="Roboto" panose="02000000000000000000" pitchFamily="2" charset="0"/>
              </a:rPr>
              <a:t>realisasi</a:t>
            </a:r>
            <a:endParaRPr lang="en-ID" b="0" i="0" dirty="0">
              <a:solidFill>
                <a:srgbClr val="0000FF"/>
              </a:solidFill>
              <a:effectLst/>
              <a:latin typeface="Roboto" panose="02000000000000000000" pitchFamily="2" charset="0"/>
            </a:endParaRPr>
          </a:p>
          <a:p>
            <a:pPr lvl="2"/>
            <a:r>
              <a:rPr lang="en-ID" dirty="0">
                <a:solidFill>
                  <a:srgbClr val="0000FF"/>
                </a:solidFill>
                <a:latin typeface="Roboto" panose="02000000000000000000" pitchFamily="2" charset="0"/>
              </a:rPr>
              <a:t>Proses </a:t>
            </a:r>
            <a:r>
              <a:rPr lang="en-ID" dirty="0" err="1">
                <a:solidFill>
                  <a:srgbClr val="0000FF"/>
                </a:solidFill>
                <a:latin typeface="Roboto" panose="02000000000000000000" pitchFamily="2" charset="0"/>
              </a:rPr>
              <a:t>Penggajian</a:t>
            </a:r>
            <a:endParaRPr lang="en-ID" dirty="0">
              <a:solidFill>
                <a:srgbClr val="0000FF"/>
              </a:solidFill>
              <a:latin typeface="Roboto" panose="02000000000000000000" pitchFamily="2" charset="0"/>
            </a:endParaRPr>
          </a:p>
          <a:p>
            <a:pPr lvl="2"/>
            <a:r>
              <a:rPr lang="en-ID" dirty="0">
                <a:solidFill>
                  <a:srgbClr val="0000FF"/>
                </a:solidFill>
                <a:latin typeface="Roboto" panose="02000000000000000000" pitchFamily="2" charset="0"/>
              </a:rPr>
              <a:t>Proses </a:t>
            </a:r>
            <a:r>
              <a:rPr lang="en-ID" dirty="0" err="1">
                <a:solidFill>
                  <a:srgbClr val="0000FF"/>
                </a:solidFill>
                <a:latin typeface="Roboto" panose="02000000000000000000" pitchFamily="2" charset="0"/>
              </a:rPr>
              <a:t>Remunerasi</a:t>
            </a:r>
            <a:endParaRPr lang="en-ID" dirty="0">
              <a:solidFill>
                <a:srgbClr val="0000FF"/>
              </a:solidFill>
              <a:latin typeface="Roboto" panose="02000000000000000000" pitchFamily="2" charset="0"/>
            </a:endParaRPr>
          </a:p>
          <a:p>
            <a:pPr lvl="2"/>
            <a:r>
              <a:rPr lang="en-ID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Penjadwalan</a:t>
            </a:r>
            <a:r>
              <a:rPr lang="en-ID" b="0" i="0" dirty="0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 shift dan </a:t>
            </a:r>
            <a:r>
              <a:rPr lang="en-ID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</a:rPr>
              <a:t>absensi</a:t>
            </a:r>
            <a:endParaRPr lang="en-ID" b="0" i="0" dirty="0">
              <a:solidFill>
                <a:srgbClr val="0000FF"/>
              </a:solidFill>
              <a:effectLst/>
              <a:latin typeface="Roboto" panose="02000000000000000000" pitchFamily="2" charset="0"/>
            </a:endParaRPr>
          </a:p>
          <a:p>
            <a:pPr lvl="1"/>
            <a:r>
              <a:rPr lang="en-ID" sz="2000" dirty="0">
                <a:solidFill>
                  <a:srgbClr val="0000FF"/>
                </a:solidFill>
                <a:latin typeface="Roboto" panose="02000000000000000000" pitchFamily="2" charset="0"/>
              </a:rPr>
              <a:t>EVALUASI</a:t>
            </a:r>
          </a:p>
          <a:p>
            <a:pPr lvl="2"/>
            <a:r>
              <a:rPr lang="en-ID" dirty="0">
                <a:solidFill>
                  <a:srgbClr val="0000FF"/>
                </a:solidFill>
                <a:latin typeface="Roboto" panose="02000000000000000000" pitchFamily="2" charset="0"/>
              </a:rPr>
              <a:t>Logbook</a:t>
            </a:r>
          </a:p>
          <a:p>
            <a:pPr lvl="2"/>
            <a:r>
              <a:rPr lang="en-ID" dirty="0">
                <a:solidFill>
                  <a:srgbClr val="0000FF"/>
                </a:solidFill>
                <a:latin typeface="Roboto" panose="02000000000000000000" pitchFamily="2" charset="0"/>
              </a:rPr>
              <a:t>Master </a:t>
            </a:r>
            <a:r>
              <a:rPr lang="en-ID" dirty="0" err="1">
                <a:solidFill>
                  <a:srgbClr val="0000FF"/>
                </a:solidFill>
                <a:latin typeface="Roboto" panose="02000000000000000000" pitchFamily="2" charset="0"/>
              </a:rPr>
              <a:t>Kriteria</a:t>
            </a:r>
            <a:r>
              <a:rPr lang="en-ID" dirty="0">
                <a:solidFill>
                  <a:srgbClr val="0000FF"/>
                </a:solidFill>
                <a:latin typeface="Roboto" panose="02000000000000000000" pitchFamily="2" charset="0"/>
              </a:rPr>
              <a:t> </a:t>
            </a:r>
            <a:r>
              <a:rPr lang="en-ID" dirty="0" err="1">
                <a:solidFill>
                  <a:srgbClr val="0000FF"/>
                </a:solidFill>
                <a:latin typeface="Roboto" panose="02000000000000000000" pitchFamily="2" charset="0"/>
              </a:rPr>
              <a:t>Penilaian</a:t>
            </a:r>
            <a:endParaRPr lang="en-ID" dirty="0">
              <a:solidFill>
                <a:srgbClr val="0000FF"/>
              </a:solidFill>
              <a:latin typeface="Roboto" panose="02000000000000000000" pitchFamily="2" charset="0"/>
            </a:endParaRPr>
          </a:p>
          <a:p>
            <a:pPr lvl="2"/>
            <a:r>
              <a:rPr lang="en-ID" dirty="0">
                <a:solidFill>
                  <a:srgbClr val="0000FF"/>
                </a:solidFill>
                <a:latin typeface="Roboto" panose="02000000000000000000" pitchFamily="2" charset="0"/>
              </a:rPr>
              <a:t>Master Daftar </a:t>
            </a:r>
            <a:r>
              <a:rPr lang="en-ID" dirty="0" err="1">
                <a:solidFill>
                  <a:srgbClr val="0000FF"/>
                </a:solidFill>
                <a:latin typeface="Roboto" panose="02000000000000000000" pitchFamily="2" charset="0"/>
              </a:rPr>
              <a:t>Kegiatan</a:t>
            </a:r>
            <a:endParaRPr lang="en-ID" dirty="0">
              <a:solidFill>
                <a:srgbClr val="0000FF"/>
              </a:solidFill>
              <a:latin typeface="Roboto" panose="02000000000000000000" pitchFamily="2" charset="0"/>
            </a:endParaRPr>
          </a:p>
          <a:p>
            <a:pPr lvl="2"/>
            <a:r>
              <a:rPr lang="en-ID" dirty="0">
                <a:solidFill>
                  <a:srgbClr val="0000FF"/>
                </a:solidFill>
                <a:latin typeface="Roboto" panose="02000000000000000000" pitchFamily="2" charset="0"/>
              </a:rPr>
              <a:t>Proses </a:t>
            </a:r>
            <a:r>
              <a:rPr lang="en-ID" dirty="0" err="1">
                <a:solidFill>
                  <a:srgbClr val="0000FF"/>
                </a:solidFill>
                <a:latin typeface="Roboto" panose="02000000000000000000" pitchFamily="2" charset="0"/>
              </a:rPr>
              <a:t>Penilaian</a:t>
            </a:r>
            <a:r>
              <a:rPr lang="en-ID" dirty="0">
                <a:solidFill>
                  <a:srgbClr val="0000FF"/>
                </a:solidFill>
                <a:latin typeface="Roboto" panose="02000000000000000000" pitchFamily="2" charset="0"/>
              </a:rPr>
              <a:t> Kinerja</a:t>
            </a:r>
          </a:p>
          <a:p>
            <a:pPr lvl="1"/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LAPORAN &amp; DASHBOARD</a:t>
            </a:r>
          </a:p>
          <a:p>
            <a:pPr lvl="2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Dashboard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</a:rPr>
              <a:t>Jabatan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</a:rPr>
              <a:t>Fungsional</a:t>
            </a:r>
            <a:endParaRPr lang="en-ID" dirty="0">
              <a:solidFill>
                <a:srgbClr val="00B050"/>
              </a:solidFill>
              <a:latin typeface="Roboto" panose="02000000000000000000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9560E67-05C7-3715-7024-BD66A443BB7E}"/>
              </a:ext>
            </a:extLst>
          </p:cNvPr>
          <p:cNvSpPr txBox="1">
            <a:spLocks/>
          </p:cNvSpPr>
          <p:nvPr/>
        </p:nvSpPr>
        <p:spPr>
          <a:xfrm>
            <a:off x="9231086" y="1544282"/>
            <a:ext cx="8447314" cy="8579971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endParaRPr lang="en-ID" sz="2400" dirty="0"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2400" dirty="0">
                <a:solidFill>
                  <a:srgbClr val="C00000"/>
                </a:solidFill>
                <a:latin typeface="Roboto" panose="02000000000000000000" pitchFamily="2" charset="0"/>
              </a:rPr>
              <a:t>CRM</a:t>
            </a:r>
          </a:p>
          <a:p>
            <a:pPr lvl="1"/>
            <a:r>
              <a:rPr lang="en-ID" dirty="0" err="1">
                <a:solidFill>
                  <a:srgbClr val="C00000"/>
                </a:solidFill>
                <a:latin typeface="Roboto" panose="02000000000000000000" pitchFamily="2" charset="0"/>
              </a:rPr>
              <a:t>Pengaduan</a:t>
            </a:r>
            <a:r>
              <a:rPr lang="en-ID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ID" dirty="0" err="1">
                <a:solidFill>
                  <a:srgbClr val="C00000"/>
                </a:solidFill>
                <a:latin typeface="Roboto" panose="02000000000000000000" pitchFamily="2" charset="0"/>
              </a:rPr>
              <a:t>Pasien</a:t>
            </a:r>
            <a:r>
              <a:rPr lang="en-ID" dirty="0">
                <a:solidFill>
                  <a:srgbClr val="C00000"/>
                </a:solidFill>
                <a:latin typeface="Roboto" panose="02000000000000000000" pitchFamily="2" charset="0"/>
              </a:rPr>
              <a:t> (Mobile / Web)</a:t>
            </a:r>
          </a:p>
          <a:p>
            <a:pPr lvl="1"/>
            <a:r>
              <a:rPr lang="en-ID" dirty="0">
                <a:solidFill>
                  <a:srgbClr val="C00000"/>
                </a:solidFill>
                <a:latin typeface="Roboto" panose="02000000000000000000" pitchFamily="2" charset="0"/>
              </a:rPr>
              <a:t>Reminder ?</a:t>
            </a:r>
          </a:p>
          <a:p>
            <a:pPr lvl="1"/>
            <a:r>
              <a:rPr lang="en-ID" dirty="0" err="1">
                <a:solidFill>
                  <a:srgbClr val="C00000"/>
                </a:solidFill>
                <a:latin typeface="Roboto" panose="02000000000000000000" pitchFamily="2" charset="0"/>
              </a:rPr>
              <a:t>Kepuasan</a:t>
            </a:r>
            <a:r>
              <a:rPr lang="en-ID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ID" dirty="0" err="1">
                <a:solidFill>
                  <a:srgbClr val="C00000"/>
                </a:solidFill>
                <a:latin typeface="Roboto" panose="02000000000000000000" pitchFamily="2" charset="0"/>
              </a:rPr>
              <a:t>Pasien</a:t>
            </a:r>
            <a:endParaRPr lang="en-ID" dirty="0">
              <a:solidFill>
                <a:srgbClr val="C00000"/>
              </a:solidFill>
              <a:latin typeface="Roboto" panose="02000000000000000000" pitchFamily="2" charset="0"/>
            </a:endParaRPr>
          </a:p>
          <a:p>
            <a:r>
              <a:rPr lang="en-ID" sz="18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PEMBUKUAN (</a:t>
            </a:r>
            <a:r>
              <a:rPr lang="en-ID" sz="18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jurnal</a:t>
            </a:r>
            <a:r>
              <a:rPr lang="en-ID" sz="18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hingga</a:t>
            </a:r>
            <a:r>
              <a:rPr lang="en-ID" sz="18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neraca</a:t>
            </a:r>
            <a:r>
              <a:rPr lang="en-ID" sz="18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pPr lvl="1"/>
            <a:r>
              <a:rPr lang="en-ID" sz="18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Jurnal</a:t>
            </a:r>
            <a:endParaRPr lang="en-ID" sz="1800" b="0" i="0" dirty="0">
              <a:solidFill>
                <a:srgbClr val="0000FF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18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Rugi</a:t>
            </a:r>
            <a:r>
              <a:rPr lang="en-ID" sz="18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Laba</a:t>
            </a:r>
            <a:r>
              <a:rPr lang="en-ID" sz="18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 </a:t>
            </a:r>
            <a:r>
              <a:rPr lang="en-ID" sz="18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Neraca</a:t>
            </a:r>
            <a:endParaRPr lang="en-ID" sz="1800" dirty="0">
              <a:solidFill>
                <a:srgbClr val="0000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18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Laporan</a:t>
            </a:r>
            <a:r>
              <a:rPr lang="en-ID" sz="18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Keuangan</a:t>
            </a:r>
            <a:endParaRPr lang="en-ID" dirty="0">
              <a:latin typeface="Roboto" panose="02000000000000000000" pitchFamily="2" charset="0"/>
            </a:endParaRPr>
          </a:p>
        </p:txBody>
      </p:sp>
      <p:sp>
        <p:nvSpPr>
          <p:cNvPr id="26" name="Round Same Side Corner Rectangle 25"/>
          <p:cNvSpPr/>
          <p:nvPr/>
        </p:nvSpPr>
        <p:spPr>
          <a:xfrm rot="5400000">
            <a:off x="4039396" y="-4299201"/>
            <a:ext cx="1104956" cy="10028850"/>
          </a:xfrm>
          <a:prstGeom prst="round2Same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0" y="353099"/>
            <a:ext cx="9049891" cy="7242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 OFFICE</a:t>
            </a:r>
            <a:endParaRPr 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A1480CAA-C46E-6D19-56FA-916F3D7277F3}"/>
              </a:ext>
            </a:extLst>
          </p:cNvPr>
          <p:cNvSpPr txBox="1">
            <a:spLocks/>
          </p:cNvSpPr>
          <p:nvPr/>
        </p:nvSpPr>
        <p:spPr>
          <a:xfrm>
            <a:off x="14935200" y="72434"/>
            <a:ext cx="3276601" cy="156586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KETERANGAN WARNA :</a:t>
            </a:r>
          </a:p>
          <a:p>
            <a:pPr algn="ctr"/>
            <a:endParaRPr 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US" sz="1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MANUAL / APLIKASI LAMA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TERIMPLEMENTASI SIMRSF</a:t>
            </a:r>
          </a:p>
          <a:p>
            <a:pPr algn="ctr"/>
            <a:r>
              <a:rPr lang="en-US" sz="16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 PROSES SIMRSF 2025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BELUM/SEDANG DEFINISI</a:t>
            </a:r>
          </a:p>
        </p:txBody>
      </p:sp>
    </p:spTree>
    <p:extLst>
      <p:ext uri="{BB962C8B-B14F-4D97-AF65-F5344CB8AC3E}">
        <p14:creationId xmlns:p14="http://schemas.microsoft.com/office/powerpoint/2010/main" val="3937122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8"/>
          <p:cNvSpPr txBox="1"/>
          <p:nvPr/>
        </p:nvSpPr>
        <p:spPr>
          <a:xfrm>
            <a:off x="609600" y="629682"/>
            <a:ext cx="9372600" cy="728737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9560E67-05C7-3715-7024-BD66A443BB7E}"/>
              </a:ext>
            </a:extLst>
          </p:cNvPr>
          <p:cNvSpPr txBox="1">
            <a:spLocks/>
          </p:cNvSpPr>
          <p:nvPr/>
        </p:nvSpPr>
        <p:spPr>
          <a:xfrm>
            <a:off x="2590800" y="1485900"/>
            <a:ext cx="6459091" cy="8579972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sz="2000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PENDAFTARAN / ADMISI</a:t>
            </a:r>
          </a:p>
          <a:p>
            <a:pPr lvl="1"/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Pengembangan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Berdasarkan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: </a:t>
            </a:r>
          </a:p>
          <a:p>
            <a:pPr lvl="2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daftar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jadwal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operasi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</a:p>
          <a:p>
            <a:pPr lvl="2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status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akhir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Rawat Jalan, </a:t>
            </a:r>
          </a:p>
          <a:p>
            <a:pPr lvl="2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status </a:t>
            </a:r>
            <a:r>
              <a:rPr lang="en-ID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akhir</a:t>
            </a:r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IGD</a:t>
            </a:r>
            <a:endParaRPr lang="en-ID" b="0" i="0" dirty="0">
              <a:solidFill>
                <a:srgbClr val="00B05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sz="2000" b="1" i="0" dirty="0">
                <a:effectLst/>
                <a:latin typeface="Roboto" panose="02000000000000000000" pitchFamily="2" charset="0"/>
              </a:rPr>
              <a:t>BILLING (</a:t>
            </a:r>
            <a:r>
              <a:rPr lang="en-ID" sz="2000" b="1" i="0" dirty="0" err="1">
                <a:effectLst/>
                <a:latin typeface="Roboto" panose="02000000000000000000" pitchFamily="2" charset="0"/>
              </a:rPr>
              <a:t>keuangan</a:t>
            </a:r>
            <a:r>
              <a:rPr lang="en-ID" sz="2000" b="1" i="0" dirty="0">
                <a:effectLst/>
                <a:latin typeface="Roboto" panose="02000000000000000000" pitchFamily="2" charset="0"/>
              </a:rPr>
              <a:t>)</a:t>
            </a:r>
          </a:p>
          <a:p>
            <a:pPr lvl="1"/>
            <a:r>
              <a:rPr lang="en-ID" sz="2000" b="0" i="0" dirty="0" err="1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Pecah</a:t>
            </a:r>
            <a:r>
              <a:rPr lang="en-ID" sz="2000" b="0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 Billing &amp; </a:t>
            </a:r>
            <a:r>
              <a:rPr lang="en-ID" sz="2000" b="0" i="0" dirty="0" err="1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Aplikasi</a:t>
            </a:r>
            <a:r>
              <a:rPr lang="en-ID" sz="2000" b="0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 KASIR MHAS</a:t>
            </a:r>
          </a:p>
          <a:p>
            <a:pPr lvl="1"/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KASIR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pembayaran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pasien</a:t>
            </a:r>
            <a:endParaRPr lang="en-ID" sz="2000" dirty="0">
              <a:solidFill>
                <a:srgbClr val="00B050"/>
              </a:solidFill>
              <a:latin typeface="Roboto" panose="02000000000000000000" pitchFamily="2" charset="0"/>
            </a:endParaRPr>
          </a:p>
          <a:p>
            <a:pPr lvl="2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DEPOSIT</a:t>
            </a:r>
          </a:p>
          <a:p>
            <a:pPr lvl="2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PELUNASAN</a:t>
            </a:r>
          </a:p>
          <a:p>
            <a:pPr lvl="2"/>
            <a:r>
              <a:rPr lang="en-ID" dirty="0">
                <a:solidFill>
                  <a:srgbClr val="00B050"/>
                </a:solidFill>
                <a:latin typeface="Roboto" panose="02000000000000000000" pitchFamily="2" charset="0"/>
              </a:rPr>
              <a:t>PIUTANG</a:t>
            </a:r>
          </a:p>
          <a:p>
            <a:pPr lvl="1"/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PROSES KLAIM NON JKN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s.d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 TERIMA PEMBAYARAN</a:t>
            </a:r>
            <a:endParaRPr lang="en-ID" sz="2000" b="0" i="0" dirty="0">
              <a:solidFill>
                <a:srgbClr val="00B050"/>
              </a:solidFill>
              <a:effectLst/>
              <a:latin typeface="Roboto" panose="02000000000000000000" pitchFamily="2" charset="0"/>
            </a:endParaRPr>
          </a:p>
          <a:p>
            <a:r>
              <a:rPr lang="en-ID" sz="2000" b="1" dirty="0">
                <a:latin typeface="Roboto" panose="02000000000000000000" pitchFamily="2" charset="0"/>
              </a:rPr>
              <a:t>REKAM MEDIS ELEKTRONIK</a:t>
            </a:r>
          </a:p>
          <a:p>
            <a:pPr lvl="1"/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IMPLEMENTASI I-DRG</a:t>
            </a:r>
          </a:p>
          <a:p>
            <a:pPr lvl="1"/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Pengembangan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 Modul CARDEX OBAT</a:t>
            </a:r>
          </a:p>
          <a:p>
            <a:pPr lvl="1"/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STATUS AKHIR RAWAT JALAN</a:t>
            </a:r>
          </a:p>
          <a:p>
            <a:pPr lvl="1"/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TERIMA PASIEN MASUK RAWAT INAP</a:t>
            </a:r>
          </a:p>
          <a:p>
            <a:pPr lvl="1"/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SERENIC,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integrasi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hasil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 AI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Serenic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,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berupa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 ICD-10/9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versi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 AI</a:t>
            </a:r>
          </a:p>
          <a:p>
            <a:r>
              <a:rPr lang="en-ID" sz="2000" b="1" dirty="0">
                <a:latin typeface="Roboto" panose="02000000000000000000" pitchFamily="2" charset="0"/>
              </a:rPr>
              <a:t>DASHBOARD &amp; MONITORING</a:t>
            </a:r>
          </a:p>
          <a:p>
            <a:pPr lvl="1"/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Dashboard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Pendapatan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 &amp;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Penerimaan</a:t>
            </a:r>
            <a:endParaRPr lang="en-ID" sz="2000" dirty="0">
              <a:solidFill>
                <a:srgbClr val="00B050"/>
              </a:solidFill>
              <a:latin typeface="Roboto" panose="02000000000000000000" pitchFamily="2" charset="0"/>
            </a:endParaRPr>
          </a:p>
          <a:p>
            <a:pPr lvl="1"/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Dashboard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Klaim</a:t>
            </a:r>
            <a:endParaRPr lang="en-ID" sz="2000" dirty="0">
              <a:solidFill>
                <a:srgbClr val="00B050"/>
              </a:solidFill>
              <a:latin typeface="Roboto" panose="02000000000000000000" pitchFamily="2" charset="0"/>
            </a:endParaRPr>
          </a:p>
          <a:p>
            <a:pPr lvl="1"/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Laporan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Pendapatan</a:t>
            </a:r>
            <a:endParaRPr lang="en-ID" sz="2000" dirty="0">
              <a:solidFill>
                <a:srgbClr val="00B050"/>
              </a:solidFill>
              <a:latin typeface="Roboto" panose="02000000000000000000" pitchFamily="2" charset="0"/>
            </a:endParaRPr>
          </a:p>
          <a:p>
            <a:pPr lvl="1"/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Laporan</a:t>
            </a:r>
            <a:r>
              <a:rPr lang="en-ID" sz="2000" dirty="0">
                <a:solidFill>
                  <a:srgbClr val="00B050"/>
                </a:solidFill>
                <a:latin typeface="Roboto" panose="02000000000000000000" pitchFamily="2" charset="0"/>
              </a:rPr>
              <a:t> </a:t>
            </a:r>
            <a:r>
              <a:rPr lang="en-ID" sz="2000" dirty="0" err="1">
                <a:solidFill>
                  <a:srgbClr val="00B050"/>
                </a:solidFill>
                <a:latin typeface="Roboto" panose="02000000000000000000" pitchFamily="2" charset="0"/>
              </a:rPr>
              <a:t>Penerimaan</a:t>
            </a:r>
            <a:endParaRPr lang="en-ID" sz="2000" dirty="0">
              <a:solidFill>
                <a:srgbClr val="00B050"/>
              </a:solidFill>
              <a:latin typeface="Roboto" panose="02000000000000000000" pitchFamily="2" charset="0"/>
            </a:endParaRPr>
          </a:p>
          <a:p>
            <a:pPr lvl="1"/>
            <a:endParaRPr lang="en-ID" sz="2000" dirty="0">
              <a:solidFill>
                <a:srgbClr val="00B050"/>
              </a:solidFill>
              <a:latin typeface="Roboto" panose="02000000000000000000" pitchFamily="2" charset="0"/>
            </a:endParaRPr>
          </a:p>
          <a:p>
            <a:pPr lvl="1"/>
            <a:endParaRPr lang="en-ID" sz="2000" b="0" i="0" dirty="0">
              <a:solidFill>
                <a:srgbClr val="00B05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9560E67-05C7-3715-7024-BD66A443BB7E}"/>
              </a:ext>
            </a:extLst>
          </p:cNvPr>
          <p:cNvSpPr txBox="1">
            <a:spLocks/>
          </p:cNvSpPr>
          <p:nvPr/>
        </p:nvSpPr>
        <p:spPr>
          <a:xfrm>
            <a:off x="9231086" y="1544281"/>
            <a:ext cx="8447314" cy="8579972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sz="1800" b="0" i="0" dirty="0">
                <a:solidFill>
                  <a:srgbClr val="00B05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r>
              <a:rPr lang="en-ID" sz="1800" b="0" i="0" dirty="0">
                <a:solidFill>
                  <a:srgbClr val="00B05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 BARANG KELUAR SAKTI</a:t>
            </a:r>
            <a:endParaRPr lang="en-ID" sz="1800" b="0" i="0" dirty="0">
              <a:solidFill>
                <a:srgbClr val="00B05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GUDANG GIZI</a:t>
            </a:r>
          </a:p>
          <a:p>
            <a:pPr lvl="1"/>
            <a:r>
              <a:rPr lang="en-ID" sz="1800" b="0" i="0" dirty="0">
                <a:solidFill>
                  <a:srgbClr val="00B05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GUDANG RT</a:t>
            </a:r>
          </a:p>
          <a:p>
            <a:pPr lvl="1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GUDANG BARANG MEDIK</a:t>
            </a:r>
          </a:p>
          <a:p>
            <a:pPr lvl="1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MELIPUTI :</a:t>
            </a:r>
          </a:p>
          <a:p>
            <a:pPr lvl="2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Stok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Opname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</a:p>
          <a:p>
            <a:pPr lvl="2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Monitoring Stok, </a:t>
            </a:r>
          </a:p>
          <a:p>
            <a:pPr lvl="2"/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Produksi</a:t>
            </a:r>
            <a:endParaRPr lang="en-ID" sz="18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2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Monitoring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Kadaluarsa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</a:p>
          <a:p>
            <a:pPr lvl="2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Mastering dan protocol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penggunakan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obat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fornas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vs non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fornas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), </a:t>
            </a:r>
          </a:p>
          <a:p>
            <a:pPr lvl="2"/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Perhitungan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penilaian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stok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secara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FIFO</a:t>
            </a:r>
          </a:p>
          <a:p>
            <a:r>
              <a:rPr lang="en-ID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PROSES PERMINTAAN AMPRAHAN 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NON FARMASI</a:t>
            </a:r>
          </a:p>
          <a:p>
            <a:r>
              <a:rPr lang="en-ID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MIGRASI PROSES PENGADAAN </a:t>
            </a:r>
          </a:p>
          <a:p>
            <a:pPr lvl="1"/>
            <a:r>
              <a:rPr lang="en-ID" sz="18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FARMASI (</a:t>
            </a:r>
            <a:r>
              <a:rPr lang="en-ID" sz="18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fatmahost</a:t>
            </a:r>
            <a:r>
              <a:rPr lang="en-ID" sz="18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pPr lvl="2"/>
            <a:r>
              <a:rPr lang="en-ID" sz="18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PERENCANAAN, </a:t>
            </a:r>
          </a:p>
          <a:p>
            <a:pPr lvl="2"/>
            <a:r>
              <a:rPr lang="en-ID" sz="18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PEMBELIAN</a:t>
            </a:r>
          </a:p>
          <a:p>
            <a:pPr lvl="2"/>
            <a:r>
              <a:rPr lang="en-ID" sz="18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PENERIMAAN </a:t>
            </a:r>
            <a:r>
              <a:rPr lang="en-ID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 BARANG MASUK SAKTI</a:t>
            </a:r>
            <a:endParaRPr lang="en-ID" sz="18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MANAJEMEN ASSET (SAMRS)</a:t>
            </a:r>
          </a:p>
          <a:p>
            <a:pPr lvl="1"/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Perawatan</a:t>
            </a:r>
            <a:endParaRPr lang="en-ID" sz="18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Penyusutan</a:t>
            </a:r>
            <a:endParaRPr lang="en-ID" sz="18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Lokasi,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Mutasi</a:t>
            </a:r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dan </a:t>
            </a:r>
            <a:r>
              <a:rPr lang="en-ID" sz="1800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Penghapusan</a:t>
            </a:r>
            <a:endParaRPr lang="en-ID" sz="18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D" sz="18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SDM</a:t>
            </a:r>
          </a:p>
          <a:p>
            <a:r>
              <a:rPr lang="en-ID" sz="18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PEMBUKUAN (</a:t>
            </a:r>
            <a:r>
              <a:rPr lang="en-ID" sz="18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jurnal</a:t>
            </a:r>
            <a:r>
              <a:rPr lang="en-ID" sz="18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hingga</a:t>
            </a:r>
            <a:r>
              <a:rPr lang="en-ID" sz="18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neraca</a:t>
            </a:r>
            <a:r>
              <a:rPr lang="en-ID" sz="18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pPr lvl="1"/>
            <a:r>
              <a:rPr lang="en-ID" sz="18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Jurnal</a:t>
            </a:r>
            <a:endParaRPr lang="en-ID" sz="1800" b="0" i="0" dirty="0">
              <a:solidFill>
                <a:srgbClr val="0000FF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18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Rugi</a:t>
            </a:r>
            <a:r>
              <a:rPr lang="en-ID" sz="18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Laba</a:t>
            </a:r>
            <a:r>
              <a:rPr lang="en-ID" sz="18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 </a:t>
            </a:r>
            <a:r>
              <a:rPr lang="en-ID" sz="18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Neraca</a:t>
            </a:r>
            <a:endParaRPr lang="en-ID" sz="1800" dirty="0">
              <a:solidFill>
                <a:srgbClr val="0000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ID" sz="18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Laporan</a:t>
            </a:r>
            <a:r>
              <a:rPr lang="en-ID" sz="1800" b="0" i="0" dirty="0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D" sz="1800" b="0" i="0" dirty="0" err="1">
                <a:solidFill>
                  <a:srgbClr val="0000F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Keuangan</a:t>
            </a:r>
            <a:endParaRPr lang="en-ID" sz="18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ID" sz="18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2"/>
            <a:endParaRPr lang="en-ID" sz="1800" dirty="0">
              <a:solidFill>
                <a:srgbClr val="00B050"/>
              </a:solidFill>
              <a:latin typeface="Roboto" panose="02000000000000000000" pitchFamily="2" charset="0"/>
            </a:endParaRPr>
          </a:p>
        </p:txBody>
      </p:sp>
      <p:sp>
        <p:nvSpPr>
          <p:cNvPr id="26" name="Round Same Side Corner Rectangle 25"/>
          <p:cNvSpPr/>
          <p:nvPr/>
        </p:nvSpPr>
        <p:spPr>
          <a:xfrm rot="5400000">
            <a:off x="4039396" y="-4299201"/>
            <a:ext cx="1104956" cy="10028850"/>
          </a:xfrm>
          <a:prstGeom prst="round2Same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0" y="353099"/>
            <a:ext cx="9049891" cy="7242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OKTOBER – DESEMBER 2025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7077EB7-E5EC-00CD-8B2A-D26E3E7FC367}"/>
              </a:ext>
            </a:extLst>
          </p:cNvPr>
          <p:cNvSpPr txBox="1">
            <a:spLocks/>
          </p:cNvSpPr>
          <p:nvPr/>
        </p:nvSpPr>
        <p:spPr>
          <a:xfrm>
            <a:off x="14935200" y="72434"/>
            <a:ext cx="3276601" cy="156586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KETERANGAN WARNA :</a:t>
            </a:r>
          </a:p>
          <a:p>
            <a:pPr algn="ctr"/>
            <a:endParaRPr 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US" sz="1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MANUAL / APLIKASI LAMA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TERIMPLEMENTASI SIMRSF</a:t>
            </a:r>
          </a:p>
          <a:p>
            <a:pPr algn="ctr"/>
            <a:r>
              <a:rPr lang="en-US" sz="16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 PROSES SIMRSF 2025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BELUM/SEDANG DEFINISI</a:t>
            </a:r>
          </a:p>
        </p:txBody>
      </p:sp>
    </p:spTree>
    <p:extLst>
      <p:ext uri="{BB962C8B-B14F-4D97-AF65-F5344CB8AC3E}">
        <p14:creationId xmlns:p14="http://schemas.microsoft.com/office/powerpoint/2010/main" val="3523121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Thank You Gif - GIFcen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057" y="5033069"/>
            <a:ext cx="5313910" cy="3985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"/>
          <p:cNvSpPr txBox="1"/>
          <p:nvPr/>
        </p:nvSpPr>
        <p:spPr>
          <a:xfrm>
            <a:off x="2819400" y="3358713"/>
            <a:ext cx="8819592" cy="1712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4510"/>
              </a:lnSpc>
              <a:spcBef>
                <a:spcPct val="0"/>
              </a:spcBef>
            </a:pPr>
            <a:r>
              <a:rPr lang="id-ID" sz="9600" dirty="0">
                <a:solidFill>
                  <a:srgbClr val="3973AD"/>
                </a:solidFill>
                <a:latin typeface="Open Sans Extra Bold"/>
              </a:rPr>
              <a:t>TERIMA KASIH</a:t>
            </a:r>
            <a:endParaRPr lang="en-US" sz="9600" dirty="0">
              <a:solidFill>
                <a:srgbClr val="3973AD"/>
              </a:solidFill>
              <a:latin typeface="Open Sans Extra Bold"/>
            </a:endParaRPr>
          </a:p>
        </p:txBody>
      </p:sp>
      <p:pic>
        <p:nvPicPr>
          <p:cNvPr id="2050" name="Picture 2" descr="Benefits of Teamwork and understanding each other - Pro Development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2206" y="2425154"/>
            <a:ext cx="4762500" cy="529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1670</TotalTime>
  <Words>1081</Words>
  <Application>Microsoft Office PowerPoint</Application>
  <PresentationFormat>Custom</PresentationFormat>
  <Paragraphs>310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Corbel</vt:lpstr>
      <vt:lpstr>Arial</vt:lpstr>
      <vt:lpstr>Calibri</vt:lpstr>
      <vt:lpstr>Franklin Gothic Medium Cond</vt:lpstr>
      <vt:lpstr>Bahnschrift Condensed</vt:lpstr>
      <vt:lpstr>Open Sans Extra Bold</vt:lpstr>
      <vt:lpstr>Roboto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Professional Modern Technology Pitch Deck Presentation</dc:title>
  <dc:creator>Dell OptiPlex</dc:creator>
  <cp:lastModifiedBy>Dell OptiPlex</cp:lastModifiedBy>
  <cp:revision>114</cp:revision>
  <dcterms:created xsi:type="dcterms:W3CDTF">2006-08-16T00:00:00Z</dcterms:created>
  <dcterms:modified xsi:type="dcterms:W3CDTF">2025-10-06T05:50:58Z</dcterms:modified>
  <dc:identifier>DAF27wZCZa4</dc:identifier>
</cp:coreProperties>
</file>